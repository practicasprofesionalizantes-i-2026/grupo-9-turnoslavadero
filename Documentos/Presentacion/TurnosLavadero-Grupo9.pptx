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9bf9405a0f4ff8" /><Relationship Type="http://schemas.openxmlformats.org/officeDocument/2006/relationships/extended-properties" Target="/docProps/app.xml" Id="R3247b704db284ee7" /><Relationship Type="http://schemas.openxmlformats.org/officeDocument/2006/relationships/officeDocument" Target="/ppt/presentation.xml" Id="R87e03cc6c9114f99" /></Relationships>
</file>

<file path=ppt/presentation.xml><?xml version="1.0" encoding="utf-8"?>
<p:presentation xmlns:p="http://schemas.openxmlformats.org/presentationml/2006/main">
  <p:sldMasterIdLst>
    <p:sldMasterId xmlns:r="http://schemas.openxmlformats.org/officeDocument/2006/relationships" id="2147483648" r:id="R4f7d568891f74daa"/>
  </p:sldMasterIdLst>
  <p:notesMasterIdLst>
    <p:notesMasterId xmlns:r="http://schemas.openxmlformats.org/officeDocument/2006/relationships" r:id="R3f06afd57fbc4ee2"/>
  </p:notesMasterIdLst>
  <p:sldIdLst>
    <p:sldId xmlns:r="http://schemas.openxmlformats.org/officeDocument/2006/relationships" id="256" r:id="R6b23612ad96b4e0b"/>
    <p:sldId xmlns:r="http://schemas.openxmlformats.org/officeDocument/2006/relationships" id="257" r:id="Re11b553ba0b34a10"/>
    <p:sldId xmlns:r="http://schemas.openxmlformats.org/officeDocument/2006/relationships" id="258" r:id="R2ae0f3ae418d4ac9"/>
    <p:sldId xmlns:r="http://schemas.openxmlformats.org/officeDocument/2006/relationships" id="259" r:id="Rd9e9dde1517b47a4"/>
    <p:sldId xmlns:r="http://schemas.openxmlformats.org/officeDocument/2006/relationships" id="260" r:id="R13b9ad573ae5457b"/>
    <p:sldId xmlns:r="http://schemas.openxmlformats.org/officeDocument/2006/relationships" id="261" r:id="R5a3e1f43341d4023"/>
    <p:sldId xmlns:r="http://schemas.openxmlformats.org/officeDocument/2006/relationships" id="262" r:id="R73cb37e866ea426a"/>
    <p:sldId xmlns:r="http://schemas.openxmlformats.org/officeDocument/2006/relationships" id="263" r:id="R5a9a62eedec14ce2"/>
    <p:sldId xmlns:r="http://schemas.openxmlformats.org/officeDocument/2006/relationships" id="264" r:id="R0eb7c987d98e4bfd"/>
    <p:sldId xmlns:r="http://schemas.openxmlformats.org/officeDocument/2006/relationships" id="265" r:id="R48cf9d174f6b49a3"/>
    <p:sldId xmlns:r="http://schemas.openxmlformats.org/officeDocument/2006/relationships" id="266" r:id="Rcccf2e96bcf1438a"/>
    <p:sldId xmlns:r="http://schemas.openxmlformats.org/officeDocument/2006/relationships" id="267" r:id="R22f3d0e9e5f74501"/>
    <p:sldId xmlns:r="http://schemas.openxmlformats.org/officeDocument/2006/relationships" id="268" r:id="R5158908f29c54241"/>
    <p:sldId xmlns:r="http://schemas.openxmlformats.org/officeDocument/2006/relationships" id="269" r:id="Rf8b7d0a1f59245cc"/>
    <p:sldId xmlns:r="http://schemas.openxmlformats.org/officeDocument/2006/relationships" id="270" r:id="R3c7b3be5339e4eff"/>
    <p:sldId xmlns:r="http://schemas.openxmlformats.org/officeDocument/2006/relationships" id="271" r:id="R5df7c864522b4646"/>
    <p:sldId xmlns:r="http://schemas.openxmlformats.org/officeDocument/2006/relationships" id="272" r:id="R541ade5a688947c1"/>
    <p:sldId xmlns:r="http://schemas.openxmlformats.org/officeDocument/2006/relationships" id="273" r:id="Rb47f2d63015440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2e4f45ba634106" /><Relationship Type="http://schemas.openxmlformats.org/officeDocument/2006/relationships/slideMaster" Target="/ppt/slideMasters/slideMaster1.xml" Id="R4f7d568891f74daa" /><Relationship Type="http://schemas.openxmlformats.org/officeDocument/2006/relationships/notesMaster" Target="/ppt/notesMasters/notesMaster1.xml" Id="R3f06afd57fbc4ee2" /><Relationship Type="http://schemas.openxmlformats.org/officeDocument/2006/relationships/presProps" Target="/ppt/presProps.xml" Id="Rff8b093282064be0" /><Relationship Type="http://schemas.openxmlformats.org/officeDocument/2006/relationships/tableStyles" Target="/ppt/tableStyles.xml" Id="R4dde87fd4e854e29" /><Relationship Type="http://schemas.openxmlformats.org/officeDocument/2006/relationships/slide" Target="/ppt/slides/slide1.xml" Id="R6b23612ad96b4e0b" /><Relationship Type="http://schemas.openxmlformats.org/officeDocument/2006/relationships/slide" Target="/ppt/slides/slide2.xml" Id="Re11b553ba0b34a10" /><Relationship Type="http://schemas.openxmlformats.org/officeDocument/2006/relationships/slide" Target="/ppt/slides/slide3.xml" Id="R2ae0f3ae418d4ac9" /><Relationship Type="http://schemas.openxmlformats.org/officeDocument/2006/relationships/slide" Target="/ppt/slides/slide4.xml" Id="Rd9e9dde1517b47a4" /><Relationship Type="http://schemas.openxmlformats.org/officeDocument/2006/relationships/slide" Target="/ppt/slides/slide5.xml" Id="R13b9ad573ae5457b" /><Relationship Type="http://schemas.openxmlformats.org/officeDocument/2006/relationships/slide" Target="/ppt/slides/slide6.xml" Id="R5a3e1f43341d4023" /><Relationship Type="http://schemas.openxmlformats.org/officeDocument/2006/relationships/slide" Target="/ppt/slides/slide7.xml" Id="R73cb37e866ea426a" /><Relationship Type="http://schemas.openxmlformats.org/officeDocument/2006/relationships/slide" Target="/ppt/slides/slide8.xml" Id="R5a9a62eedec14ce2" /><Relationship Type="http://schemas.openxmlformats.org/officeDocument/2006/relationships/slide" Target="/ppt/slides/slide9.xml" Id="R0eb7c987d98e4bfd" /><Relationship Type="http://schemas.openxmlformats.org/officeDocument/2006/relationships/slide" Target="/ppt/slides/slide10.xml" Id="R48cf9d174f6b49a3" /><Relationship Type="http://schemas.openxmlformats.org/officeDocument/2006/relationships/slide" Target="/ppt/slides/slide11.xml" Id="Rcccf2e96bcf1438a" /><Relationship Type="http://schemas.openxmlformats.org/officeDocument/2006/relationships/slide" Target="/ppt/slides/slide12.xml" Id="R22f3d0e9e5f74501" /><Relationship Type="http://schemas.openxmlformats.org/officeDocument/2006/relationships/slide" Target="/ppt/slides/slide13.xml" Id="R5158908f29c54241" /><Relationship Type="http://schemas.openxmlformats.org/officeDocument/2006/relationships/slide" Target="/ppt/slides/slide14.xml" Id="Rf8b7d0a1f59245cc" /><Relationship Type="http://schemas.openxmlformats.org/officeDocument/2006/relationships/slide" Target="/ppt/slides/slide15.xml" Id="R3c7b3be5339e4eff" /><Relationship Type="http://schemas.openxmlformats.org/officeDocument/2006/relationships/slide" Target="/ppt/slides/slide16.xml" Id="R5df7c864522b4646" /><Relationship Type="http://schemas.openxmlformats.org/officeDocument/2006/relationships/slide" Target="/ppt/slides/slide17.xml" Id="R541ade5a688947c1" /><Relationship Type="http://schemas.openxmlformats.org/officeDocument/2006/relationships/slide" Target="/ppt/slides/slide18.xml" Id="Rb47f2d63015440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14e11daeb64f6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e9fc341d2040c0" /><Relationship Type="http://schemas.openxmlformats.org/officeDocument/2006/relationships/notesMaster" Target="/ppt/notesMasters/notesMaster1.xml" Id="Rc716a456259b43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b9b3f57a754ea6" /><Relationship Type="http://schemas.openxmlformats.org/officeDocument/2006/relationships/notesMaster" Target="/ppt/notesMasters/notesMaster1.xml" Id="Rb02da953a8644e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6678ccc52347de" /><Relationship Type="http://schemas.openxmlformats.org/officeDocument/2006/relationships/notesMaster" Target="/ppt/notesMasters/notesMaster1.xml" Id="Rbc06c69dab174f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e248d505b54071" /><Relationship Type="http://schemas.openxmlformats.org/officeDocument/2006/relationships/notesMaster" Target="/ppt/notesMasters/notesMaster1.xml" Id="Raaebdef763074b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5c51734fe94a96" /><Relationship Type="http://schemas.openxmlformats.org/officeDocument/2006/relationships/notesMaster" Target="/ppt/notesMasters/notesMaster1.xml" Id="R59dfa90b0e2342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9d6078db204316" /><Relationship Type="http://schemas.openxmlformats.org/officeDocument/2006/relationships/notesMaster" Target="/ppt/notesMasters/notesMaster1.xml" Id="R8264272d5fe64a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ceb6be346f41f9" /><Relationship Type="http://schemas.openxmlformats.org/officeDocument/2006/relationships/notesMaster" Target="/ppt/notesMasters/notesMaster1.xml" Id="R5dd41fe1af5246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35e8f967274e38" /><Relationship Type="http://schemas.openxmlformats.org/officeDocument/2006/relationships/notesMaster" Target="/ppt/notesMasters/notesMaster1.xml" Id="R5b60c978bdb64f39"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157f8635874431" /><Relationship Type="http://schemas.openxmlformats.org/officeDocument/2006/relationships/notesMaster" Target="/ppt/notesMasters/notesMaster1.xml" Id="R7e61ef7a86ed42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a320290cab401c" /><Relationship Type="http://schemas.openxmlformats.org/officeDocument/2006/relationships/notesMaster" Target="/ppt/notesMasters/notesMaster1.xml" Id="Rb434efc72fd5411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00dc15aa4f24e32" /><Relationship Type="http://schemas.openxmlformats.org/officeDocument/2006/relationships/notesMaster" Target="/ppt/notesMasters/notesMaster1.xml" Id="R23d908c6672b49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62c8408f5bd4275" /><Relationship Type="http://schemas.openxmlformats.org/officeDocument/2006/relationships/notesMaster" Target="/ppt/notesMasters/notesMaster1.xml" Id="R187748a9046b46e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7b8d166fe24ce2" /><Relationship Type="http://schemas.openxmlformats.org/officeDocument/2006/relationships/notesMaster" Target="/ppt/notesMasters/notesMaster1.xml" Id="R24e8fc6772d04c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b3d71e142d549c1" /><Relationship Type="http://schemas.openxmlformats.org/officeDocument/2006/relationships/notesMaster" Target="/ppt/notesMasters/notesMaster1.xml" Id="Rbb5b1046cf4645d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4f92d09e96d4e01" /><Relationship Type="http://schemas.openxmlformats.org/officeDocument/2006/relationships/notesMaster" Target="/ppt/notesMasters/notesMaster1.xml" Id="Rcaba825a2f5441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201ea82015e4d99" /><Relationship Type="http://schemas.openxmlformats.org/officeDocument/2006/relationships/notesMaster" Target="/ppt/notesMasters/notesMaster1.xml" Id="R83fdf861c6a84ec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8ce04cf076046ba" /><Relationship Type="http://schemas.openxmlformats.org/officeDocument/2006/relationships/notesMaster" Target="/ppt/notesMasters/notesMaster1.xml" Id="R6de5eecaa1914f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75e99982c942bb" /><Relationship Type="http://schemas.openxmlformats.org/officeDocument/2006/relationships/notesMaster" Target="/ppt/notesMasters/notesMaster1.xml" Id="Rb40ffc725e9f4c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0.5 min. Juan: 0.5 min. Tomás: 0 min.</a:t>
            </a:r>
          </a:p>
          <a:p xmlns:a="http://schemas.openxmlformats.org/drawingml/2006/main">
            <a:r>
              <a:t/>
            </a:r>
          </a:p>
          <a:p xmlns:a="http://schemas.openxmlformats.org/drawingml/2006/main">
            <a:r>
              <a:t>QUÉ DECIR</a:t>
            </a:r>
          </a:p>
          <a:p xmlns:a="http://schemas.openxmlformats.org/drawingml/2006/main">
            <a:r>
              <a:t>Somos Juan Baigorria y Tomás Ponce. Nuestro proyecto organiza los turnos de un lavadero. Vamos a mostrar cinco requerimientos implementados y seguirlos desde el caso de uso hasta una petición real en Bruno. También vamos a probar qué sucede cuando los datos son incorrectos o el usuario no tiene permiso.</a:t>
            </a:r>
          </a:p>
          <a:p xmlns:a="http://schemas.openxmlformats.org/drawingml/2006/main">
            <a:r>
              <a:t/>
            </a:r>
          </a:p>
          <a:p xmlns:a="http://schemas.openxmlformats.org/drawingml/2006/main">
            <a:r>
              <a:t>QUÉ HACER</a:t>
            </a:r>
          </a:p>
          <a:p xmlns:a="http://schemas.openxmlformats.org/drawingml/2006/main">
            <a:r>
              <a:t>Presentarse y anunciar el recorrido. Mantener Bruno y el proyecto abiertos desde el inicio.</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0.5 min. Juan: 0 min. Tomás: 0.5 min.</a:t>
            </a:r>
          </a:p>
          <a:p xmlns:a="http://schemas.openxmlformats.org/drawingml/2006/main">
            <a:r>
              <a:t/>
            </a:r>
          </a:p>
          <a:p xmlns:a="http://schemas.openxmlformats.org/drawingml/2006/main">
            <a:r>
              <a:t>QUÉ DECIR</a:t>
            </a:r>
          </a:p>
          <a:p xmlns:a="http://schemas.openxmlformats.org/drawingml/2006/main">
            <a:r>
              <a:t>El problema que resolvemos es organizar una agenda compartida. El cliente puede reservar y modificar sus turnos, y el personal puede organizar la atención. Esta entrega implementa una API. Tenemos un prototipo visual, pero no vamos a presentar una interfaz de usuario como terminada. No incluimos cobros ni una entidad independiente para vehículos.</a:t>
            </a:r>
          </a:p>
          <a:p xmlns:a="http://schemas.openxmlformats.org/drawingml/2006/main">
            <a:r>
              <a:t/>
            </a:r>
          </a:p>
          <a:p xmlns:a="http://schemas.openxmlformats.org/drawingml/2006/main">
            <a:r>
              <a:t>QUÉ HACER</a:t>
            </a:r>
          </a:p>
          <a:p xmlns:a="http://schemas.openxmlformats.org/drawingml/2006/main">
            <a:r>
              <a:t>Abrir brevemente el objetivo y el alcance. La referencia del video muestra una introducción corta antes del código.</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https://github.com/PracticasProfesionalizantes-I-2026/Grupo-9-TurnosLavadero/blob/preparar-defensa-bruno/Documentos/Entregas%20TP/Alcance%20del%20Sistema.md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1.5 min. Tomás: 0 min.</a:t>
            </a:r>
          </a:p>
          <a:p xmlns:a="http://schemas.openxmlformats.org/drawingml/2006/main">
            <a:r>
              <a:t/>
            </a:r>
          </a:p>
          <a:p xmlns:a="http://schemas.openxmlformats.org/drawingml/2006/main">
            <a:r>
              <a:t>QUÉ DECIR</a:t>
            </a:r>
          </a:p>
          <a:p xmlns:a="http://schemas.openxmlformats.org/drawingml/2006/main">
            <a:r>
              <a:t>Separamos los permisos en tres roles. Un cliente trabaja sobre sus propios turnos. El empleado gestiona la agenda y los clientes. El administrador también mantiene los servicios. Cliente, Servicio y Turno son las entidades principales: un cliente puede tener varios turnos y cada turno referencia un servicio. Usuario representa la cuenta de acceso. No confiamos en un clienteId escrito en el cuerpo: el servicio lo compara con la identidad del token.</a:t>
            </a:r>
          </a:p>
          <a:p xmlns:a="http://schemas.openxmlformats.org/drawingml/2006/main">
            <a:r>
              <a:t/>
            </a:r>
          </a:p>
          <a:p xmlns:a="http://schemas.openxmlformats.org/drawingml/2006/main">
            <a:r>
              <a:t>QUÉ HACER</a:t>
            </a:r>
          </a:p>
          <a:p xmlns:a="http://schemas.openxmlformats.org/drawingml/2006/main">
            <a:r>
              <a:t>Mostrar la tabla de permisos. En código abrir ActorContext y ResolveClienteId. Señalar ClienteId y ServicioId como claves foráneas en LavaderoDbContext.</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https://github.com/PracticasProfesionalizantes-I-2026/Grupo-9-TurnosLavadero/blob/preparar-defensa-bruno/API/Security/ActorContext.cs</a:t>
            </a:r>
          </a:p>
          <a:p xmlns:a="http://schemas.openxmlformats.org/drawingml/2006/main">
            <a:r>
              <a:t>https://github.com/PracticasProfesionalizantes-I-2026/Grupo-9-TurnosLavadero/blob/preparar-defensa-bruno/BusinessLogic/Services/TurnoService.cs</a:t>
            </a:r>
          </a:p>
          <a:p xmlns:a="http://schemas.openxmlformats.org/drawingml/2006/main">
            <a:r>
              <a:t>https://github.com/PracticasProfesionalizantes-I-2026/Grupo-9-TurnosLavadero/blob/preparar-defensa-bruno/DataAccess/Context/LavaderoDbContext.cs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0 min. Tomás: 1.5 min.</a:t>
            </a:r>
          </a:p>
          <a:p xmlns:a="http://schemas.openxmlformats.org/drawingml/2006/main">
            <a:r>
              <a:t/>
            </a:r>
          </a:p>
          <a:p xmlns:a="http://schemas.openxmlformats.org/drawingml/2006/main">
            <a:r>
              <a:t>QUÉ DECIR</a:t>
            </a:r>
          </a:p>
          <a:p xmlns:a="http://schemas.openxmlformats.org/drawingml/2006/main">
            <a:r>
              <a:t>Esta es la correspondencia que vamos a seguir. El requerimiento indica qué necesita el sistema. El caso de uso explica al actor, el flujo y las alternativas. El endpoint recibe la petición y el código aplica las reglas. Por ejemplo, reservar un turno corresponde a RF-02. CU-01 describe al cliente y CU-03 al personal, pero ambos utilizan el mismo endpoint con permisos diferentes. El mapa completo incluye los trece casos de uso.</a:t>
            </a:r>
          </a:p>
          <a:p xmlns:a="http://schemas.openxmlformats.org/drawingml/2006/main">
            <a:r>
              <a:t/>
            </a:r>
          </a:p>
          <a:p xmlns:a="http://schemas.openxmlformats.org/drawingml/2006/main">
            <a:r>
              <a:t>QUÉ HACER</a:t>
            </a:r>
          </a:p>
          <a:p xmlns:a="http://schemas.openxmlformats.org/drawingml/2006/main">
            <a:r>
              <a:t>Abrir MAPA-DEFENSA.md y seguir RF-02 hasta CU-01, POST /api/turnos, TurnoService.CreateAsync y la prueba asociada.</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https://github.com/PracticasProfesionalizantes-I-2026/Grupo-9-TurnosLavadero/blob/preparar-defensa-bruno/Documentos/Entregas%20TP/REQUISITOS.md</a:t>
            </a:r>
          </a:p>
          <a:p xmlns:a="http://schemas.openxmlformats.org/drawingml/2006/main">
            <a:r>
              <a:t>https://github.com/PracticasProfesionalizantes-I-2026/Grupo-9-TurnosLavadero/blob/preparar-defensa-bruno/Documentos/Entregas%20TP/MAPA-DEFENSA.md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1.5 min. Tomás: 0 min.</a:t>
            </a:r>
          </a:p>
          <a:p xmlns:a="http://schemas.openxmlformats.org/drawingml/2006/main">
            <a:r>
              <a:t/>
            </a:r>
          </a:p>
          <a:p xmlns:a="http://schemas.openxmlformats.org/drawingml/2006/main">
            <a:r>
              <a:t>QUÉ DECIR</a:t>
            </a:r>
          </a:p>
          <a:p xmlns:a="http://schemas.openxmlformats.org/drawingml/2006/main">
            <a:r>
              <a:t>Estos requisitos describen cómo debe comportarse la solución. La seguridad aparece en la validación del token y en el hash de contraseñas. La confidencialidad aparece al impedir que un cliente acceda a datos ajenos. La integridad utiliza validaciones e índices únicos. La separación por capas facilita mantener y probar el código. La API permite que distintos clientes HTTP intercambien JSON. No prometemos capacidad ni tiempos de respuesta que no hayamos medido.</a:t>
            </a:r>
          </a:p>
          <a:p xmlns:a="http://schemas.openxmlformats.org/drawingml/2006/main">
            <a:r>
              <a:t/>
            </a:r>
          </a:p>
          <a:p xmlns:a="http://schemas.openxmlformats.org/drawingml/2006/main">
            <a:r>
              <a:t>QUÉ HACER</a:t>
            </a:r>
          </a:p>
          <a:p xmlns:a="http://schemas.openxmlformats.org/drawingml/2006/main">
            <a:r>
              <a:t>Mostrar una evidencia de cada fila en el mapa. Evitar llamar requerimiento no funcional a una operación como crear o cancelar un turno.</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https://github.com/PracticasProfesionalizantes-I-2026/Grupo-9-TurnosLavadero/blob/preparar-defensa-bruno/Documentos/Entregas%20TP/REQUISITOS.md</a:t>
            </a:r>
          </a:p>
          <a:p xmlns:a="http://schemas.openxmlformats.org/drawingml/2006/main">
            <a:r>
              <a:t>https://github.com/PracticasProfesionalizantes-I-2026/Grupo-9-TurnosLavadero/blob/preparar-defensa-bruno/API/Program.cs</a:t>
            </a:r>
          </a:p>
          <a:p xmlns:a="http://schemas.openxmlformats.org/drawingml/2006/main">
            <a:r>
              <a:t>https://github.com/PracticasProfesionalizantes-I-2026/Grupo-9-TurnosLavadero/blob/preparar-defensa-bruno/API/Security/PasswordService.cs</a:t>
            </a:r>
          </a:p>
          <a:p xmlns:a="http://schemas.openxmlformats.org/drawingml/2006/main">
            <a:r>
              <a:t>https://github.com/PracticasProfesionalizantes-I-2026/Grupo-9-TurnosLavadero/blob/preparar-defensa-bruno/DataAccess/Context/LavaderoDbContext.cs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0 min. Tomás: 1.5 min.</a:t>
            </a:r>
          </a:p>
          <a:p xmlns:a="http://schemas.openxmlformats.org/drawingml/2006/main">
            <a:r>
              <a:t/>
            </a:r>
          </a:p>
          <a:p xmlns:a="http://schemas.openxmlformats.org/drawingml/2006/main">
            <a:r>
              <a:t>QUÉ DECIR</a:t>
            </a:r>
          </a:p>
          <a:p xmlns:a="http://schemas.openxmlformats.org/drawingml/2006/main">
            <a:r>
              <a:t>La petición entra al controller, pasa al servicio y llega al repositorio y al contexto. Los errores no se resuelven todos en el mismo lugar. ApiController y los atributos del DTO rechazan un cuerpo o formato inválido. El middleware JWT devuelve 401 cuando falla la autenticación. El servicio evalúa permisos y reglas. El controller traduce las excepciones conocidas a los códigos HTTP. La base protege relaciones y unicidad. Las validaciones de entrada se ejecutan antes de guardar.</a:t>
            </a:r>
          </a:p>
          <a:p xmlns:a="http://schemas.openxmlformats.org/drawingml/2006/main">
            <a:r>
              <a:t/>
            </a:r>
          </a:p>
          <a:p xmlns:a="http://schemas.openxmlformats.org/drawingml/2006/main">
            <a:r>
              <a:t>QUÉ HACER</a:t>
            </a:r>
          </a:p>
          <a:p xmlns:a="http://schemas.openxmlformats.org/drawingml/2006/main">
            <a:r>
              <a:t>Abrir RegisterClienteDTO, API/Program.cs y ExecuteAsync en un controller. Mostrar un catch concreto. Aclarar que un JSON roto puede rechazarse antes de entrar al método de negocio.</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https://github.com/PracticasProfesionalizantes-I-2026/Grupo-9-TurnosLavadero/blob/preparar-defensa-bruno/Shared/DTOs/Auth/RegisterClienteDTO.cs</a:t>
            </a:r>
          </a:p>
          <a:p xmlns:a="http://schemas.openxmlformats.org/drawingml/2006/main">
            <a:r>
              <a:t>https://github.com/PracticasProfesionalizantes-I-2026/Grupo-9-TurnosLavadero/blob/preparar-defensa-bruno/API/Program.cs</a:t>
            </a:r>
          </a:p>
          <a:p xmlns:a="http://schemas.openxmlformats.org/drawingml/2006/main">
            <a:r>
              <a:t>https://github.com/PracticasProfesionalizantes-I-2026/Grupo-9-TurnosLavadero/blob/preparar-defensa-bruno/API/Controllers/AuthController.cs</a:t>
            </a:r>
          </a:p>
          <a:p xmlns:a="http://schemas.openxmlformats.org/drawingml/2006/main">
            <a:r>
              <a:t>https://github.com/PracticasProfesionalizantes-I-2026/Grupo-9-TurnosLavadero/blob/preparar-defensa-bruno/API/Controllers/TurnosController.cs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2 min. Juan: 2 min. Tomás: 0 min.</a:t>
            </a:r>
          </a:p>
          <a:p xmlns:a="http://schemas.openxmlformats.org/drawingml/2006/main">
            <a:r>
              <a:t/>
            </a:r>
          </a:p>
          <a:p xmlns:a="http://schemas.openxmlformats.org/drawingml/2006/main">
            <a:r>
              <a:t>QUÉ DECIR</a:t>
            </a:r>
          </a:p>
          <a:p xmlns:a="http://schemas.openxmlformats.org/drawingml/2006/main">
            <a:r>
              <a:t>Hacemos un login por actor para esta demostración. Bruno guarda el token del administrador en adminToken. Después del registro, hacemos el login del cliente y guardamos su JWT en token y clienteToken. Las siguientes peticiones reutilizan ese valor. No hacemos login antes de cada endpoint. Una contraseña incorrecta devuelve 401. La API verifica el hash guardado y emite el JWT si las credenciales son correctas. La cuenta no cambia de rol por lo que envíe el cliente.</a:t>
            </a:r>
          </a:p>
          <a:p xmlns:a="http://schemas.openxmlformats.org/drawingml/2006/main">
            <a:r>
              <a:t/>
            </a:r>
          </a:p>
          <a:p xmlns:a="http://schemas.openxmlformats.org/drawingml/2006/main">
            <a:r>
              <a:t>QUÉ HACER</a:t>
            </a:r>
          </a:p>
          <a:p xmlns:a="http://schemas.openxmlformats.org/drawingml/2006/main">
            <a:r>
              <a:t>Preparación: ejecutar 00 Demo/01, 02 y 03. En vivo ejecutar 04 Login cliente. Mostrar 200, rol Cliente y variable guardada. Ejecutar 07 Defensa/10 Login password incorrecta: debe dar 401 y no reemplazar el token correcto.</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https://github.com/PracticasProfesionalizantes-I-2026/Grupo-9-TurnosLavadero/blob/preparar-defensa-bruno/BusinessLogic/Services/AuthService.cs</a:t>
            </a:r>
          </a:p>
          <a:p xmlns:a="http://schemas.openxmlformats.org/drawingml/2006/main">
            <a:r>
              <a:t>https://github.com/PracticasProfesionalizantes-I-2026/Grupo-9-TurnosLavadero/blob/preparar-defensa-bruno/API/Security/PasswordService.cs</a:t>
            </a:r>
          </a:p>
          <a:p xmlns:a="http://schemas.openxmlformats.org/drawingml/2006/main">
            <a:r>
              <a:t>https://github.com/PracticasProfesionalizantes-I-2026/Grupo-9-TurnosLavadero/blob/preparar-defensa-bruno/bruno/00%20Demo/04%20Login%20cliente%20y%20guardar%20sesion.bru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2 min. Juan: 0 min. Tomás: 2 min.</a:t>
            </a:r>
          </a:p>
          <a:p xmlns:a="http://schemas.openxmlformats.org/drawingml/2006/main">
            <a:r>
              <a:t/>
            </a:r>
          </a:p>
          <a:p xmlns:a="http://schemas.openxmlformats.org/drawingml/2006/main">
            <a:r>
              <a:t>QUÉ DECIR</a:t>
            </a:r>
          </a:p>
          <a:p xmlns:a="http://schemas.openxmlformats.org/drawingml/2006/main">
            <a:r>
              <a:t>Pegamos el token de la demo en jwt.io para ver el header y el payload. Esos datos se pueden leer: el token está firmado, no cifrado. Podemos identificar al usuario, el rol, el emisor, el destinatario y el vencimiento. Algunos nombres de claims aparecen como direcciones porque usamos ClaimTypes de .NET. Leer el contenido no prueba que nuestra API vaya a aceptarlo. Lo comprobamos enviando una petición: si alteramos la firma, la API devuelve 401. Las pruebas también cubren vencimiento, emisor y audiencia incorrectos.</a:t>
            </a:r>
          </a:p>
          <a:p xmlns:a="http://schemas.openxmlformats.org/drawingml/2006/main">
            <a:r>
              <a:t/>
            </a:r>
          </a:p>
          <a:p xmlns:a="http://schemas.openxmlformats.org/drawingml/2006/main">
            <a:r>
              <a:t>QUÉ HACER</a:t>
            </a:r>
          </a:p>
          <a:p xmlns:a="http://schemas.openxmlformats.org/drawingml/2006/main">
            <a:r>
              <a:t>Copiar clienteToken de DemoLocal y abrir https://www.jwt.io/. No proyectar las credenciales del entorno ni copiar la clave de producción. Mostrar alg, rol, cliente_id, iss, aud, nbf y exp. Ejecutar 07 Defensa/11: 401. Volver a la petición original con clienteToken y comprobar que sigue válida. No cambiar token para hacer la prueba negativa.</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https://github.com/PracticasProfesionalizantes-I-2026/Grupo-9-TurnosLavadero/blob/preparar-defensa-bruno/API/Security/JwtTokenService.cs</a:t>
            </a:r>
          </a:p>
          <a:p xmlns:a="http://schemas.openxmlformats.org/drawingml/2006/main">
            <a:r>
              <a:t>https://github.com/PracticasProfesionalizantes-I-2026/Grupo-9-TurnosLavadero/blob/preparar-defensa-bruno/API/Program.cs</a:t>
            </a:r>
          </a:p>
          <a:p xmlns:a="http://schemas.openxmlformats.org/drawingml/2006/main">
            <a:r>
              <a:t>https://github.com/PracticasProfesionalizantes-I-2026/Grupo-9-TurnosLavadero/blob/preparar-defensa-bruno/API/Security/ActorContext.cs</a:t>
            </a:r>
          </a:p>
          <a:p xmlns:a="http://schemas.openxmlformats.org/drawingml/2006/main">
            <a:r>
              <a:t>https://github.com/PracticasProfesionalizantes-I-2026/Grupo-9-TurnosLavadero/blob/preparar-defensa-bruno/Tests/IntegrationTests/DefensaValidationAndJwtTests.cs</a:t>
            </a:r>
          </a:p>
          <a:p xmlns:a="http://schemas.openxmlformats.org/drawingml/2006/main">
            <a:r>
              <a:t>https://www.jwt.io/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0 min. Tomás: 1.5 min.</a:t>
            </a:r>
          </a:p>
          <a:p xmlns:a="http://schemas.openxmlformats.org/drawingml/2006/main">
            <a:r>
              <a:t/>
            </a:r>
          </a:p>
          <a:p xmlns:a="http://schemas.openxmlformats.org/drawingml/2006/main">
            <a:r>
              <a:t>QUÉ DECIR</a:t>
            </a:r>
          </a:p>
          <a:p xmlns:a="http://schemas.openxmlformats.org/drawingml/2006/main">
            <a:r>
              <a:t>El registro recibe los datos del cliente y una contraseña. La presentación valida el cuerpo, y AuthService normaliza los valores y comprueba el correo. Creamos Cliente y Usuario en una transacción para no dejar una cuenta a medias. La contraseña se almacena como hash. El sistema asigna el rol Cliente, aunque alguien intente mandar Administrador en el JSON. Un campo obligatorio vacío, con espacios o null se rechaza con 400.</a:t>
            </a:r>
          </a:p>
          <a:p xmlns:a="http://schemas.openxmlformats.org/drawingml/2006/main">
            <a:r>
              <a:t/>
            </a:r>
          </a:p>
          <a:p xmlns:a="http://schemas.openxmlformats.org/drawingml/2006/main">
            <a:r>
              <a:t>QUÉ HACER</a:t>
            </a:r>
          </a:p>
          <a:p xmlns:a="http://schemas.openxmlformats.org/drawingml/2006/main">
            <a:r>
              <a:t>Mostrar la respuesta ya obtenida de 00 Demo/03 y abrir RegisterClienteAsync y UsuarioRepository.CreateClienteUserAsync. No volver a registrar para obtener el token: para la sesión se utiliza el login del paso 04.</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https://github.com/PracticasProfesionalizantes-I-2026/Grupo-9-TurnosLavadero/blob/preparar-defensa-bruno/BusinessLogic/Services/AuthService.cs</a:t>
            </a:r>
          </a:p>
          <a:p xmlns:a="http://schemas.openxmlformats.org/drawingml/2006/main">
            <a:r>
              <a:t>https://github.com/PracticasProfesionalizantes-I-2026/Grupo-9-TurnosLavadero/blob/preparar-defensa-bruno/DataAccess/Repositories/UsuarioRepository.cs</a:t>
            </a:r>
          </a:p>
          <a:p xmlns:a="http://schemas.openxmlformats.org/drawingml/2006/main">
            <a:r>
              <a:t>https://github.com/PracticasProfesionalizantes-I-2026/Grupo-9-TurnosLavadero/blob/preparar-defensa-bruno/Shared/DTOs/Auth/RegisterClienteDTO.cs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1.5 min. Tomás: 0 min.</a:t>
            </a:r>
          </a:p>
          <a:p xmlns:a="http://schemas.openxmlformats.org/drawingml/2006/main">
            <a:r>
              <a:t/>
            </a:r>
          </a:p>
          <a:p xmlns:a="http://schemas.openxmlformats.org/drawingml/2006/main">
            <a:r>
              <a:t>QUÉ DECIR</a:t>
            </a:r>
          </a:p>
          <a:p xmlns:a="http://schemas.openxmlformats.org/drawingml/2006/main">
            <a:r>
              <a:t>Para reservar mandamos el servicio y la fecha elegida. Si el actor es Cliente, el sistema obtiene su identificador del JWT. La API verifica que el cliente y el servicio existan, que la fecha sea futura y que ese instante no esté ocupado. Guarda el turno como Confirmado y responde 201. Repetimos la misma petición y recibimos 409. La base conserva un único turno confirmado en ese instante.</a:t>
            </a:r>
          </a:p>
          <a:p xmlns:a="http://schemas.openxmlformats.org/drawingml/2006/main">
            <a:r>
              <a:t/>
            </a:r>
          </a:p>
          <a:p xmlns:a="http://schemas.openxmlformats.org/drawingml/2006/main">
            <a:r>
              <a:t>QUÉ HACER</a:t>
            </a:r>
          </a:p>
          <a:p xmlns:a="http://schemas.openxmlformats.org/drawingml/2006/main">
            <a:r>
              <a:t>Ejecutar 00 Demo/05 y 06. Seguir TurnosController.Create, TurnoService.CreateAsync y TurnoRepository.CreateAsync. Mostrar RN-01 y el índice único filtrado. El personal usa el mismo endpoint indicando un cliente.</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https://github.com/PracticasProfesionalizantes-I-2026/Grupo-9-TurnosLavadero/blob/preparar-defensa-bruno/API/Controllers/TurnosController.cs</a:t>
            </a:r>
          </a:p>
          <a:p xmlns:a="http://schemas.openxmlformats.org/drawingml/2006/main">
            <a:r>
              <a:t>https://github.com/PracticasProfesionalizantes-I-2026/Grupo-9-TurnosLavadero/blob/preparar-defensa-bruno/BusinessLogic/Services/TurnoService.cs</a:t>
            </a:r>
          </a:p>
          <a:p xmlns:a="http://schemas.openxmlformats.org/drawingml/2006/main">
            <a:r>
              <a:t>https://github.com/PracticasProfesionalizantes-I-2026/Grupo-9-TurnosLavadero/blob/preparar-defensa-bruno/DataAccess/Repositories/TurnoRepository.cs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0 min. Tomás: 1.5 min.</a:t>
            </a:r>
          </a:p>
          <a:p xmlns:a="http://schemas.openxmlformats.org/drawingml/2006/main">
            <a:r>
              <a:t/>
            </a:r>
          </a:p>
          <a:p xmlns:a="http://schemas.openxmlformats.org/drawingml/2006/main">
            <a:r>
              <a:t>QUÉ DECIR</a:t>
            </a:r>
          </a:p>
          <a:p xmlns:a="http://schemas.openxmlformats.org/drawingml/2006/main">
            <a:r>
              <a:t>Para reprogramar conservamos el identificador del turno. Primero comprobamos que exista y que el actor tenga permiso. Después verificamos que esté confirmado, que todavía no haya vencido y que la nueva fecha sea válida y esté libre. La comprobación de disponibilidad excluye al propio turno. Cuando una validación falla, no se guarda el cambio.</a:t>
            </a:r>
          </a:p>
          <a:p xmlns:a="http://schemas.openxmlformats.org/drawingml/2006/main">
            <a:r>
              <a:t/>
            </a:r>
          </a:p>
          <a:p xmlns:a="http://schemas.openxmlformats.org/drawingml/2006/main">
            <a:r>
              <a:t>QUÉ HACER</a:t>
            </a:r>
          </a:p>
          <a:p xmlns:a="http://schemas.openxmlformats.org/drawingml/2006/main">
            <a:r>
              <a:t>Ejecutar 00 Demo/07. Abrir EnsureCanOperate, EnsureModifiable, ValidateFuture y ExistsActiveAtAsync. Si preguntan por turnos ajenos, mostrar el escenario ajeno de UpdateTurno_ValidatesRulesAndPreservesOriginalOnError.</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https://github.com/PracticasProfesionalizantes-I-2026/Grupo-9-TurnosLavadero/blob/preparar-defensa-bruno/BusinessLogic/Services/TurnoService.cs</a:t>
            </a:r>
          </a:p>
          <a:p xmlns:a="http://schemas.openxmlformats.org/drawingml/2006/main">
            <a:r>
              <a:t>https://github.com/PracticasProfesionalizantes-I-2026/Grupo-9-TurnosLavadero/blob/preparar-defensa-bruno/Tests/IntegrationTests/CasosDeUsoTests.cs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1.5 min. Tomás: 0 min.</a:t>
            </a:r>
          </a:p>
          <a:p xmlns:a="http://schemas.openxmlformats.org/drawingml/2006/main">
            <a:r>
              <a:t/>
            </a:r>
          </a:p>
          <a:p xmlns:a="http://schemas.openxmlformats.org/drawingml/2006/main">
            <a:r>
              <a:t>QUÉ DECIR</a:t>
            </a:r>
          </a:p>
          <a:p xmlns:a="http://schemas.openxmlformats.org/drawingml/2006/main">
            <a:r>
              <a:t>Cancelar cambia el estado del turno, no borra su historial. La API comprueba la titularidad, el estado y que la fecha sea futura. Devuelve 204 sin cuerpo. Después consultamos disponibilidad y recibimos true para ese horario. El mismo turno permanece en la base como Cancelado. Por eso podemos explicar la diferencia entre cancelar una reserva y eliminar físicamente un registro.</a:t>
            </a:r>
          </a:p>
          <a:p xmlns:a="http://schemas.openxmlformats.org/drawingml/2006/main">
            <a:r>
              <a:t/>
            </a:r>
          </a:p>
          <a:p xmlns:a="http://schemas.openxmlformats.org/drawingml/2006/main">
            <a:r>
              <a:t>QUÉ HACER</a:t>
            </a:r>
          </a:p>
          <a:p xmlns:a="http://schemas.openxmlformats.org/drawingml/2006/main">
            <a:r>
              <a:t>Ejecutar 00 Demo/08 y 09. Mostrar CancelAsync y el cambio a EstadoTurno.Cancelado. El estado sale de la API, no de una decisión de la interfaz.</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https://github.com/PracticasProfesionalizantes-I-2026/Grupo-9-TurnosLavadero/blob/preparar-defensa-bruno/BusinessLogic/Services/TurnoService.cs</a:t>
            </a:r>
          </a:p>
          <a:p xmlns:a="http://schemas.openxmlformats.org/drawingml/2006/main">
            <a:r>
              <a:t>https://github.com/PracticasProfesionalizantes-I-2026/Grupo-9-TurnosLavadero/blob/preparar-defensa-bruno/DataAccess/Context/LavaderoDbContext.cs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0 min. Tomás: 1.5 min.</a:t>
            </a:r>
          </a:p>
          <a:p xmlns:a="http://schemas.openxmlformats.org/drawingml/2006/main">
            <a:r>
              <a:t/>
            </a:r>
          </a:p>
          <a:p xmlns:a="http://schemas.openxmlformats.org/drawingml/2006/main">
            <a:r>
              <a:t>QUÉ DECIR</a:t>
            </a:r>
          </a:p>
          <a:p xmlns:a="http://schemas.openxmlformats.org/drawingml/2006/main">
            <a:r>
              <a:t>El catálogo lo administra un usuario con rol Administrador. El nombre se recorta y se verifica que no esté repetido. El importe debe ser positivo. Un cliente puede consultar los servicios pero no crearlos. Si intentamos eliminar un servicio relacionado con turnos, el sistema rechaza la operación para conservar la integridad. Esta regla también alcanza a turnos cancelados, porque el historial sigue existiendo.</a:t>
            </a:r>
          </a:p>
          <a:p xmlns:a="http://schemas.openxmlformats.org/drawingml/2006/main">
            <a:r>
              <a:t/>
            </a:r>
          </a:p>
          <a:p xmlns:a="http://schemas.openxmlformats.org/drawingml/2006/main">
            <a:r>
              <a:t>QUÉ HACER</a:t>
            </a:r>
          </a:p>
          <a:p xmlns:a="http://schemas.openxmlformats.org/drawingml/2006/main">
            <a:r>
              <a:t>Volver a 00 Demo/02 y mostrar el 201 de alta. Ejecutar 07 Defensa/12 con clienteToken: 403. Abrir EnsureAdministrator, NormalizeName, ValidateImporte y HasRelatedTurnosAsync.</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https://github.com/PracticasProfesionalizantes-I-2026/Grupo-9-TurnosLavadero/blob/preparar-defensa-bruno/BusinessLogic/Services/ServicioService.cs</a:t>
            </a:r>
          </a:p>
          <a:p xmlns:a="http://schemas.openxmlformats.org/drawingml/2006/main">
            <a:r>
              <a:t>https://github.com/PracticasProfesionalizantes-I-2026/Grupo-9-TurnosLavadero/blob/preparar-defensa-bruno/API/Controllers/ServiciosController.cs</a:t>
            </a:r>
          </a:p>
          <a:p xmlns:a="http://schemas.openxmlformats.org/drawingml/2006/main">
            <a:r>
              <a:t>https://github.com/PracticasProfesionalizantes-I-2026/Grupo-9-TurnosLavadero/blob/preparar-defensa-bruno/DataAccess/Repositories/ServicioRepository.cs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2 min. Juan: 2 min. Tomás: 0 min.</a:t>
            </a:r>
          </a:p>
          <a:p xmlns:a="http://schemas.openxmlformats.org/drawingml/2006/main">
            <a:r>
              <a:t/>
            </a:r>
          </a:p>
          <a:p xmlns:a="http://schemas.openxmlformats.org/drawingml/2006/main">
            <a:r>
              <a:t>QUÉ DECIR</a:t>
            </a:r>
          </a:p>
          <a:p xmlns:a="http://schemas.openxmlformats.org/drawingml/2006/main">
            <a:r>
              <a:t>Ahora probamos caminos incorrectos. Mandamos null y espacios en un campo obligatorio y el servidor responde 400. Un JSON roto tampoco debe llegar a guardar datos. Estas comprobaciones se aplican aunque el cliente no tenga validaciones visuales. Para comprobar que la base quedó limpia no nos conformamos con mirar el código HTTP: las pruebas comparan la cantidad de filas antes y después. En modificaciones también verifican que los valores originales sigan iguales. Los espacios alrededor de un nombre válido se recortan, y un teléfono opcional compuesto solo de espacios se transforma en null.</a:t>
            </a:r>
          </a:p>
          <a:p xmlns:a="http://schemas.openxmlformats.org/drawingml/2006/main">
            <a:r>
              <a:t/>
            </a:r>
          </a:p>
          <a:p xmlns:a="http://schemas.openxmlformats.org/drawingml/2006/main">
            <a:r>
              <a:t>QUÉ HACER</a:t>
            </a:r>
          </a:p>
          <a:p xmlns:a="http://schemas.openxmlformats.org/drawingml/2006/main">
            <a:r>
              <a:t>Ejecutar 07 Defensa/01, 02, 03 y 07. Abrir Register_NullEmptyOrWhitespace_Returns400WithoutDirtyRows y Cliente_InvalidFields_Return400AndPreserveData. Mostrar Counts y Assert.Equal(before, await Counts()). No ejecutar consultas de escritura manuales en una base real.</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https://github.com/PracticasProfesionalizantes-I-2026/Grupo-9-TurnosLavadero/blob/preparar-defensa-bruno/Tests/IntegrationTests/DefensaValidationAndJwtTests.cs</a:t>
            </a:r>
          </a:p>
          <a:p xmlns:a="http://schemas.openxmlformats.org/drawingml/2006/main">
            <a:r>
              <a:t>https://github.com/PracticasProfesionalizantes-I-2026/Grupo-9-TurnosLavadero/blob/preparar-defensa-bruno/Shared/DTOs/Auth/RegisterClienteDTO.cs</a:t>
            </a:r>
          </a:p>
          <a:p xmlns:a="http://schemas.openxmlformats.org/drawingml/2006/main">
            <a:r>
              <a:t>https://github.com/PracticasProfesionalizantes-I-2026/Grupo-9-TurnosLavadero/blob/preparar-defensa-bruno/BusinessLogic/Services/ClienteService.cs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1.5 min. Juan: 0 min. Tomás: 1.5 min.</a:t>
            </a:r>
          </a:p>
          <a:p xmlns:a="http://schemas.openxmlformats.org/drawingml/2006/main">
            <a:r>
              <a:t/>
            </a:r>
          </a:p>
          <a:p xmlns:a="http://schemas.openxmlformats.org/drawingml/2006/main">
            <a:r>
              <a:t>QUÉ DECIR</a:t>
            </a:r>
          </a:p>
          <a:p xmlns:a="http://schemas.openxmlformats.org/drawingml/2006/main">
            <a:r>
              <a:t>Un duplicado es una entidad que viola la unicidad definida por el negocio. Probamos el mismo correo y un servicio con espacios alrededor del nombre. La API normaliza y responde 409, y las pruebas confirman que no aumentaron las filas. Los índices únicos también protegen solicitudes simultáneas. Corregimos el registro para traducir una colisión al guardar a 409 y verificamos que se cree una sola cuenta. Que un JWT contenga email o cliente_id no significa que la base guarde otro usuario: son claims de identidad incluidos en un token firmado.</a:t>
            </a:r>
          </a:p>
          <a:p xmlns:a="http://schemas.openxmlformats.org/drawingml/2006/main">
            <a:r>
              <a:t/>
            </a:r>
          </a:p>
          <a:p xmlns:a="http://schemas.openxmlformats.org/drawingml/2006/main">
            <a:r>
              <a:t>QUÉ HACER</a:t>
            </a:r>
          </a:p>
          <a:p xmlns:a="http://schemas.openxmlformats.org/drawingml/2006/main">
            <a:r>
              <a:t>Ejecutar 07 Defensa/04 y 08. Mostrar DuplicateEmailAndService_Return409WithoutExtraRows y los índices en LavaderoDbContext. Aclarar que SQLite NOCASE no equivale a una normalización Unicode completa.</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https://github.com/PracticasProfesionalizantes-I-2026/Grupo-9-TurnosLavadero/blob/preparar-defensa-bruno/Tests/IntegrationTests/DefensaValidationAndJwtTests.cs</a:t>
            </a:r>
          </a:p>
          <a:p xmlns:a="http://schemas.openxmlformats.org/drawingml/2006/main">
            <a:r>
              <a:t>https://github.com/PracticasProfesionalizantes-I-2026/Grupo-9-TurnosLavadero/blob/preparar-defensa-bruno/DataAccess/Context/LavaderoDbContext.cs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 min. Juan: 1 min. Tomás: 0 min.</a:t>
            </a:r>
          </a:p>
          <a:p xmlns:a="http://schemas.openxmlformats.org/drawingml/2006/main">
            <a:r>
              <a:t/>
            </a:r>
          </a:p>
          <a:p xmlns:a="http://schemas.openxmlformats.org/drawingml/2006/main">
            <a:r>
              <a:t>QUÉ DECIR</a:t>
            </a:r>
          </a:p>
          <a:p xmlns:a="http://schemas.openxmlformats.org/drawingml/2006/main">
            <a:r>
              <a:t>La interfaz o Bruno envía una fecha propuesta. La API decide si es futura, si está disponible y si el turno se puede modificar o cancelar. También asigna el estado y genera los mensajes de negocio. Guardamos el instante en UTC, y la agenda interpreta el día en la zona del lavadero. En Bruno generamos fechas de ejemplo para repetir la demo: eso solo prepara datos de entrada, no reemplaza ninguna regla del servidor. Esta versión no incluye un frontend implementado.</a:t>
            </a:r>
          </a:p>
          <a:p xmlns:a="http://schemas.openxmlformats.org/drawingml/2006/main">
            <a:r>
              <a:t/>
            </a:r>
          </a:p>
          <a:p xmlns:a="http://schemas.openxmlformats.org/drawingml/2006/main">
            <a:r>
              <a:t>QUÉ HACER</a:t>
            </a:r>
          </a:p>
          <a:p xmlns:a="http://schemas.openxmlformats.org/drawingml/2006/main">
            <a:r>
              <a:t>Abrir ValidateFuture y EnsureModifiable de TurnoService, después GetByDateAsync del repositorio. Mostrar la prueba de los límites del día argentino si preguntan por UTC.</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https://github.com/PracticasProfesionalizantes-I-2026/Grupo-9-TurnosLavadero/blob/preparar-defensa-bruno/BusinessLogic/Services/TurnoService.cs</a:t>
            </a:r>
          </a:p>
          <a:p xmlns:a="http://schemas.openxmlformats.org/drawingml/2006/main">
            <a:r>
              <a:t>https://github.com/PracticasProfesionalizantes-I-2026/Grupo-9-TurnosLavadero/blob/preparar-defensa-bruno/DataAccess/Repositories/TurnoRepository.cs</a:t>
            </a:r>
          </a:p>
          <a:p xmlns:a="http://schemas.openxmlformats.org/drawingml/2006/main">
            <a:r>
              <a:t>https://github.com/PracticasProfesionalizantes-I-2026/Grupo-9-TurnosLavadero/blob/preparar-defensa-bruno/Tests/IntegrationTests/AgendaAndConcurrencyTests.cs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 min. Juan: 0.5 min. Tomás: 0.5 min.</a:t>
            </a:r>
          </a:p>
          <a:p xmlns:a="http://schemas.openxmlformats.org/drawingml/2006/main">
            <a:r>
              <a:t/>
            </a:r>
          </a:p>
          <a:p xmlns:a="http://schemas.openxmlformats.org/drawingml/2006/main">
            <a:r>
              <a:t>QUÉ DECIR</a:t>
            </a:r>
          </a:p>
          <a:p xmlns:a="http://schemas.openxmlformats.org/drawingml/2006/main">
            <a:r>
              <a:t>Juan: La suite tiene 127 pruebas aprobadas, incluidas pruebas nuevas que usan JwtBearer real. Las anteriores pruebas de permisos utilizaban un autenticador de prueba, por eso agregamos esta comprobación específica. Tomás: También ejecutamos las carpetas de Bruno y sus 25 peticiones pasaron. Esta evidencia nos permite ubicar qué regla estamos demostrando y qué prueba comprueba el resultado, sin afirmar que cubrimos cualquier situación imaginable.</a:t>
            </a:r>
          </a:p>
          <a:p xmlns:a="http://schemas.openxmlformats.org/drawingml/2006/main">
            <a:r>
              <a:t/>
            </a:r>
          </a:p>
          <a:p xmlns:a="http://schemas.openxmlformats.org/drawingml/2006/main">
            <a:r>
              <a:t>QUÉ HACER</a:t>
            </a:r>
          </a:p>
          <a:p xmlns:a="http://schemas.openxmlformats.org/drawingml/2006/main">
            <a:r>
              <a:t>Mostrar el resultado de dotnet test y Evidencia/DEFENSA-28-10.md. El reporte de Bruno omite cuerpos y cabeceras para no conservar credenciales. Para la presentación usar Bruno de escritorio en vivo.</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https://github.com/PracticasProfesionalizantes-I-2026/Grupo-9-TurnosLavadero/blob/preparar-defensa-bruno/Tests/IntegrationTests/Infrastructure/RealJwtApiFactory.cs</a:t>
            </a:r>
          </a:p>
          <a:p xmlns:a="http://schemas.openxmlformats.org/drawingml/2006/main">
            <a:r>
              <a:t>https://github.com/PracticasProfesionalizantes-I-2026/Grupo-9-TurnosLavadero/blob/preparar-defensa-bruno/Tests/IntegrationTests/DefensaValidationAndJwtTests.cs</a:t>
            </a:r>
          </a:p>
          <a:p xmlns:a="http://schemas.openxmlformats.org/drawingml/2006/main">
            <a:r>
              <a:t>https://github.com/PracticasProfesionalizantes-I-2026/Grupo-9-TurnosLavadero/blob/preparar-defensa-bruno/Documentos/Presentacion/Evidencia/DEFENSA-28-10.md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 min. Juan: 0.5 min. Tomás: 0.5 min.</a:t>
            </a:r>
          </a:p>
          <a:p xmlns:a="http://schemas.openxmlformats.org/drawingml/2006/main">
            <a:r>
              <a:t/>
            </a:r>
          </a:p>
          <a:p xmlns:a="http://schemas.openxmlformats.org/drawingml/2006/main">
            <a:r>
              <a:t>QUÉ DECIR</a:t>
            </a:r>
          </a:p>
          <a:p xmlns:a="http://schemas.openxmlformats.org/drawingml/2006/main">
            <a:r>
              <a:t>Juan: Mostramos el recorrido desde los requerimientos hasta el código y las respuestas de Bruno. El sistema aplica las reglas en la API y protege los datos al guardar. Tomás: También probamos rechazos concretos, no solamente operaciones correctas. Podemos localizar cada respuesta y su prueba. Con esto cerramos la exposición y quedamos disponibles para preguntas.</a:t>
            </a:r>
          </a:p>
          <a:p xmlns:a="http://schemas.openxmlformats.org/drawingml/2006/main">
            <a:r>
              <a:t/>
            </a:r>
          </a:p>
          <a:p xmlns:a="http://schemas.openxmlformats.org/drawingml/2006/main">
            <a:r>
              <a:t>QUÉ HACER</a:t>
            </a:r>
          </a:p>
          <a:p xmlns:a="http://schemas.openxmlformats.org/drawingml/2006/main">
            <a:r>
              <a:t>Dejar abiertos el mapa y la carpeta 07 Defensa. Reservar cinco minutos adicionales para preguntas. Recordatorios, SMTP y migraciones quedan como respaldo si los docentes preguntan. No presentar pendientes técnicos como mensajes de una interfaz inexistente.</a:t>
            </a:r>
          </a:p>
          <a:p xmlns:a="http://schemas.openxmlformats.org/drawingml/2006/main">
            <a:r>
              <a:t/>
            </a:r>
          </a:p>
          <a:p xmlns:a="http://schemas.openxmlformats.org/drawingml/2006/main">
            <a:r>
              <a:t>FUENTES</a:t>
            </a:r>
          </a:p>
          <a:p xmlns:a="http://schemas.openxmlformats.org/drawingml/2006/main">
            <a:r>
              <a:t>https://github.com/PracticasProfesionalizantes-I-2026/Grupo-9-TurnosLavadero/blob/preparar-defensa-bruno/Documentos/Entregas%20TP/MAPA-DEFENSA.md</a:t>
            </a:r>
          </a:p>
          <a:p xmlns:a="http://schemas.openxmlformats.org/drawingml/2006/main">
            <a:r>
              <a:t>https://github.com/PracticasProfesionalizantes-I-2026/Grupo-9-TurnosLavadero/blob/preparar-defensa-bruno/Documentos/Presentacion/PREGUNTAS-DEFENSA.md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ed54dcf7f2494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c5b5ab9bb24e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5b0c558d30b47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3e8b9a5a7941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dd069c45ce4b1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49cbf6b60c04e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1D371CF-0176-42EE-89D9-BBDB1F12033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835E424-FB9F-4DA6-98B6-C19AF89721D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471D96-C737-4C4B-AA4F-F1EA9FD1BF4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A18F2B-4062-4365-95BA-2BFFF3FEDE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0742A6F-1C9E-40CB-9C2B-69DA08A814A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7705FB0-0CC8-413A-A88F-EE9AAC34C8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32CEB03-005C-4761-910E-4FB468117D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816E65D-985B-411D-A291-05133454E89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32F698-0687-4114-BF88-B05DEA0780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B3C44C-457B-41AA-8814-DCEEB600AF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c2740978654ada" /><Relationship Type="http://schemas.openxmlformats.org/officeDocument/2006/relationships/slideLayout" Target="/ppt/slideLayouts/slideLayout1.xml" Id="Re505d8dad02e454f" /><Relationship Type="http://schemas.openxmlformats.org/officeDocument/2006/relationships/slideLayout" Target="/ppt/slideLayouts/slideLayout2.xml" Id="Rff7da6f4ddb04c62" /><Relationship Type="http://schemas.openxmlformats.org/officeDocument/2006/relationships/slideLayout" Target="/ppt/slideLayouts/slideLayout3.xml" Id="R69678883ba464a12" /><Relationship Type="http://schemas.openxmlformats.org/officeDocument/2006/relationships/slideLayout" Target="/ppt/slideLayouts/slideLayout4.xml" Id="Ra51cbc5fe9dc4e74" /><Relationship Type="http://schemas.openxmlformats.org/officeDocument/2006/relationships/slideLayout" Target="/ppt/slideLayouts/slideLayout5.xml" Id="R8944218417584954" /><Relationship Type="http://schemas.openxmlformats.org/officeDocument/2006/relationships/slideLayout" Target="/ppt/slideLayouts/slideLayout6.xml" Id="Rd8edf1b59deb4f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05d8dad02e454f"/>
    <p:sldLayoutId xmlns:r="http://schemas.openxmlformats.org/officeDocument/2006/relationships" id="2147483650" r:id="Rff7da6f4ddb04c62"/>
    <p:sldLayoutId xmlns:r="http://schemas.openxmlformats.org/officeDocument/2006/relationships" id="2147483651" r:id="R69678883ba464a12"/>
    <p:sldLayoutId xmlns:r="http://schemas.openxmlformats.org/officeDocument/2006/relationships" id="2147483652" r:id="Ra51cbc5fe9dc4e74"/>
    <p:sldLayoutId xmlns:r="http://schemas.openxmlformats.org/officeDocument/2006/relationships" id="2147483653" r:id="R8944218417584954"/>
    <p:sldLayoutId xmlns:r="http://schemas.openxmlformats.org/officeDocument/2006/relationships" id="2147483654" r:id="Rd8edf1b59deb4f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4be6bafba084da0" /><Relationship Type="http://schemas.openxmlformats.org/officeDocument/2006/relationships/notesSlide" Target="/ppt/notesSlides/notesSlide1.xml" Id="R4872581ec26e4c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93513c4ae147ab" /><Relationship Type="http://schemas.openxmlformats.org/officeDocument/2006/relationships/notesSlide" Target="/ppt/notesSlides/notesSlide2.xml" Id="R2776d042819342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6d882774d364e42" /><Relationship Type="http://schemas.openxmlformats.org/officeDocument/2006/relationships/notesSlide" Target="/ppt/notesSlides/notesSlide3.xml" Id="Rdcc549c015374c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60a89ec3d654445" /><Relationship Type="http://schemas.openxmlformats.org/officeDocument/2006/relationships/notesSlide" Target="/ppt/notesSlides/notesSlide4.xml" Id="R3714af0a1a1f41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5c920456844a27" /><Relationship Type="http://schemas.openxmlformats.org/officeDocument/2006/relationships/notesSlide" Target="/ppt/notesSlides/notesSlide5.xml" Id="R266fb42527a24e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deb40dbae9b42f1" /><Relationship Type="http://schemas.openxmlformats.org/officeDocument/2006/relationships/notesSlide" Target="/ppt/notesSlides/notesSlide6.xml" Id="R18dddcd6409b450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ba7bd2cdb984e68" /><Relationship Type="http://schemas.openxmlformats.org/officeDocument/2006/relationships/notesSlide" Target="/ppt/notesSlides/notesSlide7.xml" Id="R92b0c86652ba436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82568e4b8de487d" /><Relationship Type="http://schemas.openxmlformats.org/officeDocument/2006/relationships/notesSlide" Target="/ppt/notesSlides/notesSlide8.xml" Id="Rcb5847f0a1ef4e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b5ec44f71504804" /><Relationship Type="http://schemas.openxmlformats.org/officeDocument/2006/relationships/notesSlide" Target="/ppt/notesSlides/notesSlide9.xml" Id="Red598887b82747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c5cd09b8efe4ecd" /><Relationship Type="http://schemas.openxmlformats.org/officeDocument/2006/relationships/notesSlide" Target="/ppt/notesSlides/notesSlide10.xml" Id="Re26e827119134e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9b1a60bd578458a" /><Relationship Type="http://schemas.openxmlformats.org/officeDocument/2006/relationships/notesSlide" Target="/ppt/notesSlides/notesSlide11.xml" Id="Rd4b11b8f3b8c44f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bb4c407c2cd4955" /><Relationship Type="http://schemas.openxmlformats.org/officeDocument/2006/relationships/notesSlide" Target="/ppt/notesSlides/notesSlide12.xml" Id="Rce0d11162086436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e1ad2f7bccf4c14" /><Relationship Type="http://schemas.openxmlformats.org/officeDocument/2006/relationships/notesSlide" Target="/ppt/notesSlides/notesSlide13.xml" Id="Rfb068b499ef2441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bba48eca0f241ef" /><Relationship Type="http://schemas.openxmlformats.org/officeDocument/2006/relationships/notesSlide" Target="/ppt/notesSlides/notesSlide14.xml" Id="R402c6bebb9a040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e56205e7c9740e2" /><Relationship Type="http://schemas.openxmlformats.org/officeDocument/2006/relationships/notesSlide" Target="/ppt/notesSlides/notesSlide15.xml" Id="R5c3509c5a9e943c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22470f49fe74a94" /><Relationship Type="http://schemas.openxmlformats.org/officeDocument/2006/relationships/notesSlide" Target="/ppt/notesSlides/notesSlide16.xml" Id="R4cbb28cbd2014c4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63b319f24ef47b0" /><Relationship Type="http://schemas.openxmlformats.org/officeDocument/2006/relationships/notesSlide" Target="/ppt/notesSlides/notesSlide17.xml" Id="R1f8491ed64ae45c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d0f33039b7b415d" /><Relationship Type="http://schemas.openxmlformats.org/officeDocument/2006/relationships/notesSlide" Target="/ppt/notesSlides/notesSlide18.xml" Id="R3b67360166974546" /></Relationships>
</file>

<file path=ppt/slides/slide1.xml><?xml version="1.0" encoding="utf-8"?>
<p:sld xmlns:p="http://schemas.openxmlformats.org/presentationml/2006/main">
  <p:cSld>
    <p:bg>
      <p:bgPr>
        <a:solidFill xmlns:a="http://schemas.openxmlformats.org/drawingml/2006/main">
          <a:srgbClr val="112B3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AD16031-7F00-4B1C-BFE0-EFB194C68ADF}"/>
              </a:ext>
            </a:extLst>
          </p:cNvPr>
          <p:cNvSpPr>
            <a:spLocks xmlns:a="http://schemas.openxmlformats.org/drawingml/2006/main" noGrp="1"/>
          </p:cNvSpPr>
          <p:nvPr/>
        </p:nvSpPr>
        <p:spPr>
          <a:xfrm xmlns:a="http://schemas.openxmlformats.org/drawingml/2006/main">
            <a:off x="609600" y="771525"/>
            <a:ext cx="952500" cy="7620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2ACEB91-2474-4D14-97DC-F0E36BFD1D7A}"/>
              </a:ext>
            </a:extLst>
          </p:cNvPr>
          <p:cNvSpPr>
            <a:spLocks xmlns:a="http://schemas.openxmlformats.org/drawingml/2006/main" noGrp="1"/>
          </p:cNvSpPr>
          <p:nvPr/>
        </p:nvSpPr>
        <p:spPr>
          <a:xfrm xmlns:a="http://schemas.openxmlformats.org/drawingml/2006/main">
            <a:off x="609600" y="1466850"/>
            <a:ext cx="10477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950" b="1">
                <a:solidFill>
                  <a:srgbClr val="FFFFFF"/>
                </a:solidFill>
                <a:latin typeface="DejaVu Sans"/>
                <a:ea typeface="DejaVu Sans"/>
                <a:cs typeface="DejaVu Sans"/>
              </a:defRPr>
            </a:defPPr>
            <a:lvl1pPr>
              <a:defRPr sz="4950" b="1">
                <a:solidFill>
                  <a:srgbClr val="FFFFFF"/>
                </a:solidFill>
                <a:latin typeface="DejaVu Sans"/>
                <a:ea typeface="DejaVu Sans"/>
                <a:cs typeface="DejaVu Sans"/>
              </a:defRPr>
            </a:lvl1pPr>
            <a:lvl2pPr>
              <a:defRPr sz="4950" b="1">
                <a:solidFill>
                  <a:srgbClr val="FFFFFF"/>
                </a:solidFill>
                <a:latin typeface="DejaVu Sans"/>
                <a:ea typeface="DejaVu Sans"/>
                <a:cs typeface="DejaVu Sans"/>
              </a:defRPr>
            </a:lvl2pPr>
            <a:lvl3pPr>
              <a:defRPr sz="4950" b="1">
                <a:solidFill>
                  <a:srgbClr val="FFFFFF"/>
                </a:solidFill>
                <a:latin typeface="DejaVu Sans"/>
                <a:ea typeface="DejaVu Sans"/>
                <a:cs typeface="DejaVu Sans"/>
              </a:defRPr>
            </a:lvl3pPr>
            <a:lvl4pPr>
              <a:defRPr sz="4950" b="1">
                <a:solidFill>
                  <a:srgbClr val="FFFFFF"/>
                </a:solidFill>
                <a:latin typeface="DejaVu Sans"/>
                <a:ea typeface="DejaVu Sans"/>
                <a:cs typeface="DejaVu Sans"/>
              </a:defRPr>
            </a:lvl4pPr>
            <a:lvl5pPr>
              <a:defRPr sz="4950" b="1">
                <a:solidFill>
                  <a:srgbClr val="FFFFFF"/>
                </a:solidFill>
                <a:latin typeface="DejaVu Sans"/>
                <a:ea typeface="DejaVu Sans"/>
                <a:cs typeface="DejaVu Sans"/>
              </a:defRPr>
            </a:lvl5pPr>
            <a:lvl6pPr>
              <a:defRPr sz="4950" b="1">
                <a:solidFill>
                  <a:srgbClr val="FFFFFF"/>
                </a:solidFill>
                <a:latin typeface="DejaVu Sans"/>
                <a:ea typeface="DejaVu Sans"/>
                <a:cs typeface="DejaVu Sans"/>
              </a:defRPr>
            </a:lvl6pPr>
            <a:lvl7pPr>
              <a:defRPr sz="4950" b="1">
                <a:solidFill>
                  <a:srgbClr val="FFFFFF"/>
                </a:solidFill>
                <a:latin typeface="DejaVu Sans"/>
                <a:ea typeface="DejaVu Sans"/>
                <a:cs typeface="DejaVu Sans"/>
              </a:defRPr>
            </a:lvl7pPr>
            <a:lvl8pPr>
              <a:defRPr sz="4950" b="1">
                <a:solidFill>
                  <a:srgbClr val="FFFFFF"/>
                </a:solidFill>
                <a:latin typeface="DejaVu Sans"/>
                <a:ea typeface="DejaVu Sans"/>
                <a:cs typeface="DejaVu Sans"/>
              </a:defRPr>
            </a:lvl8pPr>
            <a:lvl9pPr>
              <a:defRPr sz="4950" b="1">
                <a:solidFill>
                  <a:srgbClr val="FFFFFF"/>
                </a:solidFill>
                <a:latin typeface="DejaVu Sans"/>
                <a:ea typeface="DejaVu Sans"/>
                <a:cs typeface="DejaVu Sans"/>
              </a:defRPr>
            </a:lvl9pPr>
          </a:lstStyle>
          <a:p xmlns:a="http://schemas.openxmlformats.org/drawingml/2006/main">
            <a:pPr>
              <a:buNone/>
              <a:defRPr sz="4950" b="1">
                <a:solidFill>
                  <a:srgbClr val="FFFFFF"/>
                </a:solidFill>
                <a:latin typeface="DejaVu Sans"/>
                <a:ea typeface="DejaVu Sans"/>
                <a:cs typeface="DejaVu Sans"/>
              </a:defRPr>
            </a:pPr>
            <a:r>
              <a:rPr sz="4950" b="1">
                <a:solidFill>
                  <a:srgbClr val="FFFFFF"/>
                </a:solidFill>
                <a:latin typeface="DejaVu Sans"/>
                <a:ea typeface="DejaVu Sans"/>
                <a:cs typeface="DejaVu Sans"/>
              </a:rPr>
              <a:t>Sistema de turnos</a:t>
            </a:r>
          </a:p>
          <a:p xmlns:a="http://schemas.openxmlformats.org/drawingml/2006/main">
            <a:pPr>
              <a:buNone/>
              <a:defRPr sz="4950" b="1">
                <a:solidFill>
                  <a:srgbClr val="FFFFFF"/>
                </a:solidFill>
                <a:latin typeface="DejaVu Sans"/>
                <a:ea typeface="DejaVu Sans"/>
                <a:cs typeface="DejaVu Sans"/>
              </a:defRPr>
            </a:pPr>
            <a:r>
              <a:rPr sz="4950" b="1">
                <a:solidFill>
                  <a:srgbClr val="FFFFFF"/>
                </a:solidFill>
                <a:latin typeface="DejaVu Sans"/>
                <a:ea typeface="DejaVu Sans"/>
                <a:cs typeface="DejaVu Sans"/>
              </a:rPr>
              <a:t>para lavadero</a:t>
            </a:r>
          </a:p>
        </p:txBody>
      </p:sp>
      <p:sp>
        <p:nvSpPr>
          <p:cNvPr id="3" name="">
            <a:extLst xmlns:a="http://schemas.openxmlformats.org/drawingml/2006/main">
              <a:ext uri="{FF2B5EF4-FFF2-40B4-BE49-F238E27FC236}">
                <a16:creationId xmlns:a16="http://schemas.microsoft.com/office/drawing/2014/main" id="{6905A8C1-6F3C-415D-AAF5-EFA2C20D0F57}"/>
              </a:ext>
            </a:extLst>
          </p:cNvPr>
          <p:cNvSpPr>
            <a:spLocks xmlns:a="http://schemas.openxmlformats.org/drawingml/2006/main" noGrp="1"/>
          </p:cNvSpPr>
          <p:nvPr/>
        </p:nvSpPr>
        <p:spPr>
          <a:xfrm xmlns:a="http://schemas.openxmlformats.org/drawingml/2006/main">
            <a:off x="647700" y="4114800"/>
            <a:ext cx="9906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FFFFFF"/>
                </a:solidFill>
                <a:latin typeface="DejaVu Sans"/>
                <a:ea typeface="DejaVu Sans"/>
                <a:cs typeface="DejaVu Sans"/>
              </a:defRPr>
            </a:defPPr>
            <a:lvl1pPr>
              <a:defRPr sz="2175" b="0">
                <a:solidFill>
                  <a:srgbClr val="FFFFFF"/>
                </a:solidFill>
                <a:latin typeface="DejaVu Sans"/>
                <a:ea typeface="DejaVu Sans"/>
                <a:cs typeface="DejaVu Sans"/>
              </a:defRPr>
            </a:lvl1pPr>
            <a:lvl2pPr>
              <a:defRPr sz="2175" b="0">
                <a:solidFill>
                  <a:srgbClr val="FFFFFF"/>
                </a:solidFill>
                <a:latin typeface="DejaVu Sans"/>
                <a:ea typeface="DejaVu Sans"/>
                <a:cs typeface="DejaVu Sans"/>
              </a:defRPr>
            </a:lvl2pPr>
            <a:lvl3pPr>
              <a:defRPr sz="2175" b="0">
                <a:solidFill>
                  <a:srgbClr val="FFFFFF"/>
                </a:solidFill>
                <a:latin typeface="DejaVu Sans"/>
                <a:ea typeface="DejaVu Sans"/>
                <a:cs typeface="DejaVu Sans"/>
              </a:defRPr>
            </a:lvl3pPr>
            <a:lvl4pPr>
              <a:defRPr sz="2175" b="0">
                <a:solidFill>
                  <a:srgbClr val="FFFFFF"/>
                </a:solidFill>
                <a:latin typeface="DejaVu Sans"/>
                <a:ea typeface="DejaVu Sans"/>
                <a:cs typeface="DejaVu Sans"/>
              </a:defRPr>
            </a:lvl4pPr>
            <a:lvl5pPr>
              <a:defRPr sz="2175" b="0">
                <a:solidFill>
                  <a:srgbClr val="FFFFFF"/>
                </a:solidFill>
                <a:latin typeface="DejaVu Sans"/>
                <a:ea typeface="DejaVu Sans"/>
                <a:cs typeface="DejaVu Sans"/>
              </a:defRPr>
            </a:lvl5pPr>
            <a:lvl6pPr>
              <a:defRPr sz="2175" b="0">
                <a:solidFill>
                  <a:srgbClr val="FFFFFF"/>
                </a:solidFill>
                <a:latin typeface="DejaVu Sans"/>
                <a:ea typeface="DejaVu Sans"/>
                <a:cs typeface="DejaVu Sans"/>
              </a:defRPr>
            </a:lvl6pPr>
            <a:lvl7pPr>
              <a:defRPr sz="2175" b="0">
                <a:solidFill>
                  <a:srgbClr val="FFFFFF"/>
                </a:solidFill>
                <a:latin typeface="DejaVu Sans"/>
                <a:ea typeface="DejaVu Sans"/>
                <a:cs typeface="DejaVu Sans"/>
              </a:defRPr>
            </a:lvl7pPr>
            <a:lvl8pPr>
              <a:defRPr sz="2175" b="0">
                <a:solidFill>
                  <a:srgbClr val="FFFFFF"/>
                </a:solidFill>
                <a:latin typeface="DejaVu Sans"/>
                <a:ea typeface="DejaVu Sans"/>
                <a:cs typeface="DejaVu Sans"/>
              </a:defRPr>
            </a:lvl8pPr>
            <a:lvl9pPr>
              <a:defRPr sz="2175" b="0">
                <a:solidFill>
                  <a:srgbClr val="FFFFFF"/>
                </a:solidFill>
                <a:latin typeface="DejaVu Sans"/>
                <a:ea typeface="DejaVu Sans"/>
                <a:cs typeface="DejaVu Sans"/>
              </a:defRPr>
            </a:lvl9pPr>
          </a:lstStyle>
          <a:p xmlns:a="http://schemas.openxmlformats.org/drawingml/2006/main">
            <a:pPr>
              <a:buNone/>
              <a:defRPr sz="2175" b="0">
                <a:solidFill>
                  <a:srgbClr val="FFFFFF"/>
                </a:solidFill>
                <a:latin typeface="DejaVu Sans"/>
                <a:ea typeface="DejaVu Sans"/>
                <a:cs typeface="DejaVu Sans"/>
              </a:defRPr>
            </a:pPr>
            <a:r>
              <a:rPr sz="2175" b="0">
                <a:solidFill>
                  <a:srgbClr val="FFFFFF"/>
                </a:solidFill>
                <a:latin typeface="DejaVu Sans"/>
                <a:ea typeface="DejaVu Sans"/>
                <a:cs typeface="DejaVu Sans"/>
              </a:rPr>
              <a:t>Juan Jesús Baigorria</a:t>
            </a:r>
          </a:p>
          <a:p xmlns:a="http://schemas.openxmlformats.org/drawingml/2006/main">
            <a:pPr>
              <a:buNone/>
              <a:defRPr sz="2175" b="0">
                <a:solidFill>
                  <a:srgbClr val="FFFFFF"/>
                </a:solidFill>
                <a:latin typeface="DejaVu Sans"/>
                <a:ea typeface="DejaVu Sans"/>
                <a:cs typeface="DejaVu Sans"/>
              </a:defRPr>
            </a:pPr>
            <a:r>
              <a:rPr sz="2175" b="0">
                <a:solidFill>
                  <a:srgbClr val="FFFFFF"/>
                </a:solidFill>
                <a:latin typeface="DejaVu Sans"/>
                <a:ea typeface="DejaVu Sans"/>
                <a:cs typeface="DejaVu Sans"/>
              </a:rPr>
              <a:t>Tomás Martín Ponce</a:t>
            </a:r>
          </a:p>
        </p:txBody>
      </p:sp>
      <p:sp>
        <p:nvSpPr>
          <p:cNvPr id="4" name="">
            <a:extLst xmlns:a="http://schemas.openxmlformats.org/drawingml/2006/main">
              <a:ext uri="{FF2B5EF4-FFF2-40B4-BE49-F238E27FC236}">
                <a16:creationId xmlns:a16="http://schemas.microsoft.com/office/drawing/2014/main" id="{336EC8A2-A5F8-41E5-9B6A-D31C5A789136}"/>
              </a:ext>
            </a:extLst>
          </p:cNvPr>
          <p:cNvSpPr>
            <a:spLocks xmlns:a="http://schemas.openxmlformats.org/drawingml/2006/main" noGrp="1"/>
          </p:cNvSpPr>
          <p:nvPr/>
        </p:nvSpPr>
        <p:spPr>
          <a:xfrm xmlns:a="http://schemas.openxmlformats.org/drawingml/2006/main">
            <a:off x="647700" y="5953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A8CCC9"/>
                </a:solidFill>
                <a:latin typeface="DejaVu Sans"/>
                <a:ea typeface="DejaVu Sans"/>
                <a:cs typeface="DejaVu Sans"/>
              </a:defRPr>
            </a:defPPr>
            <a:lvl1pPr>
              <a:defRPr sz="1650" b="0">
                <a:solidFill>
                  <a:srgbClr val="A8CCC9"/>
                </a:solidFill>
                <a:latin typeface="DejaVu Sans"/>
                <a:ea typeface="DejaVu Sans"/>
                <a:cs typeface="DejaVu Sans"/>
              </a:defRPr>
            </a:lvl1pPr>
            <a:lvl2pPr>
              <a:defRPr sz="1650" b="0">
                <a:solidFill>
                  <a:srgbClr val="A8CCC9"/>
                </a:solidFill>
                <a:latin typeface="DejaVu Sans"/>
                <a:ea typeface="DejaVu Sans"/>
                <a:cs typeface="DejaVu Sans"/>
              </a:defRPr>
            </a:lvl2pPr>
            <a:lvl3pPr>
              <a:defRPr sz="1650" b="0">
                <a:solidFill>
                  <a:srgbClr val="A8CCC9"/>
                </a:solidFill>
                <a:latin typeface="DejaVu Sans"/>
                <a:ea typeface="DejaVu Sans"/>
                <a:cs typeface="DejaVu Sans"/>
              </a:defRPr>
            </a:lvl3pPr>
            <a:lvl4pPr>
              <a:defRPr sz="1650" b="0">
                <a:solidFill>
                  <a:srgbClr val="A8CCC9"/>
                </a:solidFill>
                <a:latin typeface="DejaVu Sans"/>
                <a:ea typeface="DejaVu Sans"/>
                <a:cs typeface="DejaVu Sans"/>
              </a:defRPr>
            </a:lvl4pPr>
            <a:lvl5pPr>
              <a:defRPr sz="1650" b="0">
                <a:solidFill>
                  <a:srgbClr val="A8CCC9"/>
                </a:solidFill>
                <a:latin typeface="DejaVu Sans"/>
                <a:ea typeface="DejaVu Sans"/>
                <a:cs typeface="DejaVu Sans"/>
              </a:defRPr>
            </a:lvl5pPr>
            <a:lvl6pPr>
              <a:defRPr sz="1650" b="0">
                <a:solidFill>
                  <a:srgbClr val="A8CCC9"/>
                </a:solidFill>
                <a:latin typeface="DejaVu Sans"/>
                <a:ea typeface="DejaVu Sans"/>
                <a:cs typeface="DejaVu Sans"/>
              </a:defRPr>
            </a:lvl6pPr>
            <a:lvl7pPr>
              <a:defRPr sz="1650" b="0">
                <a:solidFill>
                  <a:srgbClr val="A8CCC9"/>
                </a:solidFill>
                <a:latin typeface="DejaVu Sans"/>
                <a:ea typeface="DejaVu Sans"/>
                <a:cs typeface="DejaVu Sans"/>
              </a:defRPr>
            </a:lvl7pPr>
            <a:lvl8pPr>
              <a:defRPr sz="1650" b="0">
                <a:solidFill>
                  <a:srgbClr val="A8CCC9"/>
                </a:solidFill>
                <a:latin typeface="DejaVu Sans"/>
                <a:ea typeface="DejaVu Sans"/>
                <a:cs typeface="DejaVu Sans"/>
              </a:defRPr>
            </a:lvl8pPr>
            <a:lvl9pPr>
              <a:defRPr sz="1650" b="0">
                <a:solidFill>
                  <a:srgbClr val="A8CCC9"/>
                </a:solidFill>
                <a:latin typeface="DejaVu Sans"/>
                <a:ea typeface="DejaVu Sans"/>
                <a:cs typeface="DejaVu Sans"/>
              </a:defRPr>
            </a:lvl9pPr>
          </a:lstStyle>
          <a:p xmlns:a="http://schemas.openxmlformats.org/drawingml/2006/main">
            <a:pPr>
              <a:buNone/>
              <a:defRPr sz="1650" b="0">
                <a:solidFill>
                  <a:srgbClr val="A8CCC9"/>
                </a:solidFill>
                <a:latin typeface="DejaVu Sans"/>
                <a:ea typeface="DejaVu Sans"/>
                <a:cs typeface="DejaVu Sans"/>
              </a:defRPr>
            </a:pPr>
            <a:r>
              <a:rPr sz="1650" b="0">
                <a:solidFill>
                  <a:srgbClr val="A8CCC9"/>
                </a:solidFill>
                <a:latin typeface="DejaVu Sans"/>
                <a:ea typeface="DejaVu Sans"/>
                <a:cs typeface="DejaVu Sans"/>
              </a:rPr>
              <a:t>Grupo 9 · ICES Superior · 2026</a:t>
            </a:r>
          </a:p>
        </p:txBody>
      </p:sp>
    </p:spTree>
    <p:extLst>
      <p:ext uri="{BB962C8B-B14F-4D97-AF65-F5344CB8AC3E}">
        <p14:creationId xmlns:p14="http://schemas.microsoft.com/office/powerpoint/2010/main" val="13997731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BD26C7A-9236-4597-A124-537B5C5B8A17}"/>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AC8FC38-538E-4D77-8B2F-1E1CA5C9F3C4}"/>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Problema y alcance</a:t>
            </a:r>
          </a:p>
        </p:txBody>
      </p:sp>
      <p:sp>
        <p:nvSpPr>
          <p:cNvPr id="3" name="">
            <a:extLst xmlns:a="http://schemas.openxmlformats.org/drawingml/2006/main">
              <a:ext uri="{FF2B5EF4-FFF2-40B4-BE49-F238E27FC236}">
                <a16:creationId xmlns:a16="http://schemas.microsoft.com/office/drawing/2014/main" id="{6049D3BC-242D-44C3-A1F4-1149CBF6AC7D}"/>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A430D7-5B19-430A-AAAD-C29489CB6DE6}"/>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88956C24-DF1F-49E4-9218-E2787F3484DF}"/>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02</a:t>
            </a:r>
          </a:p>
        </p:txBody>
      </p:sp>
      <p:sp>
        <p:nvSpPr>
          <p:cNvPr id="6" name="">
            <a:extLst xmlns:a="http://schemas.openxmlformats.org/drawingml/2006/main">
              <a:ext uri="{FF2B5EF4-FFF2-40B4-BE49-F238E27FC236}">
                <a16:creationId xmlns:a16="http://schemas.microsoft.com/office/drawing/2014/main" id="{8178BEF2-B88A-41F8-817D-2EA4F7F63D13}"/>
              </a:ext>
            </a:extLst>
          </p:cNvPr>
          <p:cNvSpPr>
            <a:spLocks xmlns:a="http://schemas.openxmlformats.org/drawingml/2006/main" noGrp="1"/>
          </p:cNvSpPr>
          <p:nvPr/>
        </p:nvSpPr>
        <p:spPr>
          <a:xfrm xmlns:a="http://schemas.openxmlformats.org/drawingml/2006/main">
            <a:off x="609600" y="16573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Necesidad</a:t>
            </a:r>
          </a:p>
        </p:txBody>
      </p:sp>
      <p:sp>
        <p:nvSpPr>
          <p:cNvPr id="7" name="">
            <a:extLst xmlns:a="http://schemas.openxmlformats.org/drawingml/2006/main">
              <a:ext uri="{FF2B5EF4-FFF2-40B4-BE49-F238E27FC236}">
                <a16:creationId xmlns:a16="http://schemas.microsoft.com/office/drawing/2014/main" id="{1A126B28-4236-4E81-848D-189265C572B9}"/>
              </a:ext>
            </a:extLst>
          </p:cNvPr>
          <p:cNvSpPr>
            <a:spLocks xmlns:a="http://schemas.openxmlformats.org/drawingml/2006/main" noGrp="1"/>
          </p:cNvSpPr>
          <p:nvPr/>
        </p:nvSpPr>
        <p:spPr>
          <a:xfrm xmlns:a="http://schemas.openxmlformats.org/drawingml/2006/main">
            <a:off x="3533775" y="16573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Organizar reservas y evitar dos turnos en el mismo instante.</a:t>
            </a:r>
          </a:p>
        </p:txBody>
      </p:sp>
      <p:sp>
        <p:nvSpPr>
          <p:cNvPr id="8" name="">
            <a:extLst xmlns:a="http://schemas.openxmlformats.org/drawingml/2006/main">
              <a:ext uri="{FF2B5EF4-FFF2-40B4-BE49-F238E27FC236}">
                <a16:creationId xmlns:a16="http://schemas.microsoft.com/office/drawing/2014/main" id="{0C6DA0EC-D2A7-44A2-AFF6-6DA6804EBFE7}"/>
              </a:ext>
            </a:extLst>
          </p:cNvPr>
          <p:cNvSpPr>
            <a:spLocks xmlns:a="http://schemas.openxmlformats.org/drawingml/2006/main" noGrp="1"/>
          </p:cNvSpPr>
          <p:nvPr/>
        </p:nvSpPr>
        <p:spPr>
          <a:xfrm xmlns:a="http://schemas.openxmlformats.org/drawingml/2006/main">
            <a:off x="609600" y="2476500"/>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3D48545-69B8-48D8-B6D1-A097F7745AF6}"/>
              </a:ext>
            </a:extLst>
          </p:cNvPr>
          <p:cNvSpPr>
            <a:spLocks xmlns:a="http://schemas.openxmlformats.org/drawingml/2006/main" noGrp="1"/>
          </p:cNvSpPr>
          <p:nvPr/>
        </p:nvSpPr>
        <p:spPr>
          <a:xfrm xmlns:a="http://schemas.openxmlformats.org/drawingml/2006/main">
            <a:off x="609600" y="26479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Cliente</a:t>
            </a:r>
          </a:p>
        </p:txBody>
      </p:sp>
      <p:sp>
        <p:nvSpPr>
          <p:cNvPr id="10" name="">
            <a:extLst xmlns:a="http://schemas.openxmlformats.org/drawingml/2006/main">
              <a:ext uri="{FF2B5EF4-FFF2-40B4-BE49-F238E27FC236}">
                <a16:creationId xmlns:a16="http://schemas.microsoft.com/office/drawing/2014/main" id="{9CC0CE04-FEF5-4503-A54E-53BF645767DB}"/>
              </a:ext>
            </a:extLst>
          </p:cNvPr>
          <p:cNvSpPr>
            <a:spLocks xmlns:a="http://schemas.openxmlformats.org/drawingml/2006/main" noGrp="1"/>
          </p:cNvSpPr>
          <p:nvPr/>
        </p:nvSpPr>
        <p:spPr>
          <a:xfrm xmlns:a="http://schemas.openxmlformats.org/drawingml/2006/main">
            <a:off x="3533775" y="26479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Consultar, reservar y gestionar sus propios turnos.</a:t>
            </a:r>
          </a:p>
        </p:txBody>
      </p:sp>
      <p:sp>
        <p:nvSpPr>
          <p:cNvPr id="11" name="">
            <a:extLst xmlns:a="http://schemas.openxmlformats.org/drawingml/2006/main">
              <a:ext uri="{FF2B5EF4-FFF2-40B4-BE49-F238E27FC236}">
                <a16:creationId xmlns:a16="http://schemas.microsoft.com/office/drawing/2014/main" id="{0BC9BF7C-CD0D-440B-8F37-D0AF6282278F}"/>
              </a:ext>
            </a:extLst>
          </p:cNvPr>
          <p:cNvSpPr>
            <a:spLocks xmlns:a="http://schemas.openxmlformats.org/drawingml/2006/main" noGrp="1"/>
          </p:cNvSpPr>
          <p:nvPr/>
        </p:nvSpPr>
        <p:spPr>
          <a:xfrm xmlns:a="http://schemas.openxmlformats.org/drawingml/2006/main">
            <a:off x="609600" y="3467100"/>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3CA6EB-E6FB-4686-BC6B-95C694E03160}"/>
              </a:ext>
            </a:extLst>
          </p:cNvPr>
          <p:cNvSpPr>
            <a:spLocks xmlns:a="http://schemas.openxmlformats.org/drawingml/2006/main" noGrp="1"/>
          </p:cNvSpPr>
          <p:nvPr/>
        </p:nvSpPr>
        <p:spPr>
          <a:xfrm xmlns:a="http://schemas.openxmlformats.org/drawingml/2006/main">
            <a:off x="609600" y="36385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Personal</a:t>
            </a:r>
          </a:p>
        </p:txBody>
      </p:sp>
      <p:sp>
        <p:nvSpPr>
          <p:cNvPr id="13" name="">
            <a:extLst xmlns:a="http://schemas.openxmlformats.org/drawingml/2006/main">
              <a:ext uri="{FF2B5EF4-FFF2-40B4-BE49-F238E27FC236}">
                <a16:creationId xmlns:a16="http://schemas.microsoft.com/office/drawing/2014/main" id="{B03E7F62-E438-48A9-8694-429A7A74726B}"/>
              </a:ext>
            </a:extLst>
          </p:cNvPr>
          <p:cNvSpPr>
            <a:spLocks xmlns:a="http://schemas.openxmlformats.org/drawingml/2006/main" noGrp="1"/>
          </p:cNvSpPr>
          <p:nvPr/>
        </p:nvSpPr>
        <p:spPr>
          <a:xfrm xmlns:a="http://schemas.openxmlformats.org/drawingml/2006/main">
            <a:off x="3533775" y="36385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Administrar la agenda y los servicios según su rol.</a:t>
            </a:r>
          </a:p>
        </p:txBody>
      </p:sp>
    </p:spTree>
    <p:extLst>
      <p:ext uri="{BB962C8B-B14F-4D97-AF65-F5344CB8AC3E}">
        <p14:creationId xmlns:p14="http://schemas.microsoft.com/office/powerpoint/2010/main" val="147964874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7761DB-E309-4885-A3F9-BB1C46FBD388}"/>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404C2F0-3CD7-4D88-9677-6502AF30C14B}"/>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Actores y datos</a:t>
            </a:r>
          </a:p>
        </p:txBody>
      </p:sp>
      <p:sp>
        <p:nvSpPr>
          <p:cNvPr id="3" name="">
            <a:extLst xmlns:a="http://schemas.openxmlformats.org/drawingml/2006/main">
              <a:ext uri="{FF2B5EF4-FFF2-40B4-BE49-F238E27FC236}">
                <a16:creationId xmlns:a16="http://schemas.microsoft.com/office/drawing/2014/main" id="{B561FF47-805B-4AB0-ABEA-2D9CCE18F31C}"/>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2590F9-6F57-4184-8445-1F1C7D0FBBCE}"/>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66C73522-C6F2-4E18-AC35-113362146B51}"/>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03</a:t>
            </a:r>
          </a:p>
        </p:txBody>
      </p:sp>
      <p:graphicFrame>
        <p:nvGraphicFramePr>
          <p:cNvPr id="6" name="">
            <a:extLst xmlns:a="http://schemas.openxmlformats.org/drawingml/2006/main">
              <a:ext uri="{FF2B5EF4-FFF2-40B4-BE49-F238E27FC236}">
                <a16:creationId xmlns:a16="http://schemas.microsoft.com/office/drawing/2014/main" id="{C9818464-7618-4064-BB48-09A63ED918C8}"/>
              </a:ext>
            </a:extLst>
          </p:cNvPr>
          <p:cNvGraphicFramePr/>
          <p:nvPr/>
        </p:nvGraphicFramePr>
        <p:xfrm>
          <a:off xmlns:a="http://schemas.openxmlformats.org/drawingml/2006/main" x="609600" y="1571625"/>
          <a:ext xmlns:a="http://schemas.openxmlformats.org/drawingml/2006/main" cx="10972800" cy="3476625"/>
        </p:xfrm>
        <a:graphic xmlns:a="http://schemas.openxmlformats.org/drawingml/2006/main">
          <a:graphicData uri="http://schemas.openxmlformats.org/drawingml/2006/table">
            <a:tbl>
              <a:tblPr/>
              <a:tblGrid>
                <a:gridCol w="2381250"/>
                <a:gridCol w="4572000"/>
                <a:gridCol w="4019550"/>
              </a:tblGrid>
              <a:tr h="869156">
                <a:tc>
                  <a:txBody>
                    <a:bodyPr lIns="114300" tIns="114300" rIns="114300" bIns="114300"/>
                    <a:lstStyle/>
                    <a:p>
                      <a:r>
                        <a:rPr sz="1800" b="1">
                          <a:solidFill>
                            <a:srgbClr val="FFFFFF"/>
                          </a:solidFill>
                          <a:latin typeface="DejaVu Sans"/>
                          <a:ea typeface="DejaVu Sans"/>
                          <a:cs typeface="DejaVu Sans"/>
                        </a:rPr>
                        <a:t>Actor</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800" b="1">
                          <a:solidFill>
                            <a:srgbClr val="FFFFFF"/>
                          </a:solidFill>
                          <a:latin typeface="DejaVu Sans"/>
                          <a:ea typeface="DejaVu Sans"/>
                          <a:cs typeface="DejaVu Sans"/>
                        </a:rPr>
                        <a:t>Puede hacer</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800" b="1">
                          <a:solidFill>
                            <a:srgbClr val="FFFFFF"/>
                          </a:solidFill>
                          <a:latin typeface="DejaVu Sans"/>
                          <a:ea typeface="DejaVu Sans"/>
                          <a:cs typeface="DejaVu Sans"/>
                        </a:rPr>
                        <a:t>Restricción</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869156">
                <a:tc>
                  <a:txBody>
                    <a:bodyPr lIns="114300" tIns="114300" rIns="114300" bIns="114300"/>
                    <a:lstStyle/>
                    <a:p>
                      <a:r>
                        <a:rPr sz="1800" b="0">
                          <a:solidFill>
                            <a:srgbClr val="17384A"/>
                          </a:solidFill>
                          <a:latin typeface="DejaVu Sans"/>
                          <a:ea typeface="DejaVu Sans"/>
                          <a:cs typeface="DejaVu Sans"/>
                        </a:rPr>
                        <a:t>Cliente</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800" b="0">
                          <a:solidFill>
                            <a:srgbClr val="17384A"/>
                          </a:solidFill>
                          <a:latin typeface="DejaVu Sans"/>
                          <a:ea typeface="DejaVu Sans"/>
                          <a:cs typeface="DejaVu Sans"/>
                        </a:rPr>
                        <a:t>Gestionar sus turnos y datos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800" b="0">
                          <a:solidFill>
                            <a:srgbClr val="17384A"/>
                          </a:solidFill>
                          <a:latin typeface="DejaVu Sans"/>
                          <a:ea typeface="DejaVu Sans"/>
                          <a:cs typeface="DejaVu Sans"/>
                        </a:rPr>
                        <a:t>Solo los propios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869156">
                <a:tc>
                  <a:txBody>
                    <a:bodyPr lIns="114300" tIns="114300" rIns="114300" bIns="114300"/>
                    <a:lstStyle/>
                    <a:p>
                      <a:r>
                        <a:rPr sz="1800" b="0">
                          <a:solidFill>
                            <a:srgbClr val="17384A"/>
                          </a:solidFill>
                          <a:latin typeface="DejaVu Sans"/>
                          <a:ea typeface="DejaVu Sans"/>
                          <a:cs typeface="DejaVu Sans"/>
                        </a:rPr>
                        <a:t>Empleado</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800" b="0">
                          <a:solidFill>
                            <a:srgbClr val="17384A"/>
                          </a:solidFill>
                          <a:latin typeface="DejaVu Sans"/>
                          <a:ea typeface="DejaVu Sans"/>
                          <a:cs typeface="DejaVu Sans"/>
                        </a:rPr>
                        <a:t>Gestionar clientes y agenda</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800" b="0">
                          <a:solidFill>
                            <a:srgbClr val="17384A"/>
                          </a:solidFill>
                          <a:latin typeface="DejaVu Sans"/>
                          <a:ea typeface="DejaVu Sans"/>
                          <a:cs typeface="DejaVu Sans"/>
                        </a:rPr>
                        <a:t>No administra servicios</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869156">
                <a:tc>
                  <a:txBody>
                    <a:bodyPr lIns="114300" tIns="114300" rIns="114300" bIns="114300"/>
                    <a:lstStyle/>
                    <a:p>
                      <a:r>
                        <a:rPr sz="1800" b="0">
                          <a:solidFill>
                            <a:srgbClr val="17384A"/>
                          </a:solidFill>
                          <a:latin typeface="DejaVu Sans"/>
                          <a:ea typeface="DejaVu Sans"/>
                          <a:cs typeface="DejaVu Sans"/>
                        </a:rPr>
                        <a:t>Administrador</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800" b="0">
                          <a:solidFill>
                            <a:srgbClr val="17384A"/>
                          </a:solidFill>
                          <a:latin typeface="DejaVu Sans"/>
                          <a:ea typeface="DejaVu Sans"/>
                          <a:cs typeface="DejaVu Sans"/>
                        </a:rPr>
                        <a:t>Gestionar agenda y servicios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800" b="0">
                          <a:solidFill>
                            <a:srgbClr val="17384A"/>
                          </a:solidFill>
                          <a:latin typeface="DejaVu Sans"/>
                          <a:ea typeface="DejaVu Sans"/>
                          <a:cs typeface="DejaVu Sans"/>
                        </a:rPr>
                        <a:t>Operaciones administrativas</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bl>
          </a:graphicData>
        </a:graphic>
      </p:graphicFrame>
      <p:sp>
        <p:nvSpPr>
          <p:cNvPr id="7" name="">
            <a:extLst xmlns:a="http://schemas.openxmlformats.org/drawingml/2006/main">
              <a:ext uri="{FF2B5EF4-FFF2-40B4-BE49-F238E27FC236}">
                <a16:creationId xmlns:a16="http://schemas.microsoft.com/office/drawing/2014/main" id="{166323F3-0955-40CD-953A-4D14FD3A2FBA}"/>
              </a:ext>
            </a:extLst>
          </p:cNvPr>
          <p:cNvSpPr>
            <a:spLocks xmlns:a="http://schemas.openxmlformats.org/drawingml/2006/main" noGrp="1"/>
          </p:cNvSpPr>
          <p:nvPr/>
        </p:nvSpPr>
        <p:spPr>
          <a:xfrm xmlns:a="http://schemas.openxmlformats.org/drawingml/2006/main">
            <a:off x="609600" y="53911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536675"/>
                </a:solidFill>
                <a:latin typeface="DejaVu Sans"/>
                <a:ea typeface="DejaVu Sans"/>
                <a:cs typeface="DejaVu Sans"/>
              </a:defRPr>
            </a:defPPr>
            <a:lvl1pPr>
              <a:defRPr sz="1875" b="0">
                <a:solidFill>
                  <a:srgbClr val="536675"/>
                </a:solidFill>
                <a:latin typeface="DejaVu Sans"/>
                <a:ea typeface="DejaVu Sans"/>
                <a:cs typeface="DejaVu Sans"/>
              </a:defRPr>
            </a:lvl1pPr>
            <a:lvl2pPr>
              <a:defRPr sz="1875" b="0">
                <a:solidFill>
                  <a:srgbClr val="536675"/>
                </a:solidFill>
                <a:latin typeface="DejaVu Sans"/>
                <a:ea typeface="DejaVu Sans"/>
                <a:cs typeface="DejaVu Sans"/>
              </a:defRPr>
            </a:lvl2pPr>
            <a:lvl3pPr>
              <a:defRPr sz="1875" b="0">
                <a:solidFill>
                  <a:srgbClr val="536675"/>
                </a:solidFill>
                <a:latin typeface="DejaVu Sans"/>
                <a:ea typeface="DejaVu Sans"/>
                <a:cs typeface="DejaVu Sans"/>
              </a:defRPr>
            </a:lvl3pPr>
            <a:lvl4pPr>
              <a:defRPr sz="1875" b="0">
                <a:solidFill>
                  <a:srgbClr val="536675"/>
                </a:solidFill>
                <a:latin typeface="DejaVu Sans"/>
                <a:ea typeface="DejaVu Sans"/>
                <a:cs typeface="DejaVu Sans"/>
              </a:defRPr>
            </a:lvl4pPr>
            <a:lvl5pPr>
              <a:defRPr sz="1875" b="0">
                <a:solidFill>
                  <a:srgbClr val="536675"/>
                </a:solidFill>
                <a:latin typeface="DejaVu Sans"/>
                <a:ea typeface="DejaVu Sans"/>
                <a:cs typeface="DejaVu Sans"/>
              </a:defRPr>
            </a:lvl5pPr>
            <a:lvl6pPr>
              <a:defRPr sz="1875" b="0">
                <a:solidFill>
                  <a:srgbClr val="536675"/>
                </a:solidFill>
                <a:latin typeface="DejaVu Sans"/>
                <a:ea typeface="DejaVu Sans"/>
                <a:cs typeface="DejaVu Sans"/>
              </a:defRPr>
            </a:lvl6pPr>
            <a:lvl7pPr>
              <a:defRPr sz="1875" b="0">
                <a:solidFill>
                  <a:srgbClr val="536675"/>
                </a:solidFill>
                <a:latin typeface="DejaVu Sans"/>
                <a:ea typeface="DejaVu Sans"/>
                <a:cs typeface="DejaVu Sans"/>
              </a:defRPr>
            </a:lvl7pPr>
            <a:lvl8pPr>
              <a:defRPr sz="1875" b="0">
                <a:solidFill>
                  <a:srgbClr val="536675"/>
                </a:solidFill>
                <a:latin typeface="DejaVu Sans"/>
                <a:ea typeface="DejaVu Sans"/>
                <a:cs typeface="DejaVu Sans"/>
              </a:defRPr>
            </a:lvl8pPr>
            <a:lvl9pPr>
              <a:defRPr sz="1875" b="0">
                <a:solidFill>
                  <a:srgbClr val="536675"/>
                </a:solidFill>
                <a:latin typeface="DejaVu Sans"/>
                <a:ea typeface="DejaVu Sans"/>
                <a:cs typeface="DejaVu Sans"/>
              </a:defRPr>
            </a:lvl9pPr>
          </a:lstStyle>
          <a:p xmlns:a="http://schemas.openxmlformats.org/drawingml/2006/main">
            <a:pPr>
              <a:defRPr sz="1875" b="0">
                <a:solidFill>
                  <a:srgbClr val="536675"/>
                </a:solidFill>
                <a:latin typeface="DejaVu Sans"/>
                <a:ea typeface="DejaVu Sans"/>
                <a:cs typeface="DejaVu Sans"/>
              </a:defRPr>
            </a:pPr>
            <a:r>
              <a:rPr sz="1875" b="0">
                <a:solidFill>
                  <a:srgbClr val="536675"/>
                </a:solidFill>
                <a:latin typeface="DejaVu Sans"/>
                <a:ea typeface="DejaVu Sans"/>
                <a:cs typeface="DejaVu Sans"/>
              </a:rPr>
              <a:t>Cliente y Servicio se relacionan con Turno mediante claves foráneas.</a:t>
            </a:r>
          </a:p>
        </p:txBody>
      </p:sp>
    </p:spTree>
    <p:extLst>
      <p:ext uri="{BB962C8B-B14F-4D97-AF65-F5344CB8AC3E}">
        <p14:creationId xmlns:p14="http://schemas.microsoft.com/office/powerpoint/2010/main" val="15121335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FF2C5F-F197-4B02-B83E-DED2386E615E}"/>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D0F202-427C-4E52-9F4D-59EDB204405E}"/>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Requerimientos y casos de uso</a:t>
            </a:r>
          </a:p>
        </p:txBody>
      </p:sp>
      <p:sp>
        <p:nvSpPr>
          <p:cNvPr id="3" name="">
            <a:extLst xmlns:a="http://schemas.openxmlformats.org/drawingml/2006/main">
              <a:ext uri="{FF2B5EF4-FFF2-40B4-BE49-F238E27FC236}">
                <a16:creationId xmlns:a16="http://schemas.microsoft.com/office/drawing/2014/main" id="{4147B410-97BE-41D0-9F7A-D7E292B55F66}"/>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506408-46BC-42FF-A026-5075DB222403}"/>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0AF48B46-3C9F-4AE5-9DEE-6BC1486F5EE2}"/>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04</a:t>
            </a:r>
          </a:p>
        </p:txBody>
      </p:sp>
      <p:graphicFrame>
        <p:nvGraphicFramePr>
          <p:cNvPr id="6" name="">
            <a:extLst xmlns:a="http://schemas.openxmlformats.org/drawingml/2006/main">
              <a:ext uri="{FF2B5EF4-FFF2-40B4-BE49-F238E27FC236}">
                <a16:creationId xmlns:a16="http://schemas.microsoft.com/office/drawing/2014/main" id="{0E1496A3-9D40-49E7-8B7B-83AC58E248B6}"/>
              </a:ext>
            </a:extLst>
          </p:cNvPr>
          <p:cNvGraphicFramePr/>
          <p:nvPr/>
        </p:nvGraphicFramePr>
        <p:xfrm>
          <a:off xmlns:a="http://schemas.openxmlformats.org/drawingml/2006/main" x="609600" y="1571625"/>
          <a:ext xmlns:a="http://schemas.openxmlformats.org/drawingml/2006/main" cx="10972800" cy="4095750"/>
        </p:xfrm>
        <a:graphic xmlns:a="http://schemas.openxmlformats.org/drawingml/2006/main">
          <a:graphicData uri="http://schemas.openxmlformats.org/drawingml/2006/table">
            <a:tbl>
              <a:tblPr/>
              <a:tblGrid>
                <a:gridCol w="1095375"/>
                <a:gridCol w="2619375"/>
                <a:gridCol w="2476500"/>
                <a:gridCol w="4781550"/>
              </a:tblGrid>
              <a:tr h="682625">
                <a:tc>
                  <a:txBody>
                    <a:bodyPr lIns="114300" tIns="114300" rIns="114300" bIns="114300"/>
                    <a:lstStyle/>
                    <a:p>
                      <a:r>
                        <a:rPr sz="1650" b="1">
                          <a:solidFill>
                            <a:srgbClr val="FFFFFF"/>
                          </a:solidFill>
                          <a:latin typeface="DejaVu Sans"/>
                          <a:ea typeface="DejaVu Sans"/>
                          <a:cs typeface="DejaVu Sans"/>
                        </a:rPr>
                        <a:t>RF</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Función</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Caso de uso</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Petición principal</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682625">
                <a:tc>
                  <a:txBody>
                    <a:bodyPr lIns="114300" tIns="114300" rIns="114300" bIns="114300"/>
                    <a:lstStyle/>
                    <a:p>
                      <a:r>
                        <a:rPr sz="1650" b="0">
                          <a:solidFill>
                            <a:srgbClr val="17384A"/>
                          </a:solidFill>
                          <a:latin typeface="DejaVu Sans"/>
                          <a:ea typeface="DejaVu Sans"/>
                          <a:cs typeface="DejaVu Sans"/>
                        </a:rPr>
                        <a:t>RF-01</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Registrar cliente</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CU-07</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POST /api/auth/registro</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82625">
                <a:tc>
                  <a:txBody>
                    <a:bodyPr lIns="114300" tIns="114300" rIns="114300" bIns="114300"/>
                    <a:lstStyle/>
                    <a:p>
                      <a:r>
                        <a:rPr sz="1650" b="0">
                          <a:solidFill>
                            <a:srgbClr val="17384A"/>
                          </a:solidFill>
                          <a:latin typeface="DejaVu Sans"/>
                          <a:ea typeface="DejaVu Sans"/>
                          <a:cs typeface="DejaVu Sans"/>
                        </a:rPr>
                        <a:t>RF-02</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Reservar turno</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CU-01 / CU-03</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POST /api/turnos</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82625">
                <a:tc>
                  <a:txBody>
                    <a:bodyPr lIns="114300" tIns="114300" rIns="114300" bIns="114300"/>
                    <a:lstStyle/>
                    <a:p>
                      <a:r>
                        <a:rPr sz="1650" b="0">
                          <a:solidFill>
                            <a:srgbClr val="17384A"/>
                          </a:solidFill>
                          <a:latin typeface="DejaVu Sans"/>
                          <a:ea typeface="DejaVu Sans"/>
                          <a:cs typeface="DejaVu Sans"/>
                        </a:rPr>
                        <a:t>RF-03</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Modificar turno</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CU-04</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PUT /api/turnos/{id}</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82625">
                <a:tc>
                  <a:txBody>
                    <a:bodyPr lIns="114300" tIns="114300" rIns="114300" bIns="114300"/>
                    <a:lstStyle/>
                    <a:p>
                      <a:r>
                        <a:rPr sz="1650" b="0">
                          <a:solidFill>
                            <a:srgbClr val="17384A"/>
                          </a:solidFill>
                          <a:latin typeface="DejaVu Sans"/>
                          <a:ea typeface="DejaVu Sans"/>
                          <a:cs typeface="DejaVu Sans"/>
                        </a:rPr>
                        <a:t>RF-04</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Cancelar turno</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CU-05</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DELETE /api/turnos/{id}</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82625">
                <a:tc>
                  <a:txBody>
                    <a:bodyPr lIns="114300" tIns="114300" rIns="114300" bIns="114300"/>
                    <a:lstStyle/>
                    <a:p>
                      <a:r>
                        <a:rPr sz="1650" b="0">
                          <a:solidFill>
                            <a:srgbClr val="17384A"/>
                          </a:solidFill>
                          <a:latin typeface="DejaVu Sans"/>
                          <a:ea typeface="DejaVu Sans"/>
                          <a:cs typeface="DejaVu Sans"/>
                        </a:rPr>
                        <a:t>RF-05</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Gestionar servicios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CU-06</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POST /api/servicios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bl>
          </a:graphicData>
        </a:graphic>
      </p:graphicFrame>
    </p:spTree>
    <p:extLst>
      <p:ext uri="{BB962C8B-B14F-4D97-AF65-F5344CB8AC3E}">
        <p14:creationId xmlns:p14="http://schemas.microsoft.com/office/powerpoint/2010/main" val="4897436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5DD1A6-DE66-44CD-86D5-F1FFA244633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124DD07-6691-42DA-BC38-64DF52CFE880}"/>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Cinco requisitos no funcionales</a:t>
            </a:r>
          </a:p>
        </p:txBody>
      </p:sp>
      <p:sp>
        <p:nvSpPr>
          <p:cNvPr id="3" name="">
            <a:extLst xmlns:a="http://schemas.openxmlformats.org/drawingml/2006/main">
              <a:ext uri="{FF2B5EF4-FFF2-40B4-BE49-F238E27FC236}">
                <a16:creationId xmlns:a16="http://schemas.microsoft.com/office/drawing/2014/main" id="{137BE955-8D10-444B-9C87-5302BCE02BE4}"/>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194FB2-956C-42EA-B12A-F44870161E30}"/>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092C8EAD-D8FE-41D7-B5AC-06B2D5D01B72}"/>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05</a:t>
            </a:r>
          </a:p>
        </p:txBody>
      </p:sp>
      <p:graphicFrame>
        <p:nvGraphicFramePr>
          <p:cNvPr id="6" name="">
            <a:extLst xmlns:a="http://schemas.openxmlformats.org/drawingml/2006/main">
              <a:ext uri="{FF2B5EF4-FFF2-40B4-BE49-F238E27FC236}">
                <a16:creationId xmlns:a16="http://schemas.microsoft.com/office/drawing/2014/main" id="{6E403AE6-A7BE-4E8D-A692-61E29DF937A8}"/>
              </a:ext>
            </a:extLst>
          </p:cNvPr>
          <p:cNvGraphicFramePr/>
          <p:nvPr/>
        </p:nvGraphicFramePr>
        <p:xfrm>
          <a:off xmlns:a="http://schemas.openxmlformats.org/drawingml/2006/main" x="609600" y="1571625"/>
          <a:ext xmlns:a="http://schemas.openxmlformats.org/drawingml/2006/main" cx="10972800" cy="4095750"/>
        </p:xfrm>
        <a:graphic xmlns:a="http://schemas.openxmlformats.org/drawingml/2006/main">
          <a:graphicData uri="http://schemas.openxmlformats.org/drawingml/2006/table">
            <a:tbl>
              <a:tblPr/>
              <a:tblGrid>
                <a:gridCol w="1428750"/>
                <a:gridCol w="2857500"/>
                <a:gridCol w="6686550"/>
              </a:tblGrid>
              <a:tr h="682625">
                <a:tc>
                  <a:txBody>
                    <a:bodyPr lIns="114300" tIns="114300" rIns="114300" bIns="114300"/>
                    <a:lstStyle/>
                    <a:p>
                      <a:r>
                        <a:rPr sz="1725" b="1">
                          <a:solidFill>
                            <a:srgbClr val="FFFFFF"/>
                          </a:solidFill>
                          <a:latin typeface="DejaVu Sans"/>
                          <a:ea typeface="DejaVu Sans"/>
                          <a:cs typeface="DejaVu Sans"/>
                        </a:rPr>
                        <a:t>ID</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Atributo</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Cómo se demuestra</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682625">
                <a:tc>
                  <a:txBody>
                    <a:bodyPr lIns="114300" tIns="114300" rIns="114300" bIns="114300"/>
                    <a:lstStyle/>
                    <a:p>
                      <a:r>
                        <a:rPr sz="1725" b="0">
                          <a:solidFill>
                            <a:srgbClr val="17384A"/>
                          </a:solidFill>
                          <a:latin typeface="DejaVu Sans"/>
                          <a:ea typeface="DejaVu Sans"/>
                          <a:cs typeface="DejaVu Sans"/>
                        </a:rPr>
                        <a:t>RNF-01</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Seguridad de acceso</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JWT real y contraseñas con hash</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82625">
                <a:tc>
                  <a:txBody>
                    <a:bodyPr lIns="114300" tIns="114300" rIns="114300" bIns="114300"/>
                    <a:lstStyle/>
                    <a:p>
                      <a:r>
                        <a:rPr sz="1725" b="0">
                          <a:solidFill>
                            <a:srgbClr val="17384A"/>
                          </a:solidFill>
                          <a:latin typeface="DejaVu Sans"/>
                          <a:ea typeface="DejaVu Sans"/>
                          <a:cs typeface="DejaVu Sans"/>
                        </a:rPr>
                        <a:t>RNF-02</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Confidencialidad</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Permisos por rol y titularidad</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82625">
                <a:tc>
                  <a:txBody>
                    <a:bodyPr lIns="114300" tIns="114300" rIns="114300" bIns="114300"/>
                    <a:lstStyle/>
                    <a:p>
                      <a:r>
                        <a:rPr sz="1725" b="0">
                          <a:solidFill>
                            <a:srgbClr val="17384A"/>
                          </a:solidFill>
                          <a:latin typeface="DejaVu Sans"/>
                          <a:ea typeface="DejaVu Sans"/>
                          <a:cs typeface="DejaVu Sans"/>
                        </a:rPr>
                        <a:t>RNF-03</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Integridad</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Índices únicos y conflicto 409</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82625">
                <a:tc>
                  <a:txBody>
                    <a:bodyPr lIns="114300" tIns="114300" rIns="114300" bIns="114300"/>
                    <a:lstStyle/>
                    <a:p>
                      <a:r>
                        <a:rPr sz="1725" b="0">
                          <a:solidFill>
                            <a:srgbClr val="17384A"/>
                          </a:solidFill>
                          <a:latin typeface="DejaVu Sans"/>
                          <a:ea typeface="DejaVu Sans"/>
                          <a:cs typeface="DejaVu Sans"/>
                        </a:rPr>
                        <a:t>RNF-04</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Mantenibilidad</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Capas, interfaces y pruebas</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82625">
                <a:tc>
                  <a:txBody>
                    <a:bodyPr lIns="114300" tIns="114300" rIns="114300" bIns="114300"/>
                    <a:lstStyle/>
                    <a:p>
                      <a:r>
                        <a:rPr sz="1725" b="0">
                          <a:solidFill>
                            <a:srgbClr val="17384A"/>
                          </a:solidFill>
                          <a:latin typeface="DejaVu Sans"/>
                          <a:ea typeface="DejaVu Sans"/>
                          <a:cs typeface="DejaVu Sans"/>
                        </a:rPr>
                        <a:t>RNF-05</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Interoperabilidad</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JSON, códigos HTTP y fechas UTC</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bl>
          </a:graphicData>
        </a:graphic>
      </p:graphicFrame>
    </p:spTree>
    <p:extLst>
      <p:ext uri="{BB962C8B-B14F-4D97-AF65-F5344CB8AC3E}">
        <p14:creationId xmlns:p14="http://schemas.microsoft.com/office/powerpoint/2010/main" val="8943014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16E1C9-3D6F-4B07-8A0B-6B3209361CC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F3A1BE5-79D7-428B-B7E3-0F872DD452BF}"/>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Dónde se responde cada error</a:t>
            </a:r>
          </a:p>
        </p:txBody>
      </p:sp>
      <p:sp>
        <p:nvSpPr>
          <p:cNvPr id="3" name="">
            <a:extLst xmlns:a="http://schemas.openxmlformats.org/drawingml/2006/main">
              <a:ext uri="{FF2B5EF4-FFF2-40B4-BE49-F238E27FC236}">
                <a16:creationId xmlns:a16="http://schemas.microsoft.com/office/drawing/2014/main" id="{0AD4648D-3C4C-403B-B005-1DF96CB26E6C}"/>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C327A1B-F894-4165-BDD6-76BC6146754D}"/>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CE431CAC-8F3F-4B83-82BC-AE0854AD8408}"/>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06</a:t>
            </a:r>
          </a:p>
        </p:txBody>
      </p:sp>
      <p:graphicFrame>
        <p:nvGraphicFramePr>
          <p:cNvPr id="6" name="">
            <a:extLst xmlns:a="http://schemas.openxmlformats.org/drawingml/2006/main">
              <a:ext uri="{FF2B5EF4-FFF2-40B4-BE49-F238E27FC236}">
                <a16:creationId xmlns:a16="http://schemas.microsoft.com/office/drawing/2014/main" id="{C47A11EC-EE97-45E2-8A31-66DE6E5B6D82}"/>
              </a:ext>
            </a:extLst>
          </p:cNvPr>
          <p:cNvGraphicFramePr/>
          <p:nvPr/>
        </p:nvGraphicFramePr>
        <p:xfrm>
          <a:off xmlns:a="http://schemas.openxmlformats.org/drawingml/2006/main" x="609600" y="1571625"/>
          <a:ext xmlns:a="http://schemas.openxmlformats.org/drawingml/2006/main" cx="10972800" cy="4095750"/>
        </p:xfrm>
        <a:graphic xmlns:a="http://schemas.openxmlformats.org/drawingml/2006/main">
          <a:graphicData uri="http://schemas.openxmlformats.org/drawingml/2006/table">
            <a:tbl>
              <a:tblPr/>
              <a:tblGrid>
                <a:gridCol w="1143000"/>
                <a:gridCol w="3857625"/>
                <a:gridCol w="5972175"/>
              </a:tblGrid>
              <a:tr h="682625">
                <a:tc>
                  <a:txBody>
                    <a:bodyPr lIns="114300" tIns="114300" rIns="114300" bIns="114300"/>
                    <a:lstStyle/>
                    <a:p>
                      <a:r>
                        <a:rPr sz="1650" b="1">
                          <a:solidFill>
                            <a:srgbClr val="FFFFFF"/>
                          </a:solidFill>
                          <a:latin typeface="DejaVu Sans"/>
                          <a:ea typeface="DejaVu Sans"/>
                          <a:cs typeface="DejaVu Sans"/>
                        </a:rPr>
                        <a:t>HTTP</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Dónde se decide</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Ejemplo</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682625">
                <a:tc>
                  <a:txBody>
                    <a:bodyPr lIns="114300" tIns="114300" rIns="114300" bIns="114300"/>
                    <a:lstStyle/>
                    <a:p>
                      <a:r>
                        <a:rPr sz="1650" b="0">
                          <a:solidFill>
                            <a:srgbClr val="17384A"/>
                          </a:solidFill>
                          <a:latin typeface="DejaVu Sans"/>
                          <a:ea typeface="DejaVu Sans"/>
                          <a:cs typeface="DejaVu Sans"/>
                        </a:rPr>
                        <a:t>400</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DTO / model binding o Service</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null, espacios, importe inválido o fecha pasada</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82625">
                <a:tc>
                  <a:txBody>
                    <a:bodyPr lIns="114300" tIns="114300" rIns="114300" bIns="114300"/>
                    <a:lstStyle/>
                    <a:p>
                      <a:r>
                        <a:rPr sz="1650" b="0">
                          <a:solidFill>
                            <a:srgbClr val="17384A"/>
                          </a:solidFill>
                          <a:latin typeface="DejaVu Sans"/>
                          <a:ea typeface="DejaVu Sans"/>
                          <a:cs typeface="DejaVu Sans"/>
                        </a:rPr>
                        <a:t>401</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Autenticación JWT / AuthController</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Token ausente, inválido o contraseña incorrecta</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82625">
                <a:tc>
                  <a:txBody>
                    <a:bodyPr lIns="114300" tIns="114300" rIns="114300" bIns="114300"/>
                    <a:lstStyle/>
                    <a:p>
                      <a:r>
                        <a:rPr sz="1650" b="0">
                          <a:solidFill>
                            <a:srgbClr val="17384A"/>
                          </a:solidFill>
                          <a:latin typeface="DejaVu Sans"/>
                          <a:ea typeface="DejaVu Sans"/>
                          <a:cs typeface="DejaVu Sans"/>
                        </a:rPr>
                        <a:t>403</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Permisos en Services</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Cliente intenta administrar servicios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82625">
                <a:tc>
                  <a:txBody>
                    <a:bodyPr lIns="114300" tIns="114300" rIns="114300" bIns="114300"/>
                    <a:lstStyle/>
                    <a:p>
                      <a:r>
                        <a:rPr sz="1650" b="0">
                          <a:solidFill>
                            <a:srgbClr val="17384A"/>
                          </a:solidFill>
                          <a:latin typeface="DejaVu Sans"/>
                          <a:ea typeface="DejaVu Sans"/>
                          <a:cs typeface="DejaVu Sans"/>
                        </a:rPr>
                        <a:t>404</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Service y mapeo del Controller</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Cliente, turno o servicio inexistente</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82625">
                <a:tc>
                  <a:txBody>
                    <a:bodyPr lIns="114300" tIns="114300" rIns="114300" bIns="114300"/>
                    <a:lstStyle/>
                    <a:p>
                      <a:r>
                        <a:rPr sz="1650" b="0">
                          <a:solidFill>
                            <a:srgbClr val="17384A"/>
                          </a:solidFill>
                          <a:latin typeface="DejaVu Sans"/>
                          <a:ea typeface="DejaVu Sans"/>
                          <a:cs typeface="DejaVu Sans"/>
                        </a:rPr>
                        <a:t>409</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Regla de negocio o índice único</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Correo duplicado u horario ocupado</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bl>
          </a:graphicData>
        </a:graphic>
      </p:graphicFrame>
    </p:spTree>
    <p:extLst>
      <p:ext uri="{BB962C8B-B14F-4D97-AF65-F5344CB8AC3E}">
        <p14:creationId xmlns:p14="http://schemas.microsoft.com/office/powerpoint/2010/main" val="20160723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57FBC5C-9B3B-4979-BF83-99D557E5865C}"/>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7ADA59-D687-43D9-A6F1-5AC775C5D363}"/>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Login y una sesión en Bruno</a:t>
            </a:r>
          </a:p>
        </p:txBody>
      </p:sp>
      <p:sp>
        <p:nvSpPr>
          <p:cNvPr id="3" name="">
            <a:extLst xmlns:a="http://schemas.openxmlformats.org/drawingml/2006/main">
              <a:ext uri="{FF2B5EF4-FFF2-40B4-BE49-F238E27FC236}">
                <a16:creationId xmlns:a16="http://schemas.microsoft.com/office/drawing/2014/main" id="{283B638D-2321-488F-8382-0B3354902DDA}"/>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98BF668-C0C8-4D5E-894E-4D8085C29628}"/>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440F0DB9-01C3-4214-B2E0-364C7DE2ACEB}"/>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07</a:t>
            </a:r>
          </a:p>
        </p:txBody>
      </p:sp>
      <p:sp>
        <p:nvSpPr>
          <p:cNvPr id="6" name="">
            <a:extLst xmlns:a="http://schemas.openxmlformats.org/drawingml/2006/main">
              <a:ext uri="{FF2B5EF4-FFF2-40B4-BE49-F238E27FC236}">
                <a16:creationId xmlns:a16="http://schemas.microsoft.com/office/drawing/2014/main" id="{42350B31-BE78-45E2-B19A-243CFE0FE684}"/>
              </a:ext>
            </a:extLst>
          </p:cNvPr>
          <p:cNvSpPr>
            <a:spLocks xmlns:a="http://schemas.openxmlformats.org/drawingml/2006/main" noGrp="1"/>
          </p:cNvSpPr>
          <p:nvPr/>
        </p:nvSpPr>
        <p:spPr>
          <a:xfrm xmlns:a="http://schemas.openxmlformats.org/drawingml/2006/main">
            <a:off x="609600" y="1552575"/>
            <a:ext cx="10906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1">
                <a:solidFill>
                  <a:srgbClr val="00A58E"/>
                </a:solidFill>
                <a:latin typeface="DejaVu Sans"/>
                <a:ea typeface="DejaVu Sans"/>
                <a:cs typeface="DejaVu Sans"/>
              </a:defRPr>
            </a:defPPr>
            <a:lvl1pPr>
              <a:defRPr sz="2325" b="1">
                <a:solidFill>
                  <a:srgbClr val="00A58E"/>
                </a:solidFill>
                <a:latin typeface="DejaVu Sans"/>
                <a:ea typeface="DejaVu Sans"/>
                <a:cs typeface="DejaVu Sans"/>
              </a:defRPr>
            </a:lvl1pPr>
            <a:lvl2pPr>
              <a:defRPr sz="2325" b="1">
                <a:solidFill>
                  <a:srgbClr val="00A58E"/>
                </a:solidFill>
                <a:latin typeface="DejaVu Sans"/>
                <a:ea typeface="DejaVu Sans"/>
                <a:cs typeface="DejaVu Sans"/>
              </a:defRPr>
            </a:lvl2pPr>
            <a:lvl3pPr>
              <a:defRPr sz="2325" b="1">
                <a:solidFill>
                  <a:srgbClr val="00A58E"/>
                </a:solidFill>
                <a:latin typeface="DejaVu Sans"/>
                <a:ea typeface="DejaVu Sans"/>
                <a:cs typeface="DejaVu Sans"/>
              </a:defRPr>
            </a:lvl3pPr>
            <a:lvl4pPr>
              <a:defRPr sz="2325" b="1">
                <a:solidFill>
                  <a:srgbClr val="00A58E"/>
                </a:solidFill>
                <a:latin typeface="DejaVu Sans"/>
                <a:ea typeface="DejaVu Sans"/>
                <a:cs typeface="DejaVu Sans"/>
              </a:defRPr>
            </a:lvl4pPr>
            <a:lvl5pPr>
              <a:defRPr sz="2325" b="1">
                <a:solidFill>
                  <a:srgbClr val="00A58E"/>
                </a:solidFill>
                <a:latin typeface="DejaVu Sans"/>
                <a:ea typeface="DejaVu Sans"/>
                <a:cs typeface="DejaVu Sans"/>
              </a:defRPr>
            </a:lvl5pPr>
            <a:lvl6pPr>
              <a:defRPr sz="2325" b="1">
                <a:solidFill>
                  <a:srgbClr val="00A58E"/>
                </a:solidFill>
                <a:latin typeface="DejaVu Sans"/>
                <a:ea typeface="DejaVu Sans"/>
                <a:cs typeface="DejaVu Sans"/>
              </a:defRPr>
            </a:lvl6pPr>
            <a:lvl7pPr>
              <a:defRPr sz="2325" b="1">
                <a:solidFill>
                  <a:srgbClr val="00A58E"/>
                </a:solidFill>
                <a:latin typeface="DejaVu Sans"/>
                <a:ea typeface="DejaVu Sans"/>
                <a:cs typeface="DejaVu Sans"/>
              </a:defRPr>
            </a:lvl7pPr>
            <a:lvl8pPr>
              <a:defRPr sz="2325" b="1">
                <a:solidFill>
                  <a:srgbClr val="00A58E"/>
                </a:solidFill>
                <a:latin typeface="DejaVu Sans"/>
                <a:ea typeface="DejaVu Sans"/>
                <a:cs typeface="DejaVu Sans"/>
              </a:defRPr>
            </a:lvl8pPr>
            <a:lvl9pPr>
              <a:defRPr sz="2325" b="1">
                <a:solidFill>
                  <a:srgbClr val="00A58E"/>
                </a:solidFill>
                <a:latin typeface="DejaVu Sans"/>
                <a:ea typeface="DejaVu Sans"/>
                <a:cs typeface="DejaVu Sans"/>
              </a:defRPr>
            </a:lvl9pPr>
          </a:lstStyle>
          <a:p xmlns:a="http://schemas.openxmlformats.org/drawingml/2006/main">
            <a:pPr>
              <a:defRPr sz="2325" b="1">
                <a:solidFill>
                  <a:srgbClr val="00A58E"/>
                </a:solidFill>
                <a:latin typeface="DejaVu Sans"/>
                <a:ea typeface="DejaVu Sans"/>
                <a:cs typeface="DejaVu Sans"/>
              </a:defRPr>
            </a:pPr>
            <a:r>
              <a:rPr sz="2325" b="1">
                <a:solidFill>
                  <a:srgbClr val="00A58E"/>
                </a:solidFill>
                <a:latin typeface="DejaVu Sans"/>
                <a:ea typeface="DejaVu Sans"/>
                <a:cs typeface="DejaVu Sans"/>
              </a:rPr>
              <a:t>POST /api/auth/login</a:t>
            </a:r>
          </a:p>
        </p:txBody>
      </p:sp>
      <p:graphicFrame>
        <p:nvGraphicFramePr>
          <p:cNvPr id="7" name="">
            <a:extLst xmlns:a="http://schemas.openxmlformats.org/drawingml/2006/main">
              <a:ext uri="{FF2B5EF4-FFF2-40B4-BE49-F238E27FC236}">
                <a16:creationId xmlns:a16="http://schemas.microsoft.com/office/drawing/2014/main" id="{BE9333E4-0136-4E71-8227-CC47986A90F2}"/>
              </a:ext>
            </a:extLst>
          </p:cNvPr>
          <p:cNvGraphicFramePr/>
          <p:nvPr/>
        </p:nvGraphicFramePr>
        <p:xfrm>
          <a:off xmlns:a="http://schemas.openxmlformats.org/drawingml/2006/main" x="609600" y="2305050"/>
          <a:ext xmlns:a="http://schemas.openxmlformats.org/drawingml/2006/main" cx="10972800" cy="1952625"/>
        </p:xfrm>
        <a:graphic xmlns:a="http://schemas.openxmlformats.org/drawingml/2006/main">
          <a:graphicData uri="http://schemas.openxmlformats.org/drawingml/2006/table">
            <a:tbl>
              <a:tblPr/>
              <a:tblGrid>
                <a:gridCol w="2190750"/>
                <a:gridCol w="6191250"/>
                <a:gridCol w="2590800"/>
              </a:tblGrid>
              <a:tr h="650875">
                <a:tc>
                  <a:txBody>
                    <a:bodyPr lIns="114300" tIns="114300" rIns="114300" bIns="114300"/>
                    <a:lstStyle/>
                    <a:p>
                      <a:r>
                        <a:rPr sz="1650" b="1">
                          <a:solidFill>
                            <a:srgbClr val="FFFFFF"/>
                          </a:solidFill>
                          <a:latin typeface="DejaVu Sans"/>
                          <a:ea typeface="DejaVu Sans"/>
                          <a:cs typeface="DejaVu Sans"/>
                        </a:rPr>
                        <a:t>Actor</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Inicio de sesión</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Variable</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650875">
                <a:tc>
                  <a:txBody>
                    <a:bodyPr lIns="114300" tIns="114300" rIns="114300" bIns="114300"/>
                    <a:lstStyle/>
                    <a:p>
                      <a:r>
                        <a:rPr sz="1650" b="0">
                          <a:solidFill>
                            <a:srgbClr val="17384A"/>
                          </a:solidFill>
                          <a:latin typeface="DejaVu Sans"/>
                          <a:ea typeface="DejaVu Sans"/>
                          <a:cs typeface="DejaVu Sans"/>
                        </a:rPr>
                        <a:t>Administrador</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00 Demo / 01 Login administrador</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adminToken</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50875">
                <a:tc>
                  <a:txBody>
                    <a:bodyPr lIns="114300" tIns="114300" rIns="114300" bIns="114300"/>
                    <a:lstStyle/>
                    <a:p>
                      <a:r>
                        <a:rPr sz="1650" b="0">
                          <a:solidFill>
                            <a:srgbClr val="17384A"/>
                          </a:solidFill>
                          <a:latin typeface="DejaVu Sans"/>
                          <a:ea typeface="DejaVu Sans"/>
                          <a:cs typeface="DejaVu Sans"/>
                        </a:rPr>
                        <a:t>Cliente</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00 Demo / 04 Login cliente y guardar sesion</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token y clienteToken</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A2419651-2CD4-457B-B2F3-F0EB37CD4CAE}"/>
              </a:ext>
            </a:extLst>
          </p:cNvPr>
          <p:cNvSpPr>
            <a:spLocks xmlns:a="http://schemas.openxmlformats.org/drawingml/2006/main" noGrp="1"/>
          </p:cNvSpPr>
          <p:nvPr/>
        </p:nvSpPr>
        <p:spPr>
          <a:xfrm xmlns:a="http://schemas.openxmlformats.org/drawingml/2006/main">
            <a:off x="609600" y="47434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12B3C"/>
                </a:solidFill>
                <a:latin typeface="DejaVu Sans Mono"/>
                <a:ea typeface="DejaVu Sans Mono"/>
                <a:cs typeface="DejaVu Sans Mono"/>
              </a:defRPr>
            </a:defPPr>
            <a:lvl1pPr>
              <a:defRPr sz="2100" b="1">
                <a:solidFill>
                  <a:srgbClr val="112B3C"/>
                </a:solidFill>
                <a:latin typeface="DejaVu Sans Mono"/>
                <a:ea typeface="DejaVu Sans Mono"/>
                <a:cs typeface="DejaVu Sans Mono"/>
              </a:defRPr>
            </a:lvl1pPr>
            <a:lvl2pPr>
              <a:defRPr sz="2100" b="1">
                <a:solidFill>
                  <a:srgbClr val="112B3C"/>
                </a:solidFill>
                <a:latin typeface="DejaVu Sans Mono"/>
                <a:ea typeface="DejaVu Sans Mono"/>
                <a:cs typeface="DejaVu Sans Mono"/>
              </a:defRPr>
            </a:lvl2pPr>
            <a:lvl3pPr>
              <a:defRPr sz="2100" b="1">
                <a:solidFill>
                  <a:srgbClr val="112B3C"/>
                </a:solidFill>
                <a:latin typeface="DejaVu Sans Mono"/>
                <a:ea typeface="DejaVu Sans Mono"/>
                <a:cs typeface="DejaVu Sans Mono"/>
              </a:defRPr>
            </a:lvl3pPr>
            <a:lvl4pPr>
              <a:defRPr sz="2100" b="1">
                <a:solidFill>
                  <a:srgbClr val="112B3C"/>
                </a:solidFill>
                <a:latin typeface="DejaVu Sans Mono"/>
                <a:ea typeface="DejaVu Sans Mono"/>
                <a:cs typeface="DejaVu Sans Mono"/>
              </a:defRPr>
            </a:lvl4pPr>
            <a:lvl5pPr>
              <a:defRPr sz="2100" b="1">
                <a:solidFill>
                  <a:srgbClr val="112B3C"/>
                </a:solidFill>
                <a:latin typeface="DejaVu Sans Mono"/>
                <a:ea typeface="DejaVu Sans Mono"/>
                <a:cs typeface="DejaVu Sans Mono"/>
              </a:defRPr>
            </a:lvl5pPr>
            <a:lvl6pPr>
              <a:defRPr sz="2100" b="1">
                <a:solidFill>
                  <a:srgbClr val="112B3C"/>
                </a:solidFill>
                <a:latin typeface="DejaVu Sans Mono"/>
                <a:ea typeface="DejaVu Sans Mono"/>
                <a:cs typeface="DejaVu Sans Mono"/>
              </a:defRPr>
            </a:lvl6pPr>
            <a:lvl7pPr>
              <a:defRPr sz="2100" b="1">
                <a:solidFill>
                  <a:srgbClr val="112B3C"/>
                </a:solidFill>
                <a:latin typeface="DejaVu Sans Mono"/>
                <a:ea typeface="DejaVu Sans Mono"/>
                <a:cs typeface="DejaVu Sans Mono"/>
              </a:defRPr>
            </a:lvl7pPr>
            <a:lvl8pPr>
              <a:defRPr sz="2100" b="1">
                <a:solidFill>
                  <a:srgbClr val="112B3C"/>
                </a:solidFill>
                <a:latin typeface="DejaVu Sans Mono"/>
                <a:ea typeface="DejaVu Sans Mono"/>
                <a:cs typeface="DejaVu Sans Mono"/>
              </a:defRPr>
            </a:lvl8pPr>
            <a:lvl9pPr>
              <a:defRPr sz="2100" b="1">
                <a:solidFill>
                  <a:srgbClr val="112B3C"/>
                </a:solidFill>
                <a:latin typeface="DejaVu Sans Mono"/>
                <a:ea typeface="DejaVu Sans Mono"/>
                <a:cs typeface="DejaVu Sans Mono"/>
              </a:defRPr>
            </a:lvl9pPr>
          </a:lstStyle>
          <a:p xmlns:a="http://schemas.openxmlformats.org/drawingml/2006/main">
            <a:pPr>
              <a:defRPr sz="2100" b="1">
                <a:solidFill>
                  <a:srgbClr val="112B3C"/>
                </a:solidFill>
                <a:latin typeface="DejaVu Sans Mono"/>
                <a:ea typeface="DejaVu Sans Mono"/>
                <a:cs typeface="DejaVu Sans Mono"/>
              </a:defRPr>
            </a:pPr>
            <a:r>
              <a:rPr sz="2100" b="1">
                <a:solidFill>
                  <a:srgbClr val="112B3C"/>
                </a:solidFill>
                <a:latin typeface="DejaVu Sans Mono"/>
                <a:ea typeface="DejaVu Sans Mono"/>
                <a:cs typeface="DejaVu Sans Mono"/>
              </a:rPr>
              <a:t>Authorization: Bearer &lt;token guardado&gt;</a:t>
            </a:r>
          </a:p>
        </p:txBody>
      </p:sp>
      <p:sp>
        <p:nvSpPr>
          <p:cNvPr id="9" name="">
            <a:extLst xmlns:a="http://schemas.openxmlformats.org/drawingml/2006/main">
              <a:ext uri="{FF2B5EF4-FFF2-40B4-BE49-F238E27FC236}">
                <a16:creationId xmlns:a16="http://schemas.microsoft.com/office/drawing/2014/main" id="{29544E2A-724D-41B6-910C-EDF7F4F786C9}"/>
              </a:ext>
            </a:extLst>
          </p:cNvPr>
          <p:cNvSpPr>
            <a:spLocks xmlns:a="http://schemas.openxmlformats.org/drawingml/2006/main" noGrp="1"/>
          </p:cNvSpPr>
          <p:nvPr/>
        </p:nvSpPr>
        <p:spPr>
          <a:xfrm xmlns:a="http://schemas.openxmlformats.org/drawingml/2006/main">
            <a:off x="609600" y="543877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536675"/>
                </a:solidFill>
                <a:latin typeface="DejaVu Sans"/>
                <a:ea typeface="DejaVu Sans"/>
                <a:cs typeface="DejaVu Sans"/>
              </a:defRPr>
            </a:defPPr>
            <a:lvl1pPr>
              <a:defRPr sz="1875" b="0">
                <a:solidFill>
                  <a:srgbClr val="536675"/>
                </a:solidFill>
                <a:latin typeface="DejaVu Sans"/>
                <a:ea typeface="DejaVu Sans"/>
                <a:cs typeface="DejaVu Sans"/>
              </a:defRPr>
            </a:lvl1pPr>
            <a:lvl2pPr>
              <a:defRPr sz="1875" b="0">
                <a:solidFill>
                  <a:srgbClr val="536675"/>
                </a:solidFill>
                <a:latin typeface="DejaVu Sans"/>
                <a:ea typeface="DejaVu Sans"/>
                <a:cs typeface="DejaVu Sans"/>
              </a:defRPr>
            </a:lvl2pPr>
            <a:lvl3pPr>
              <a:defRPr sz="1875" b="0">
                <a:solidFill>
                  <a:srgbClr val="536675"/>
                </a:solidFill>
                <a:latin typeface="DejaVu Sans"/>
                <a:ea typeface="DejaVu Sans"/>
                <a:cs typeface="DejaVu Sans"/>
              </a:defRPr>
            </a:lvl3pPr>
            <a:lvl4pPr>
              <a:defRPr sz="1875" b="0">
                <a:solidFill>
                  <a:srgbClr val="536675"/>
                </a:solidFill>
                <a:latin typeface="DejaVu Sans"/>
                <a:ea typeface="DejaVu Sans"/>
                <a:cs typeface="DejaVu Sans"/>
              </a:defRPr>
            </a:lvl4pPr>
            <a:lvl5pPr>
              <a:defRPr sz="1875" b="0">
                <a:solidFill>
                  <a:srgbClr val="536675"/>
                </a:solidFill>
                <a:latin typeface="DejaVu Sans"/>
                <a:ea typeface="DejaVu Sans"/>
                <a:cs typeface="DejaVu Sans"/>
              </a:defRPr>
            </a:lvl5pPr>
            <a:lvl6pPr>
              <a:defRPr sz="1875" b="0">
                <a:solidFill>
                  <a:srgbClr val="536675"/>
                </a:solidFill>
                <a:latin typeface="DejaVu Sans"/>
                <a:ea typeface="DejaVu Sans"/>
                <a:cs typeface="DejaVu Sans"/>
              </a:defRPr>
            </a:lvl6pPr>
            <a:lvl7pPr>
              <a:defRPr sz="1875" b="0">
                <a:solidFill>
                  <a:srgbClr val="536675"/>
                </a:solidFill>
                <a:latin typeface="DejaVu Sans"/>
                <a:ea typeface="DejaVu Sans"/>
                <a:cs typeface="DejaVu Sans"/>
              </a:defRPr>
            </a:lvl7pPr>
            <a:lvl8pPr>
              <a:defRPr sz="1875" b="0">
                <a:solidFill>
                  <a:srgbClr val="536675"/>
                </a:solidFill>
                <a:latin typeface="DejaVu Sans"/>
                <a:ea typeface="DejaVu Sans"/>
                <a:cs typeface="DejaVu Sans"/>
              </a:defRPr>
            </a:lvl8pPr>
            <a:lvl9pPr>
              <a:defRPr sz="1875" b="0">
                <a:solidFill>
                  <a:srgbClr val="536675"/>
                </a:solidFill>
                <a:latin typeface="DejaVu Sans"/>
                <a:ea typeface="DejaVu Sans"/>
                <a:cs typeface="DejaVu Sans"/>
              </a:defRPr>
            </a:lvl9pPr>
          </a:lstStyle>
          <a:p xmlns:a="http://schemas.openxmlformats.org/drawingml/2006/main">
            <a:pPr>
              <a:defRPr sz="1875" b="0">
                <a:solidFill>
                  <a:srgbClr val="536675"/>
                </a:solidFill>
                <a:latin typeface="DejaVu Sans"/>
                <a:ea typeface="DejaVu Sans"/>
                <a:cs typeface="DejaVu Sans"/>
              </a:defRPr>
            </a:pPr>
            <a:r>
              <a:rPr sz="1875" b="0">
                <a:solidFill>
                  <a:srgbClr val="536675"/>
                </a:solidFill>
                <a:latin typeface="DejaVu Sans"/>
                <a:ea typeface="DejaVu Sans"/>
                <a:cs typeface="DejaVu Sans"/>
              </a:rPr>
              <a:t>Se reutiliza el token del actor durante la demostración.</a:t>
            </a:r>
          </a:p>
        </p:txBody>
      </p:sp>
    </p:spTree>
    <p:extLst>
      <p:ext uri="{BB962C8B-B14F-4D97-AF65-F5344CB8AC3E}">
        <p14:creationId xmlns:p14="http://schemas.microsoft.com/office/powerpoint/2010/main" val="21320802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742286-E78B-447E-BC77-EA33BF64D21A}"/>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190F42E-04B7-4661-97D0-799BB6B9E017}"/>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JWT: leer y comprobar</a:t>
            </a:r>
          </a:p>
        </p:txBody>
      </p:sp>
      <p:sp>
        <p:nvSpPr>
          <p:cNvPr id="3" name="">
            <a:extLst xmlns:a="http://schemas.openxmlformats.org/drawingml/2006/main">
              <a:ext uri="{FF2B5EF4-FFF2-40B4-BE49-F238E27FC236}">
                <a16:creationId xmlns:a16="http://schemas.microsoft.com/office/drawing/2014/main" id="{E47F9FDE-BA62-4D9A-8A30-EE9F9889FF40}"/>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63908F-6F1D-41F5-91A5-41F6BC0AC70B}"/>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22CF361B-A42B-4C53-9530-AC409A3CCE65}"/>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08</a:t>
            </a:r>
          </a:p>
        </p:txBody>
      </p:sp>
      <p:graphicFrame>
        <p:nvGraphicFramePr>
          <p:cNvPr id="6" name="">
            <a:extLst xmlns:a="http://schemas.openxmlformats.org/drawingml/2006/main">
              <a:ext uri="{FF2B5EF4-FFF2-40B4-BE49-F238E27FC236}">
                <a16:creationId xmlns:a16="http://schemas.microsoft.com/office/drawing/2014/main" id="{777D3CF8-B011-4008-8179-7E9200DC86B6}"/>
              </a:ext>
            </a:extLst>
          </p:cNvPr>
          <p:cNvGraphicFramePr/>
          <p:nvPr/>
        </p:nvGraphicFramePr>
        <p:xfrm>
          <a:off xmlns:a="http://schemas.openxmlformats.org/drawingml/2006/main" x="609600" y="1571625"/>
          <a:ext xmlns:a="http://schemas.openxmlformats.org/drawingml/2006/main" cx="10972800" cy="3762375"/>
        </p:xfrm>
        <a:graphic xmlns:a="http://schemas.openxmlformats.org/drawingml/2006/main">
          <a:graphicData uri="http://schemas.openxmlformats.org/drawingml/2006/table">
            <a:tbl>
              <a:tblPr/>
              <a:tblGrid>
                <a:gridCol w="2381250"/>
                <a:gridCol w="3905250"/>
                <a:gridCol w="4686300"/>
              </a:tblGrid>
              <a:tr h="752475">
                <a:tc>
                  <a:txBody>
                    <a:bodyPr lIns="114300" tIns="114300" rIns="114300" bIns="114300"/>
                    <a:lstStyle/>
                    <a:p>
                      <a:r>
                        <a:rPr sz="1650" b="1">
                          <a:solidFill>
                            <a:srgbClr val="FFFFFF"/>
                          </a:solidFill>
                          <a:latin typeface="DejaVu Sans"/>
                          <a:ea typeface="DejaVu Sans"/>
                          <a:cs typeface="DejaVu Sans"/>
                        </a:rPr>
                        <a:t>Elemento</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Qué mostrar</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650" b="1">
                          <a:solidFill>
                            <a:srgbClr val="FFFFFF"/>
                          </a:solidFill>
                          <a:latin typeface="DejaVu Sans"/>
                          <a:ea typeface="DejaVu Sans"/>
                          <a:cs typeface="DejaVu Sans"/>
                        </a:rPr>
                        <a:t>Validación en la API</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752475">
                <a:tc>
                  <a:txBody>
                    <a:bodyPr lIns="114300" tIns="114300" rIns="114300" bIns="114300"/>
                    <a:lstStyle/>
                    <a:p>
                      <a:r>
                        <a:rPr sz="1650" b="0">
                          <a:solidFill>
                            <a:srgbClr val="17384A"/>
                          </a:solidFill>
                          <a:latin typeface="DejaVu Sans"/>
                          <a:ea typeface="DejaVu Sans"/>
                          <a:cs typeface="DejaVu Sans"/>
                        </a:rPr>
                        <a:t>Identidad y rol</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Claims del usuario y cliente_id</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ActorContext aplica la titularidad</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752475">
                <a:tc>
                  <a:txBody>
                    <a:bodyPr lIns="114300" tIns="114300" rIns="114300" bIns="114300"/>
                    <a:lstStyle/>
                    <a:p>
                      <a:r>
                        <a:rPr sz="1650" b="0">
                          <a:solidFill>
                            <a:srgbClr val="17384A"/>
                          </a:solidFill>
                          <a:latin typeface="DejaVu Sans"/>
                          <a:ea typeface="DejaVu Sans"/>
                          <a:cs typeface="DejaVu Sans"/>
                        </a:rPr>
                        <a:t>iss / aud</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Emisor y destinatario</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Deben coincidir con la configuración</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752475">
                <a:tc>
                  <a:txBody>
                    <a:bodyPr lIns="114300" tIns="114300" rIns="114300" bIns="114300"/>
                    <a:lstStyle/>
                    <a:p>
                      <a:r>
                        <a:rPr sz="1650" b="0">
                          <a:solidFill>
                            <a:srgbClr val="17384A"/>
                          </a:solidFill>
                          <a:latin typeface="DejaVu Sans"/>
                          <a:ea typeface="DejaVu Sans"/>
                          <a:cs typeface="DejaVu Sans"/>
                        </a:rPr>
                        <a:t>nbf / exp</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Inicio de validez y vencimiento</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650" b="0">
                          <a:solidFill>
                            <a:srgbClr val="17384A"/>
                          </a:solidFill>
                          <a:latin typeface="DejaVu Sans"/>
                          <a:ea typeface="DejaVu Sans"/>
                          <a:cs typeface="DejaVu Sans"/>
                        </a:rPr>
                        <a:t>ValidateLifetime, con tolerancia de 1 minuto</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752475">
                <a:tc>
                  <a:txBody>
                    <a:bodyPr lIns="114300" tIns="114300" rIns="114300" bIns="114300"/>
                    <a:lstStyle/>
                    <a:p>
                      <a:r>
                        <a:rPr sz="1650" b="0">
                          <a:solidFill>
                            <a:srgbClr val="17384A"/>
                          </a:solidFill>
                          <a:latin typeface="DejaVu Sans"/>
                          <a:ea typeface="DejaVu Sans"/>
                          <a:cs typeface="DejaVu Sans"/>
                        </a:rPr>
                        <a:t>Firma HS256</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Integridad del token</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650" b="0">
                          <a:solidFill>
                            <a:srgbClr val="17384A"/>
                          </a:solidFill>
                          <a:latin typeface="DejaVu Sans"/>
                          <a:ea typeface="DejaVu Sans"/>
                          <a:cs typeface="DejaVu Sans"/>
                        </a:rPr>
                        <a:t>Un token alterado devuelve 401</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A002915-B416-4931-ABBD-50AE275F2A92}"/>
              </a:ext>
            </a:extLst>
          </p:cNvPr>
          <p:cNvSpPr>
            <a:spLocks xmlns:a="http://schemas.openxmlformats.org/drawingml/2006/main" noGrp="1"/>
          </p:cNvSpPr>
          <p:nvPr/>
        </p:nvSpPr>
        <p:spPr>
          <a:xfrm xmlns:a="http://schemas.openxmlformats.org/drawingml/2006/main">
            <a:off x="609600" y="55721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536675"/>
                </a:solidFill>
                <a:latin typeface="DejaVu Sans"/>
                <a:ea typeface="DejaVu Sans"/>
                <a:cs typeface="DejaVu Sans"/>
              </a:defRPr>
            </a:defPPr>
            <a:lvl1pPr>
              <a:defRPr sz="1725" b="0">
                <a:solidFill>
                  <a:srgbClr val="536675"/>
                </a:solidFill>
                <a:latin typeface="DejaVu Sans"/>
                <a:ea typeface="DejaVu Sans"/>
                <a:cs typeface="DejaVu Sans"/>
              </a:defRPr>
            </a:lvl1pPr>
            <a:lvl2pPr>
              <a:defRPr sz="1725" b="0">
                <a:solidFill>
                  <a:srgbClr val="536675"/>
                </a:solidFill>
                <a:latin typeface="DejaVu Sans"/>
                <a:ea typeface="DejaVu Sans"/>
                <a:cs typeface="DejaVu Sans"/>
              </a:defRPr>
            </a:lvl2pPr>
            <a:lvl3pPr>
              <a:defRPr sz="1725" b="0">
                <a:solidFill>
                  <a:srgbClr val="536675"/>
                </a:solidFill>
                <a:latin typeface="DejaVu Sans"/>
                <a:ea typeface="DejaVu Sans"/>
                <a:cs typeface="DejaVu Sans"/>
              </a:defRPr>
            </a:lvl3pPr>
            <a:lvl4pPr>
              <a:defRPr sz="1725" b="0">
                <a:solidFill>
                  <a:srgbClr val="536675"/>
                </a:solidFill>
                <a:latin typeface="DejaVu Sans"/>
                <a:ea typeface="DejaVu Sans"/>
                <a:cs typeface="DejaVu Sans"/>
              </a:defRPr>
            </a:lvl4pPr>
            <a:lvl5pPr>
              <a:defRPr sz="1725" b="0">
                <a:solidFill>
                  <a:srgbClr val="536675"/>
                </a:solidFill>
                <a:latin typeface="DejaVu Sans"/>
                <a:ea typeface="DejaVu Sans"/>
                <a:cs typeface="DejaVu Sans"/>
              </a:defRPr>
            </a:lvl5pPr>
            <a:lvl6pPr>
              <a:defRPr sz="1725" b="0">
                <a:solidFill>
                  <a:srgbClr val="536675"/>
                </a:solidFill>
                <a:latin typeface="DejaVu Sans"/>
                <a:ea typeface="DejaVu Sans"/>
                <a:cs typeface="DejaVu Sans"/>
              </a:defRPr>
            </a:lvl6pPr>
            <a:lvl7pPr>
              <a:defRPr sz="1725" b="0">
                <a:solidFill>
                  <a:srgbClr val="536675"/>
                </a:solidFill>
                <a:latin typeface="DejaVu Sans"/>
                <a:ea typeface="DejaVu Sans"/>
                <a:cs typeface="DejaVu Sans"/>
              </a:defRPr>
            </a:lvl7pPr>
            <a:lvl8pPr>
              <a:defRPr sz="1725" b="0">
                <a:solidFill>
                  <a:srgbClr val="536675"/>
                </a:solidFill>
                <a:latin typeface="DejaVu Sans"/>
                <a:ea typeface="DejaVu Sans"/>
                <a:cs typeface="DejaVu Sans"/>
              </a:defRPr>
            </a:lvl8pPr>
            <a:lvl9pPr>
              <a:defRPr sz="1725" b="0">
                <a:solidFill>
                  <a:srgbClr val="536675"/>
                </a:solidFill>
                <a:latin typeface="DejaVu Sans"/>
                <a:ea typeface="DejaVu Sans"/>
                <a:cs typeface="DejaVu Sans"/>
              </a:defRPr>
            </a:lvl9pPr>
          </a:lstStyle>
          <a:p xmlns:a="http://schemas.openxmlformats.org/drawingml/2006/main">
            <a:pPr>
              <a:defRPr sz="1725" b="0">
                <a:solidFill>
                  <a:srgbClr val="536675"/>
                </a:solidFill>
                <a:latin typeface="DejaVu Sans"/>
                <a:ea typeface="DejaVu Sans"/>
                <a:cs typeface="DejaVu Sans"/>
              </a:defRPr>
            </a:pPr>
            <a:r>
              <a:rPr sz="1725" b="0">
                <a:solidFill>
                  <a:srgbClr val="536675"/>
                </a:solidFill>
                <a:latin typeface="DejaVu Sans"/>
                <a:ea typeface="DejaVu Sans"/>
                <a:cs typeface="DejaVu Sans"/>
              </a:rPr>
              <a:t>jwt.io permite inspeccionar el token. Bruno comprueba si la API lo acepta.</a:t>
            </a:r>
          </a:p>
        </p:txBody>
      </p:sp>
    </p:spTree>
    <p:extLst>
      <p:ext uri="{BB962C8B-B14F-4D97-AF65-F5344CB8AC3E}">
        <p14:creationId xmlns:p14="http://schemas.microsoft.com/office/powerpoint/2010/main" val="8490130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CA88A6-9DC2-4049-A329-5E7811393A1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C60266D-02A2-491D-81AC-2D34367BE53B}"/>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CU-07 Registrar cliente</a:t>
            </a:r>
          </a:p>
        </p:txBody>
      </p:sp>
      <p:sp>
        <p:nvSpPr>
          <p:cNvPr id="3" name="">
            <a:extLst xmlns:a="http://schemas.openxmlformats.org/drawingml/2006/main">
              <a:ext uri="{FF2B5EF4-FFF2-40B4-BE49-F238E27FC236}">
                <a16:creationId xmlns:a16="http://schemas.microsoft.com/office/drawing/2014/main" id="{4BFAC344-07EB-4664-8447-DB07BFDBDCB0}"/>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B19AF5-3E6B-4698-BEEA-03193E17A656}"/>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2A023D15-4C1E-4E84-A292-4F9663D00028}"/>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09</a:t>
            </a:r>
          </a:p>
        </p:txBody>
      </p:sp>
      <p:sp>
        <p:nvSpPr>
          <p:cNvPr id="6" name="">
            <a:extLst xmlns:a="http://schemas.openxmlformats.org/drawingml/2006/main">
              <a:ext uri="{FF2B5EF4-FFF2-40B4-BE49-F238E27FC236}">
                <a16:creationId xmlns:a16="http://schemas.microsoft.com/office/drawing/2014/main" id="{099D2828-A866-48CB-81B8-678878B33D52}"/>
              </a:ext>
            </a:extLst>
          </p:cNvPr>
          <p:cNvSpPr>
            <a:spLocks xmlns:a="http://schemas.openxmlformats.org/drawingml/2006/main" noGrp="1"/>
          </p:cNvSpPr>
          <p:nvPr/>
        </p:nvSpPr>
        <p:spPr>
          <a:xfrm xmlns:a="http://schemas.openxmlformats.org/drawingml/2006/main">
            <a:off x="609600" y="14954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00A58E"/>
                </a:solidFill>
                <a:latin typeface="DejaVu Sans"/>
                <a:ea typeface="DejaVu Sans"/>
                <a:cs typeface="DejaVu Sans"/>
              </a:defRPr>
            </a:defPPr>
            <a:lvl1pPr>
              <a:defRPr sz="1875" b="1">
                <a:solidFill>
                  <a:srgbClr val="00A58E"/>
                </a:solidFill>
                <a:latin typeface="DejaVu Sans"/>
                <a:ea typeface="DejaVu Sans"/>
                <a:cs typeface="DejaVu Sans"/>
              </a:defRPr>
            </a:lvl1pPr>
            <a:lvl2pPr>
              <a:defRPr sz="1875" b="1">
                <a:solidFill>
                  <a:srgbClr val="00A58E"/>
                </a:solidFill>
                <a:latin typeface="DejaVu Sans"/>
                <a:ea typeface="DejaVu Sans"/>
                <a:cs typeface="DejaVu Sans"/>
              </a:defRPr>
            </a:lvl2pPr>
            <a:lvl3pPr>
              <a:defRPr sz="1875" b="1">
                <a:solidFill>
                  <a:srgbClr val="00A58E"/>
                </a:solidFill>
                <a:latin typeface="DejaVu Sans"/>
                <a:ea typeface="DejaVu Sans"/>
                <a:cs typeface="DejaVu Sans"/>
              </a:defRPr>
            </a:lvl3pPr>
            <a:lvl4pPr>
              <a:defRPr sz="1875" b="1">
                <a:solidFill>
                  <a:srgbClr val="00A58E"/>
                </a:solidFill>
                <a:latin typeface="DejaVu Sans"/>
                <a:ea typeface="DejaVu Sans"/>
                <a:cs typeface="DejaVu Sans"/>
              </a:defRPr>
            </a:lvl4pPr>
            <a:lvl5pPr>
              <a:defRPr sz="1875" b="1">
                <a:solidFill>
                  <a:srgbClr val="00A58E"/>
                </a:solidFill>
                <a:latin typeface="DejaVu Sans"/>
                <a:ea typeface="DejaVu Sans"/>
                <a:cs typeface="DejaVu Sans"/>
              </a:defRPr>
            </a:lvl5pPr>
            <a:lvl6pPr>
              <a:defRPr sz="1875" b="1">
                <a:solidFill>
                  <a:srgbClr val="00A58E"/>
                </a:solidFill>
                <a:latin typeface="DejaVu Sans"/>
                <a:ea typeface="DejaVu Sans"/>
                <a:cs typeface="DejaVu Sans"/>
              </a:defRPr>
            </a:lvl6pPr>
            <a:lvl7pPr>
              <a:defRPr sz="1875" b="1">
                <a:solidFill>
                  <a:srgbClr val="00A58E"/>
                </a:solidFill>
                <a:latin typeface="DejaVu Sans"/>
                <a:ea typeface="DejaVu Sans"/>
                <a:cs typeface="DejaVu Sans"/>
              </a:defRPr>
            </a:lvl7pPr>
            <a:lvl8pPr>
              <a:defRPr sz="1875" b="1">
                <a:solidFill>
                  <a:srgbClr val="00A58E"/>
                </a:solidFill>
                <a:latin typeface="DejaVu Sans"/>
                <a:ea typeface="DejaVu Sans"/>
                <a:cs typeface="DejaVu Sans"/>
              </a:defRPr>
            </a:lvl8pPr>
            <a:lvl9pPr>
              <a:defRPr sz="1875" b="1">
                <a:solidFill>
                  <a:srgbClr val="00A58E"/>
                </a:solidFill>
                <a:latin typeface="DejaVu Sans"/>
                <a:ea typeface="DejaVu Sans"/>
                <a:cs typeface="DejaVu Sans"/>
              </a:defRPr>
            </a:lvl9pPr>
          </a:lstStyle>
          <a:p xmlns:a="http://schemas.openxmlformats.org/drawingml/2006/main">
            <a:pPr>
              <a:defRPr sz="1875" b="1">
                <a:solidFill>
                  <a:srgbClr val="00A58E"/>
                </a:solidFill>
                <a:latin typeface="DejaVu Sans"/>
                <a:ea typeface="DejaVu Sans"/>
                <a:cs typeface="DejaVu Sans"/>
              </a:defRPr>
            </a:pPr>
            <a:r>
              <a:rPr sz="1875" b="1">
                <a:solidFill>
                  <a:srgbClr val="00A58E"/>
                </a:solidFill>
                <a:latin typeface="DejaVu Sans"/>
                <a:ea typeface="DejaVu Sans"/>
                <a:cs typeface="DejaVu Sans"/>
              </a:rPr>
              <a:t>RF-01 / CU-07</a:t>
            </a:r>
          </a:p>
        </p:txBody>
      </p:sp>
      <p:sp>
        <p:nvSpPr>
          <p:cNvPr id="7" name="">
            <a:extLst xmlns:a="http://schemas.openxmlformats.org/drawingml/2006/main">
              <a:ext uri="{FF2B5EF4-FFF2-40B4-BE49-F238E27FC236}">
                <a16:creationId xmlns:a16="http://schemas.microsoft.com/office/drawing/2014/main" id="{E6771459-9D38-46F8-9DE9-995D34F460CE}"/>
              </a:ext>
            </a:extLst>
          </p:cNvPr>
          <p:cNvSpPr>
            <a:spLocks xmlns:a="http://schemas.openxmlformats.org/drawingml/2006/main" noGrp="1"/>
          </p:cNvSpPr>
          <p:nvPr/>
        </p:nvSpPr>
        <p:spPr>
          <a:xfrm xmlns:a="http://schemas.openxmlformats.org/drawingml/2006/main">
            <a:off x="609600" y="2247900"/>
            <a:ext cx="5191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7384A"/>
                </a:solidFill>
                <a:latin typeface="DejaVu Sans"/>
                <a:ea typeface="DejaVu Sans"/>
                <a:cs typeface="DejaVu Sans"/>
              </a:defRPr>
            </a:defPPr>
            <a:lvl1pPr>
              <a:defRPr sz="2400" b="1">
                <a:solidFill>
                  <a:srgbClr val="17384A"/>
                </a:solidFill>
                <a:latin typeface="DejaVu Sans"/>
                <a:ea typeface="DejaVu Sans"/>
                <a:cs typeface="DejaVu Sans"/>
              </a:defRPr>
            </a:lvl1pPr>
            <a:lvl2pPr>
              <a:defRPr sz="2400" b="1">
                <a:solidFill>
                  <a:srgbClr val="17384A"/>
                </a:solidFill>
                <a:latin typeface="DejaVu Sans"/>
                <a:ea typeface="DejaVu Sans"/>
                <a:cs typeface="DejaVu Sans"/>
              </a:defRPr>
            </a:lvl2pPr>
            <a:lvl3pPr>
              <a:defRPr sz="2400" b="1">
                <a:solidFill>
                  <a:srgbClr val="17384A"/>
                </a:solidFill>
                <a:latin typeface="DejaVu Sans"/>
                <a:ea typeface="DejaVu Sans"/>
                <a:cs typeface="DejaVu Sans"/>
              </a:defRPr>
            </a:lvl3pPr>
            <a:lvl4pPr>
              <a:defRPr sz="2400" b="1">
                <a:solidFill>
                  <a:srgbClr val="17384A"/>
                </a:solidFill>
                <a:latin typeface="DejaVu Sans"/>
                <a:ea typeface="DejaVu Sans"/>
                <a:cs typeface="DejaVu Sans"/>
              </a:defRPr>
            </a:lvl4pPr>
            <a:lvl5pPr>
              <a:defRPr sz="2400" b="1">
                <a:solidFill>
                  <a:srgbClr val="17384A"/>
                </a:solidFill>
                <a:latin typeface="DejaVu Sans"/>
                <a:ea typeface="DejaVu Sans"/>
                <a:cs typeface="DejaVu Sans"/>
              </a:defRPr>
            </a:lvl5pPr>
            <a:lvl6pPr>
              <a:defRPr sz="2400" b="1">
                <a:solidFill>
                  <a:srgbClr val="17384A"/>
                </a:solidFill>
                <a:latin typeface="DejaVu Sans"/>
                <a:ea typeface="DejaVu Sans"/>
                <a:cs typeface="DejaVu Sans"/>
              </a:defRPr>
            </a:lvl6pPr>
            <a:lvl7pPr>
              <a:defRPr sz="2400" b="1">
                <a:solidFill>
                  <a:srgbClr val="17384A"/>
                </a:solidFill>
                <a:latin typeface="DejaVu Sans"/>
                <a:ea typeface="DejaVu Sans"/>
                <a:cs typeface="DejaVu Sans"/>
              </a:defRPr>
            </a:lvl7pPr>
            <a:lvl8pPr>
              <a:defRPr sz="2400" b="1">
                <a:solidFill>
                  <a:srgbClr val="17384A"/>
                </a:solidFill>
                <a:latin typeface="DejaVu Sans"/>
                <a:ea typeface="DejaVu Sans"/>
                <a:cs typeface="DejaVu Sans"/>
              </a:defRPr>
            </a:lvl8pPr>
            <a:lvl9pPr>
              <a:defRPr sz="2400" b="1">
                <a:solidFill>
                  <a:srgbClr val="17384A"/>
                </a:solidFill>
                <a:latin typeface="DejaVu Sans"/>
                <a:ea typeface="DejaVu Sans"/>
                <a:cs typeface="DejaVu Sans"/>
              </a:defRPr>
            </a:lvl9pPr>
          </a:lstStyle>
          <a:p xmlns:a="http://schemas.openxmlformats.org/drawingml/2006/main">
            <a:pPr>
              <a:defRPr sz="2400" b="1">
                <a:solidFill>
                  <a:srgbClr val="17384A"/>
                </a:solidFill>
                <a:latin typeface="DejaVu Sans"/>
                <a:ea typeface="DejaVu Sans"/>
                <a:cs typeface="DejaVu Sans"/>
              </a:defRPr>
            </a:pPr>
            <a:r>
              <a:rPr sz="2400" b="1">
                <a:solidFill>
                  <a:srgbClr val="17384A"/>
                </a:solidFill>
                <a:latin typeface="DejaVu Sans"/>
                <a:ea typeface="DejaVu Sans"/>
                <a:cs typeface="DejaVu Sans"/>
              </a:rPr>
              <a:t>Correo único, campos obligatorios y rol Cliente</a:t>
            </a:r>
          </a:p>
        </p:txBody>
      </p:sp>
      <p:sp>
        <p:nvSpPr>
          <p:cNvPr id="8" name="">
            <a:extLst xmlns:a="http://schemas.openxmlformats.org/drawingml/2006/main">
              <a:ext uri="{FF2B5EF4-FFF2-40B4-BE49-F238E27FC236}">
                <a16:creationId xmlns:a16="http://schemas.microsoft.com/office/drawing/2014/main" id="{42D2DD6F-4214-45F2-AFD8-6056990B3E26}"/>
              </a:ext>
            </a:extLst>
          </p:cNvPr>
          <p:cNvSpPr>
            <a:spLocks xmlns:a="http://schemas.openxmlformats.org/drawingml/2006/main" noGrp="1"/>
          </p:cNvSpPr>
          <p:nvPr/>
        </p:nvSpPr>
        <p:spPr>
          <a:xfrm xmlns:a="http://schemas.openxmlformats.org/drawingml/2006/main">
            <a:off x="609600" y="5133975"/>
            <a:ext cx="5191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A58E"/>
                </a:solidFill>
                <a:latin typeface="DejaVu Sans"/>
                <a:ea typeface="DejaVu Sans"/>
                <a:cs typeface="DejaVu Sans"/>
              </a:defRPr>
            </a:defPPr>
            <a:lvl1pPr>
              <a:defRPr sz="2250" b="1">
                <a:solidFill>
                  <a:srgbClr val="00A58E"/>
                </a:solidFill>
                <a:latin typeface="DejaVu Sans"/>
                <a:ea typeface="DejaVu Sans"/>
                <a:cs typeface="DejaVu Sans"/>
              </a:defRPr>
            </a:lvl1pPr>
            <a:lvl2pPr>
              <a:defRPr sz="2250" b="1">
                <a:solidFill>
                  <a:srgbClr val="00A58E"/>
                </a:solidFill>
                <a:latin typeface="DejaVu Sans"/>
                <a:ea typeface="DejaVu Sans"/>
                <a:cs typeface="DejaVu Sans"/>
              </a:defRPr>
            </a:lvl2pPr>
            <a:lvl3pPr>
              <a:defRPr sz="2250" b="1">
                <a:solidFill>
                  <a:srgbClr val="00A58E"/>
                </a:solidFill>
                <a:latin typeface="DejaVu Sans"/>
                <a:ea typeface="DejaVu Sans"/>
                <a:cs typeface="DejaVu Sans"/>
              </a:defRPr>
            </a:lvl3pPr>
            <a:lvl4pPr>
              <a:defRPr sz="2250" b="1">
                <a:solidFill>
                  <a:srgbClr val="00A58E"/>
                </a:solidFill>
                <a:latin typeface="DejaVu Sans"/>
                <a:ea typeface="DejaVu Sans"/>
                <a:cs typeface="DejaVu Sans"/>
              </a:defRPr>
            </a:lvl4pPr>
            <a:lvl5pPr>
              <a:defRPr sz="2250" b="1">
                <a:solidFill>
                  <a:srgbClr val="00A58E"/>
                </a:solidFill>
                <a:latin typeface="DejaVu Sans"/>
                <a:ea typeface="DejaVu Sans"/>
                <a:cs typeface="DejaVu Sans"/>
              </a:defRPr>
            </a:lvl5pPr>
            <a:lvl6pPr>
              <a:defRPr sz="2250" b="1">
                <a:solidFill>
                  <a:srgbClr val="00A58E"/>
                </a:solidFill>
                <a:latin typeface="DejaVu Sans"/>
                <a:ea typeface="DejaVu Sans"/>
                <a:cs typeface="DejaVu Sans"/>
              </a:defRPr>
            </a:lvl6pPr>
            <a:lvl7pPr>
              <a:defRPr sz="2250" b="1">
                <a:solidFill>
                  <a:srgbClr val="00A58E"/>
                </a:solidFill>
                <a:latin typeface="DejaVu Sans"/>
                <a:ea typeface="DejaVu Sans"/>
                <a:cs typeface="DejaVu Sans"/>
              </a:defRPr>
            </a:lvl7pPr>
            <a:lvl8pPr>
              <a:defRPr sz="2250" b="1">
                <a:solidFill>
                  <a:srgbClr val="00A58E"/>
                </a:solidFill>
                <a:latin typeface="DejaVu Sans"/>
                <a:ea typeface="DejaVu Sans"/>
                <a:cs typeface="DejaVu Sans"/>
              </a:defRPr>
            </a:lvl8pPr>
            <a:lvl9pPr>
              <a:defRPr sz="2250" b="1">
                <a:solidFill>
                  <a:srgbClr val="00A58E"/>
                </a:solidFill>
                <a:latin typeface="DejaVu Sans"/>
                <a:ea typeface="DejaVu Sans"/>
                <a:cs typeface="DejaVu Sans"/>
              </a:defRPr>
            </a:lvl9pPr>
          </a:lstStyle>
          <a:p xmlns:a="http://schemas.openxmlformats.org/drawingml/2006/main">
            <a:pPr>
              <a:defRPr sz="2250" b="1">
                <a:solidFill>
                  <a:srgbClr val="00A58E"/>
                </a:solidFill>
                <a:latin typeface="DejaVu Sans"/>
                <a:ea typeface="DejaVu Sans"/>
                <a:cs typeface="DejaVu Sans"/>
              </a:defRPr>
            </a:pPr>
            <a:r>
              <a:rPr sz="2250" b="1">
                <a:solidFill>
                  <a:srgbClr val="00A58E"/>
                </a:solidFill>
                <a:latin typeface="DejaVu Sans"/>
                <a:ea typeface="DejaVu Sans"/>
                <a:cs typeface="DejaVu Sans"/>
              </a:rPr>
              <a:t>201 Created</a:t>
            </a:r>
          </a:p>
        </p:txBody>
      </p:sp>
      <p:sp>
        <p:nvSpPr>
          <p:cNvPr id="9" name="">
            <a:extLst xmlns:a="http://schemas.openxmlformats.org/drawingml/2006/main">
              <a:ext uri="{FF2B5EF4-FFF2-40B4-BE49-F238E27FC236}">
                <a16:creationId xmlns:a16="http://schemas.microsoft.com/office/drawing/2014/main" id="{0430DBE5-F3AA-41F5-AC30-6E7FCF3FB9E3}"/>
              </a:ext>
            </a:extLst>
          </p:cNvPr>
          <p:cNvSpPr>
            <a:spLocks xmlns:a="http://schemas.openxmlformats.org/drawingml/2006/main" noGrp="1"/>
          </p:cNvSpPr>
          <p:nvPr/>
        </p:nvSpPr>
        <p:spPr>
          <a:xfrm xmlns:a="http://schemas.openxmlformats.org/drawingml/2006/main">
            <a:off x="6400800" y="1714500"/>
            <a:ext cx="5191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12B3C"/>
                </a:solidFill>
                <a:latin typeface="DejaVu Sans"/>
                <a:ea typeface="DejaVu Sans"/>
                <a:cs typeface="DejaVu Sans"/>
              </a:defRPr>
            </a:defPPr>
            <a:lvl1pPr>
              <a:defRPr sz="1950" b="1">
                <a:solidFill>
                  <a:srgbClr val="112B3C"/>
                </a:solidFill>
                <a:latin typeface="DejaVu Sans"/>
                <a:ea typeface="DejaVu Sans"/>
                <a:cs typeface="DejaVu Sans"/>
              </a:defRPr>
            </a:lvl1pPr>
            <a:lvl2pPr>
              <a:defRPr sz="1950" b="1">
                <a:solidFill>
                  <a:srgbClr val="112B3C"/>
                </a:solidFill>
                <a:latin typeface="DejaVu Sans"/>
                <a:ea typeface="DejaVu Sans"/>
                <a:cs typeface="DejaVu Sans"/>
              </a:defRPr>
            </a:lvl2pPr>
            <a:lvl3pPr>
              <a:defRPr sz="1950" b="1">
                <a:solidFill>
                  <a:srgbClr val="112B3C"/>
                </a:solidFill>
                <a:latin typeface="DejaVu Sans"/>
                <a:ea typeface="DejaVu Sans"/>
                <a:cs typeface="DejaVu Sans"/>
              </a:defRPr>
            </a:lvl3pPr>
            <a:lvl4pPr>
              <a:defRPr sz="1950" b="1">
                <a:solidFill>
                  <a:srgbClr val="112B3C"/>
                </a:solidFill>
                <a:latin typeface="DejaVu Sans"/>
                <a:ea typeface="DejaVu Sans"/>
                <a:cs typeface="DejaVu Sans"/>
              </a:defRPr>
            </a:lvl4pPr>
            <a:lvl5pPr>
              <a:defRPr sz="1950" b="1">
                <a:solidFill>
                  <a:srgbClr val="112B3C"/>
                </a:solidFill>
                <a:latin typeface="DejaVu Sans"/>
                <a:ea typeface="DejaVu Sans"/>
                <a:cs typeface="DejaVu Sans"/>
              </a:defRPr>
            </a:lvl5pPr>
            <a:lvl6pPr>
              <a:defRPr sz="1950" b="1">
                <a:solidFill>
                  <a:srgbClr val="112B3C"/>
                </a:solidFill>
                <a:latin typeface="DejaVu Sans"/>
                <a:ea typeface="DejaVu Sans"/>
                <a:cs typeface="DejaVu Sans"/>
              </a:defRPr>
            </a:lvl6pPr>
            <a:lvl7pPr>
              <a:defRPr sz="1950" b="1">
                <a:solidFill>
                  <a:srgbClr val="112B3C"/>
                </a:solidFill>
                <a:latin typeface="DejaVu Sans"/>
                <a:ea typeface="DejaVu Sans"/>
                <a:cs typeface="DejaVu Sans"/>
              </a:defRPr>
            </a:lvl7pPr>
            <a:lvl8pPr>
              <a:defRPr sz="1950" b="1">
                <a:solidFill>
                  <a:srgbClr val="112B3C"/>
                </a:solidFill>
                <a:latin typeface="DejaVu Sans"/>
                <a:ea typeface="DejaVu Sans"/>
                <a:cs typeface="DejaVu Sans"/>
              </a:defRPr>
            </a:lvl8pPr>
            <a:lvl9pPr>
              <a:defRPr sz="1950" b="1">
                <a:solidFill>
                  <a:srgbClr val="112B3C"/>
                </a:solidFill>
                <a:latin typeface="DejaVu Sans"/>
                <a:ea typeface="DejaVu Sans"/>
                <a:cs typeface="DejaVu Sans"/>
              </a:defRPr>
            </a:lvl9pPr>
          </a:lstStyle>
          <a:p xmlns:a="http://schemas.openxmlformats.org/drawingml/2006/main">
            <a:pPr>
              <a:defRPr sz="1950" b="1">
                <a:solidFill>
                  <a:srgbClr val="112B3C"/>
                </a:solidFill>
                <a:latin typeface="DejaVu Sans"/>
                <a:ea typeface="DejaVu Sans"/>
                <a:cs typeface="DejaVu Sans"/>
              </a:defRPr>
            </a:pPr>
            <a:r>
              <a:rPr sz="1950" b="1">
                <a:solidFill>
                  <a:srgbClr val="112B3C"/>
                </a:solidFill>
                <a:latin typeface="DejaVu Sans"/>
                <a:ea typeface="DejaVu Sans"/>
                <a:cs typeface="DejaVu Sans"/>
              </a:rPr>
              <a:t>POST /api/auth/registro</a:t>
            </a:r>
          </a:p>
        </p:txBody>
      </p:sp>
      <p:sp>
        <p:nvSpPr>
          <p:cNvPr id="10" name="">
            <a:extLst xmlns:a="http://schemas.openxmlformats.org/drawingml/2006/main">
              <a:ext uri="{FF2B5EF4-FFF2-40B4-BE49-F238E27FC236}">
                <a16:creationId xmlns:a16="http://schemas.microsoft.com/office/drawing/2014/main" id="{0781B8C8-4D55-49BA-9764-B6FAFF874200}"/>
              </a:ext>
            </a:extLst>
          </p:cNvPr>
          <p:cNvSpPr>
            <a:spLocks xmlns:a="http://schemas.openxmlformats.org/drawingml/2006/main" noGrp="1"/>
          </p:cNvSpPr>
          <p:nvPr/>
        </p:nvSpPr>
        <p:spPr>
          <a:xfrm xmlns:a="http://schemas.openxmlformats.org/drawingml/2006/main">
            <a:off x="6400800" y="2552700"/>
            <a:ext cx="5181600" cy="190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DBA2F51-3827-455A-A17A-A0A11A24BA5F}"/>
              </a:ext>
            </a:extLst>
          </p:cNvPr>
          <p:cNvSpPr>
            <a:spLocks xmlns:a="http://schemas.openxmlformats.org/drawingml/2006/main" noGrp="1"/>
          </p:cNvSpPr>
          <p:nvPr/>
        </p:nvSpPr>
        <p:spPr>
          <a:xfrm xmlns:a="http://schemas.openxmlformats.org/drawingml/2006/main">
            <a:off x="6457950" y="2943225"/>
            <a:ext cx="5048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7384A"/>
                </a:solidFill>
                <a:latin typeface="DejaVu Sans Mono"/>
                <a:ea typeface="DejaVu Sans Mono"/>
                <a:cs typeface="DejaVu Sans Mono"/>
              </a:defRPr>
            </a:defPPr>
            <a:lvl1pPr>
              <a:defRPr sz="1650" b="0">
                <a:solidFill>
                  <a:srgbClr val="17384A"/>
                </a:solidFill>
                <a:latin typeface="DejaVu Sans Mono"/>
                <a:ea typeface="DejaVu Sans Mono"/>
                <a:cs typeface="DejaVu Sans Mono"/>
              </a:defRPr>
            </a:lvl1pPr>
            <a:lvl2pPr>
              <a:defRPr sz="1650" b="0">
                <a:solidFill>
                  <a:srgbClr val="17384A"/>
                </a:solidFill>
                <a:latin typeface="DejaVu Sans Mono"/>
                <a:ea typeface="DejaVu Sans Mono"/>
                <a:cs typeface="DejaVu Sans Mono"/>
              </a:defRPr>
            </a:lvl2pPr>
            <a:lvl3pPr>
              <a:defRPr sz="1650" b="0">
                <a:solidFill>
                  <a:srgbClr val="17384A"/>
                </a:solidFill>
                <a:latin typeface="DejaVu Sans Mono"/>
                <a:ea typeface="DejaVu Sans Mono"/>
                <a:cs typeface="DejaVu Sans Mono"/>
              </a:defRPr>
            </a:lvl3pPr>
            <a:lvl4pPr>
              <a:defRPr sz="1650" b="0">
                <a:solidFill>
                  <a:srgbClr val="17384A"/>
                </a:solidFill>
                <a:latin typeface="DejaVu Sans Mono"/>
                <a:ea typeface="DejaVu Sans Mono"/>
                <a:cs typeface="DejaVu Sans Mono"/>
              </a:defRPr>
            </a:lvl4pPr>
            <a:lvl5pPr>
              <a:defRPr sz="1650" b="0">
                <a:solidFill>
                  <a:srgbClr val="17384A"/>
                </a:solidFill>
                <a:latin typeface="DejaVu Sans Mono"/>
                <a:ea typeface="DejaVu Sans Mono"/>
                <a:cs typeface="DejaVu Sans Mono"/>
              </a:defRPr>
            </a:lvl5pPr>
            <a:lvl6pPr>
              <a:defRPr sz="1650" b="0">
                <a:solidFill>
                  <a:srgbClr val="17384A"/>
                </a:solidFill>
                <a:latin typeface="DejaVu Sans Mono"/>
                <a:ea typeface="DejaVu Sans Mono"/>
                <a:cs typeface="DejaVu Sans Mono"/>
              </a:defRPr>
            </a:lvl6pPr>
            <a:lvl7pPr>
              <a:defRPr sz="1650" b="0">
                <a:solidFill>
                  <a:srgbClr val="17384A"/>
                </a:solidFill>
                <a:latin typeface="DejaVu Sans Mono"/>
                <a:ea typeface="DejaVu Sans Mono"/>
                <a:cs typeface="DejaVu Sans Mono"/>
              </a:defRPr>
            </a:lvl7pPr>
            <a:lvl8pPr>
              <a:defRPr sz="1650" b="0">
                <a:solidFill>
                  <a:srgbClr val="17384A"/>
                </a:solidFill>
                <a:latin typeface="DejaVu Sans Mono"/>
                <a:ea typeface="DejaVu Sans Mono"/>
                <a:cs typeface="DejaVu Sans Mono"/>
              </a:defRPr>
            </a:lvl8pPr>
            <a:lvl9pPr>
              <a:defRPr sz="1650" b="0">
                <a:solidFill>
                  <a:srgbClr val="17384A"/>
                </a:solidFill>
                <a:latin typeface="DejaVu Sans Mono"/>
                <a:ea typeface="DejaVu Sans Mono"/>
                <a:cs typeface="DejaVu Sans Mono"/>
              </a:defRPr>
            </a:lvl9pPr>
          </a:lstStyle>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"nombre": "  Ana  ",</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"apellido": "Prueba",</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"email": "demo@example.test",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"password": "&lt;clave elegida&gt;"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p:txBody>
      </p:sp>
      <p:sp>
        <p:nvSpPr>
          <p:cNvPr id="12" name="">
            <a:extLst xmlns:a="http://schemas.openxmlformats.org/drawingml/2006/main">
              <a:ext uri="{FF2B5EF4-FFF2-40B4-BE49-F238E27FC236}">
                <a16:creationId xmlns:a16="http://schemas.microsoft.com/office/drawing/2014/main" id="{5DD0E81B-C731-4C03-973F-13CFA9C84F25}"/>
              </a:ext>
            </a:extLst>
          </p:cNvPr>
          <p:cNvSpPr>
            <a:spLocks xmlns:a="http://schemas.openxmlformats.org/drawingml/2006/main" noGrp="1"/>
          </p:cNvSpPr>
          <p:nvPr/>
        </p:nvSpPr>
        <p:spPr>
          <a:xfrm xmlns:a="http://schemas.openxmlformats.org/drawingml/2006/main">
            <a:off x="6457950" y="5419725"/>
            <a:ext cx="5048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536675"/>
                </a:solidFill>
                <a:latin typeface="DejaVu Sans"/>
                <a:ea typeface="DejaVu Sans"/>
                <a:cs typeface="DejaVu Sans"/>
              </a:defRPr>
            </a:defPPr>
            <a:lvl1pPr>
              <a:defRPr sz="1275" b="0">
                <a:solidFill>
                  <a:srgbClr val="536675"/>
                </a:solidFill>
                <a:latin typeface="DejaVu Sans"/>
                <a:ea typeface="DejaVu Sans"/>
                <a:cs typeface="DejaVu Sans"/>
              </a:defRPr>
            </a:lvl1pPr>
            <a:lvl2pPr>
              <a:defRPr sz="1275" b="0">
                <a:solidFill>
                  <a:srgbClr val="536675"/>
                </a:solidFill>
                <a:latin typeface="DejaVu Sans"/>
                <a:ea typeface="DejaVu Sans"/>
                <a:cs typeface="DejaVu Sans"/>
              </a:defRPr>
            </a:lvl2pPr>
            <a:lvl3pPr>
              <a:defRPr sz="1275" b="0">
                <a:solidFill>
                  <a:srgbClr val="536675"/>
                </a:solidFill>
                <a:latin typeface="DejaVu Sans"/>
                <a:ea typeface="DejaVu Sans"/>
                <a:cs typeface="DejaVu Sans"/>
              </a:defRPr>
            </a:lvl3pPr>
            <a:lvl4pPr>
              <a:defRPr sz="1275" b="0">
                <a:solidFill>
                  <a:srgbClr val="536675"/>
                </a:solidFill>
                <a:latin typeface="DejaVu Sans"/>
                <a:ea typeface="DejaVu Sans"/>
                <a:cs typeface="DejaVu Sans"/>
              </a:defRPr>
            </a:lvl4pPr>
            <a:lvl5pPr>
              <a:defRPr sz="1275" b="0">
                <a:solidFill>
                  <a:srgbClr val="536675"/>
                </a:solidFill>
                <a:latin typeface="DejaVu Sans"/>
                <a:ea typeface="DejaVu Sans"/>
                <a:cs typeface="DejaVu Sans"/>
              </a:defRPr>
            </a:lvl5pPr>
            <a:lvl6pPr>
              <a:defRPr sz="1275" b="0">
                <a:solidFill>
                  <a:srgbClr val="536675"/>
                </a:solidFill>
                <a:latin typeface="DejaVu Sans"/>
                <a:ea typeface="DejaVu Sans"/>
                <a:cs typeface="DejaVu Sans"/>
              </a:defRPr>
            </a:lvl6pPr>
            <a:lvl7pPr>
              <a:defRPr sz="1275" b="0">
                <a:solidFill>
                  <a:srgbClr val="536675"/>
                </a:solidFill>
                <a:latin typeface="DejaVu Sans"/>
                <a:ea typeface="DejaVu Sans"/>
                <a:cs typeface="DejaVu Sans"/>
              </a:defRPr>
            </a:lvl7pPr>
            <a:lvl8pPr>
              <a:defRPr sz="1275" b="0">
                <a:solidFill>
                  <a:srgbClr val="536675"/>
                </a:solidFill>
                <a:latin typeface="DejaVu Sans"/>
                <a:ea typeface="DejaVu Sans"/>
                <a:cs typeface="DejaVu Sans"/>
              </a:defRPr>
            </a:lvl8pPr>
            <a:lvl9pPr>
              <a:defRPr sz="1275" b="0">
                <a:solidFill>
                  <a:srgbClr val="536675"/>
                </a:solidFill>
                <a:latin typeface="DejaVu Sans"/>
                <a:ea typeface="DejaVu Sans"/>
                <a:cs typeface="DejaVu Sans"/>
              </a:defRPr>
            </a:lvl9pPr>
          </a:lstStyle>
          <a:p xmlns:a="http://schemas.openxmlformats.org/drawingml/2006/main">
            <a:pPr>
              <a:defRPr sz="1275" b="0">
                <a:solidFill>
                  <a:srgbClr val="536675"/>
                </a:solidFill>
                <a:latin typeface="DejaVu Sans"/>
                <a:ea typeface="DejaVu Sans"/>
                <a:cs typeface="DejaVu Sans"/>
              </a:defRPr>
            </a:pPr>
            <a:r>
              <a:rPr sz="1275" b="0">
                <a:solidFill>
                  <a:srgbClr val="536675"/>
                </a:solidFill>
                <a:latin typeface="DejaVu Sans"/>
                <a:ea typeface="DejaVu Sans"/>
                <a:cs typeface="DejaVu Sans"/>
              </a:rPr>
              <a:t>BusinessLogic/Services/AuthService.cs</a:t>
            </a:r>
          </a:p>
        </p:txBody>
      </p:sp>
    </p:spTree>
    <p:extLst>
      <p:ext uri="{BB962C8B-B14F-4D97-AF65-F5344CB8AC3E}">
        <p14:creationId xmlns:p14="http://schemas.microsoft.com/office/powerpoint/2010/main" val="179326497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3F9C83D-BE17-476A-88B0-300525DD3637}"/>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08331FA-E532-4ECD-B584-56A9D6225510}"/>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CU-01 Solicitar turno</a:t>
            </a:r>
          </a:p>
        </p:txBody>
      </p:sp>
      <p:sp>
        <p:nvSpPr>
          <p:cNvPr id="3" name="">
            <a:extLst xmlns:a="http://schemas.openxmlformats.org/drawingml/2006/main">
              <a:ext uri="{FF2B5EF4-FFF2-40B4-BE49-F238E27FC236}">
                <a16:creationId xmlns:a16="http://schemas.microsoft.com/office/drawing/2014/main" id="{C3B84796-1649-4B64-A948-7F5EF374E0EA}"/>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58774D-D1E9-4673-98BC-3ECC71F44F52}"/>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9C923459-876C-4D05-808B-632F297E18E9}"/>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10</a:t>
            </a:r>
          </a:p>
        </p:txBody>
      </p:sp>
      <p:sp>
        <p:nvSpPr>
          <p:cNvPr id="6" name="">
            <a:extLst xmlns:a="http://schemas.openxmlformats.org/drawingml/2006/main">
              <a:ext uri="{FF2B5EF4-FFF2-40B4-BE49-F238E27FC236}">
                <a16:creationId xmlns:a16="http://schemas.microsoft.com/office/drawing/2014/main" id="{AD2BA9D1-2549-441B-8812-E2D63B4C4654}"/>
              </a:ext>
            </a:extLst>
          </p:cNvPr>
          <p:cNvSpPr>
            <a:spLocks xmlns:a="http://schemas.openxmlformats.org/drawingml/2006/main" noGrp="1"/>
          </p:cNvSpPr>
          <p:nvPr/>
        </p:nvSpPr>
        <p:spPr>
          <a:xfrm xmlns:a="http://schemas.openxmlformats.org/drawingml/2006/main">
            <a:off x="609600" y="14954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00A58E"/>
                </a:solidFill>
                <a:latin typeface="DejaVu Sans"/>
                <a:ea typeface="DejaVu Sans"/>
                <a:cs typeface="DejaVu Sans"/>
              </a:defRPr>
            </a:defPPr>
            <a:lvl1pPr>
              <a:defRPr sz="1875" b="1">
                <a:solidFill>
                  <a:srgbClr val="00A58E"/>
                </a:solidFill>
                <a:latin typeface="DejaVu Sans"/>
                <a:ea typeface="DejaVu Sans"/>
                <a:cs typeface="DejaVu Sans"/>
              </a:defRPr>
            </a:lvl1pPr>
            <a:lvl2pPr>
              <a:defRPr sz="1875" b="1">
                <a:solidFill>
                  <a:srgbClr val="00A58E"/>
                </a:solidFill>
                <a:latin typeface="DejaVu Sans"/>
                <a:ea typeface="DejaVu Sans"/>
                <a:cs typeface="DejaVu Sans"/>
              </a:defRPr>
            </a:lvl2pPr>
            <a:lvl3pPr>
              <a:defRPr sz="1875" b="1">
                <a:solidFill>
                  <a:srgbClr val="00A58E"/>
                </a:solidFill>
                <a:latin typeface="DejaVu Sans"/>
                <a:ea typeface="DejaVu Sans"/>
                <a:cs typeface="DejaVu Sans"/>
              </a:defRPr>
            </a:lvl3pPr>
            <a:lvl4pPr>
              <a:defRPr sz="1875" b="1">
                <a:solidFill>
                  <a:srgbClr val="00A58E"/>
                </a:solidFill>
                <a:latin typeface="DejaVu Sans"/>
                <a:ea typeface="DejaVu Sans"/>
                <a:cs typeface="DejaVu Sans"/>
              </a:defRPr>
            </a:lvl4pPr>
            <a:lvl5pPr>
              <a:defRPr sz="1875" b="1">
                <a:solidFill>
                  <a:srgbClr val="00A58E"/>
                </a:solidFill>
                <a:latin typeface="DejaVu Sans"/>
                <a:ea typeface="DejaVu Sans"/>
                <a:cs typeface="DejaVu Sans"/>
              </a:defRPr>
            </a:lvl5pPr>
            <a:lvl6pPr>
              <a:defRPr sz="1875" b="1">
                <a:solidFill>
                  <a:srgbClr val="00A58E"/>
                </a:solidFill>
                <a:latin typeface="DejaVu Sans"/>
                <a:ea typeface="DejaVu Sans"/>
                <a:cs typeface="DejaVu Sans"/>
              </a:defRPr>
            </a:lvl6pPr>
            <a:lvl7pPr>
              <a:defRPr sz="1875" b="1">
                <a:solidFill>
                  <a:srgbClr val="00A58E"/>
                </a:solidFill>
                <a:latin typeface="DejaVu Sans"/>
                <a:ea typeface="DejaVu Sans"/>
                <a:cs typeface="DejaVu Sans"/>
              </a:defRPr>
            </a:lvl7pPr>
            <a:lvl8pPr>
              <a:defRPr sz="1875" b="1">
                <a:solidFill>
                  <a:srgbClr val="00A58E"/>
                </a:solidFill>
                <a:latin typeface="DejaVu Sans"/>
                <a:ea typeface="DejaVu Sans"/>
                <a:cs typeface="DejaVu Sans"/>
              </a:defRPr>
            </a:lvl8pPr>
            <a:lvl9pPr>
              <a:defRPr sz="1875" b="1">
                <a:solidFill>
                  <a:srgbClr val="00A58E"/>
                </a:solidFill>
                <a:latin typeface="DejaVu Sans"/>
                <a:ea typeface="DejaVu Sans"/>
                <a:cs typeface="DejaVu Sans"/>
              </a:defRPr>
            </a:lvl9pPr>
          </a:lstStyle>
          <a:p xmlns:a="http://schemas.openxmlformats.org/drawingml/2006/main">
            <a:pPr>
              <a:defRPr sz="1875" b="1">
                <a:solidFill>
                  <a:srgbClr val="00A58E"/>
                </a:solidFill>
                <a:latin typeface="DejaVu Sans"/>
                <a:ea typeface="DejaVu Sans"/>
                <a:cs typeface="DejaVu Sans"/>
              </a:defRPr>
            </a:pPr>
            <a:r>
              <a:rPr sz="1875" b="1">
                <a:solidFill>
                  <a:srgbClr val="00A58E"/>
                </a:solidFill>
                <a:latin typeface="DejaVu Sans"/>
                <a:ea typeface="DejaVu Sans"/>
                <a:cs typeface="DejaVu Sans"/>
              </a:rPr>
              <a:t>RF-02 / CU-01 y CU-03</a:t>
            </a:r>
          </a:p>
        </p:txBody>
      </p:sp>
      <p:sp>
        <p:nvSpPr>
          <p:cNvPr id="7" name="">
            <a:extLst xmlns:a="http://schemas.openxmlformats.org/drawingml/2006/main">
              <a:ext uri="{FF2B5EF4-FFF2-40B4-BE49-F238E27FC236}">
                <a16:creationId xmlns:a16="http://schemas.microsoft.com/office/drawing/2014/main" id="{30C46D4E-A1B4-4076-BCAA-BA96933F9CB8}"/>
              </a:ext>
            </a:extLst>
          </p:cNvPr>
          <p:cNvSpPr>
            <a:spLocks xmlns:a="http://schemas.openxmlformats.org/drawingml/2006/main" noGrp="1"/>
          </p:cNvSpPr>
          <p:nvPr/>
        </p:nvSpPr>
        <p:spPr>
          <a:xfrm xmlns:a="http://schemas.openxmlformats.org/drawingml/2006/main">
            <a:off x="609600" y="2247900"/>
            <a:ext cx="5191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7384A"/>
                </a:solidFill>
                <a:latin typeface="DejaVu Sans"/>
                <a:ea typeface="DejaVu Sans"/>
                <a:cs typeface="DejaVu Sans"/>
              </a:defRPr>
            </a:defPPr>
            <a:lvl1pPr>
              <a:defRPr sz="2400" b="1">
                <a:solidFill>
                  <a:srgbClr val="17384A"/>
                </a:solidFill>
                <a:latin typeface="DejaVu Sans"/>
                <a:ea typeface="DejaVu Sans"/>
                <a:cs typeface="DejaVu Sans"/>
              </a:defRPr>
            </a:lvl1pPr>
            <a:lvl2pPr>
              <a:defRPr sz="2400" b="1">
                <a:solidFill>
                  <a:srgbClr val="17384A"/>
                </a:solidFill>
                <a:latin typeface="DejaVu Sans"/>
                <a:ea typeface="DejaVu Sans"/>
                <a:cs typeface="DejaVu Sans"/>
              </a:defRPr>
            </a:lvl2pPr>
            <a:lvl3pPr>
              <a:defRPr sz="2400" b="1">
                <a:solidFill>
                  <a:srgbClr val="17384A"/>
                </a:solidFill>
                <a:latin typeface="DejaVu Sans"/>
                <a:ea typeface="DejaVu Sans"/>
                <a:cs typeface="DejaVu Sans"/>
              </a:defRPr>
            </a:lvl3pPr>
            <a:lvl4pPr>
              <a:defRPr sz="2400" b="1">
                <a:solidFill>
                  <a:srgbClr val="17384A"/>
                </a:solidFill>
                <a:latin typeface="DejaVu Sans"/>
                <a:ea typeface="DejaVu Sans"/>
                <a:cs typeface="DejaVu Sans"/>
              </a:defRPr>
            </a:lvl4pPr>
            <a:lvl5pPr>
              <a:defRPr sz="2400" b="1">
                <a:solidFill>
                  <a:srgbClr val="17384A"/>
                </a:solidFill>
                <a:latin typeface="DejaVu Sans"/>
                <a:ea typeface="DejaVu Sans"/>
                <a:cs typeface="DejaVu Sans"/>
              </a:defRPr>
            </a:lvl5pPr>
            <a:lvl6pPr>
              <a:defRPr sz="2400" b="1">
                <a:solidFill>
                  <a:srgbClr val="17384A"/>
                </a:solidFill>
                <a:latin typeface="DejaVu Sans"/>
                <a:ea typeface="DejaVu Sans"/>
                <a:cs typeface="DejaVu Sans"/>
              </a:defRPr>
            </a:lvl6pPr>
            <a:lvl7pPr>
              <a:defRPr sz="2400" b="1">
                <a:solidFill>
                  <a:srgbClr val="17384A"/>
                </a:solidFill>
                <a:latin typeface="DejaVu Sans"/>
                <a:ea typeface="DejaVu Sans"/>
                <a:cs typeface="DejaVu Sans"/>
              </a:defRPr>
            </a:lvl7pPr>
            <a:lvl8pPr>
              <a:defRPr sz="2400" b="1">
                <a:solidFill>
                  <a:srgbClr val="17384A"/>
                </a:solidFill>
                <a:latin typeface="DejaVu Sans"/>
                <a:ea typeface="DejaVu Sans"/>
                <a:cs typeface="DejaVu Sans"/>
              </a:defRPr>
            </a:lvl8pPr>
            <a:lvl9pPr>
              <a:defRPr sz="2400" b="1">
                <a:solidFill>
                  <a:srgbClr val="17384A"/>
                </a:solidFill>
                <a:latin typeface="DejaVu Sans"/>
                <a:ea typeface="DejaVu Sans"/>
                <a:cs typeface="DejaVu Sans"/>
              </a:defRPr>
            </a:lvl9pPr>
          </a:lstStyle>
          <a:p xmlns:a="http://schemas.openxmlformats.org/drawingml/2006/main">
            <a:pPr>
              <a:defRPr sz="2400" b="1">
                <a:solidFill>
                  <a:srgbClr val="17384A"/>
                </a:solidFill>
                <a:latin typeface="DejaVu Sans"/>
                <a:ea typeface="DejaVu Sans"/>
                <a:cs typeface="DejaVu Sans"/>
              </a:defRPr>
            </a:pPr>
            <a:r>
              <a:rPr sz="2400" b="1">
                <a:solidFill>
                  <a:srgbClr val="17384A"/>
                </a:solidFill>
                <a:latin typeface="DejaVu Sans"/>
                <a:ea typeface="DejaVu Sans"/>
                <a:cs typeface="DejaVu Sans"/>
              </a:rPr>
              <a:t>Cliente existente, servicio activo y fecha futura disponible</a:t>
            </a:r>
          </a:p>
        </p:txBody>
      </p:sp>
      <p:sp>
        <p:nvSpPr>
          <p:cNvPr id="8" name="">
            <a:extLst xmlns:a="http://schemas.openxmlformats.org/drawingml/2006/main">
              <a:ext uri="{FF2B5EF4-FFF2-40B4-BE49-F238E27FC236}">
                <a16:creationId xmlns:a16="http://schemas.microsoft.com/office/drawing/2014/main" id="{804234FC-D80A-4489-8053-D72A161C873E}"/>
              </a:ext>
            </a:extLst>
          </p:cNvPr>
          <p:cNvSpPr>
            <a:spLocks xmlns:a="http://schemas.openxmlformats.org/drawingml/2006/main" noGrp="1"/>
          </p:cNvSpPr>
          <p:nvPr/>
        </p:nvSpPr>
        <p:spPr>
          <a:xfrm xmlns:a="http://schemas.openxmlformats.org/drawingml/2006/main">
            <a:off x="609600" y="5133975"/>
            <a:ext cx="5191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A58E"/>
                </a:solidFill>
                <a:latin typeface="DejaVu Sans"/>
                <a:ea typeface="DejaVu Sans"/>
                <a:cs typeface="DejaVu Sans"/>
              </a:defRPr>
            </a:defPPr>
            <a:lvl1pPr>
              <a:defRPr sz="2250" b="1">
                <a:solidFill>
                  <a:srgbClr val="00A58E"/>
                </a:solidFill>
                <a:latin typeface="DejaVu Sans"/>
                <a:ea typeface="DejaVu Sans"/>
                <a:cs typeface="DejaVu Sans"/>
              </a:defRPr>
            </a:lvl1pPr>
            <a:lvl2pPr>
              <a:defRPr sz="2250" b="1">
                <a:solidFill>
                  <a:srgbClr val="00A58E"/>
                </a:solidFill>
                <a:latin typeface="DejaVu Sans"/>
                <a:ea typeface="DejaVu Sans"/>
                <a:cs typeface="DejaVu Sans"/>
              </a:defRPr>
            </a:lvl2pPr>
            <a:lvl3pPr>
              <a:defRPr sz="2250" b="1">
                <a:solidFill>
                  <a:srgbClr val="00A58E"/>
                </a:solidFill>
                <a:latin typeface="DejaVu Sans"/>
                <a:ea typeface="DejaVu Sans"/>
                <a:cs typeface="DejaVu Sans"/>
              </a:defRPr>
            </a:lvl3pPr>
            <a:lvl4pPr>
              <a:defRPr sz="2250" b="1">
                <a:solidFill>
                  <a:srgbClr val="00A58E"/>
                </a:solidFill>
                <a:latin typeface="DejaVu Sans"/>
                <a:ea typeface="DejaVu Sans"/>
                <a:cs typeface="DejaVu Sans"/>
              </a:defRPr>
            </a:lvl4pPr>
            <a:lvl5pPr>
              <a:defRPr sz="2250" b="1">
                <a:solidFill>
                  <a:srgbClr val="00A58E"/>
                </a:solidFill>
                <a:latin typeface="DejaVu Sans"/>
                <a:ea typeface="DejaVu Sans"/>
                <a:cs typeface="DejaVu Sans"/>
              </a:defRPr>
            </a:lvl5pPr>
            <a:lvl6pPr>
              <a:defRPr sz="2250" b="1">
                <a:solidFill>
                  <a:srgbClr val="00A58E"/>
                </a:solidFill>
                <a:latin typeface="DejaVu Sans"/>
                <a:ea typeface="DejaVu Sans"/>
                <a:cs typeface="DejaVu Sans"/>
              </a:defRPr>
            </a:lvl6pPr>
            <a:lvl7pPr>
              <a:defRPr sz="2250" b="1">
                <a:solidFill>
                  <a:srgbClr val="00A58E"/>
                </a:solidFill>
                <a:latin typeface="DejaVu Sans"/>
                <a:ea typeface="DejaVu Sans"/>
                <a:cs typeface="DejaVu Sans"/>
              </a:defRPr>
            </a:lvl7pPr>
            <a:lvl8pPr>
              <a:defRPr sz="2250" b="1">
                <a:solidFill>
                  <a:srgbClr val="00A58E"/>
                </a:solidFill>
                <a:latin typeface="DejaVu Sans"/>
                <a:ea typeface="DejaVu Sans"/>
                <a:cs typeface="DejaVu Sans"/>
              </a:defRPr>
            </a:lvl8pPr>
            <a:lvl9pPr>
              <a:defRPr sz="2250" b="1">
                <a:solidFill>
                  <a:srgbClr val="00A58E"/>
                </a:solidFill>
                <a:latin typeface="DejaVu Sans"/>
                <a:ea typeface="DejaVu Sans"/>
                <a:cs typeface="DejaVu Sans"/>
              </a:defRPr>
            </a:lvl9pPr>
          </a:lstStyle>
          <a:p xmlns:a="http://schemas.openxmlformats.org/drawingml/2006/main">
            <a:pPr>
              <a:defRPr sz="2250" b="1">
                <a:solidFill>
                  <a:srgbClr val="00A58E"/>
                </a:solidFill>
                <a:latin typeface="DejaVu Sans"/>
                <a:ea typeface="DejaVu Sans"/>
                <a:cs typeface="DejaVu Sans"/>
              </a:defRPr>
            </a:pPr>
            <a:r>
              <a:rPr sz="2250" b="1">
                <a:solidFill>
                  <a:srgbClr val="00A58E"/>
                </a:solidFill>
                <a:latin typeface="DejaVu Sans"/>
                <a:ea typeface="DejaVu Sans"/>
                <a:cs typeface="DejaVu Sans"/>
              </a:rPr>
              <a:t>201 Created / 409 Conflict</a:t>
            </a:r>
          </a:p>
        </p:txBody>
      </p:sp>
      <p:sp>
        <p:nvSpPr>
          <p:cNvPr id="9" name="">
            <a:extLst xmlns:a="http://schemas.openxmlformats.org/drawingml/2006/main">
              <a:ext uri="{FF2B5EF4-FFF2-40B4-BE49-F238E27FC236}">
                <a16:creationId xmlns:a16="http://schemas.microsoft.com/office/drawing/2014/main" id="{71C0F9AD-70F9-402A-822E-62FA24A5F820}"/>
              </a:ext>
            </a:extLst>
          </p:cNvPr>
          <p:cNvSpPr>
            <a:spLocks xmlns:a="http://schemas.openxmlformats.org/drawingml/2006/main" noGrp="1"/>
          </p:cNvSpPr>
          <p:nvPr/>
        </p:nvSpPr>
        <p:spPr>
          <a:xfrm xmlns:a="http://schemas.openxmlformats.org/drawingml/2006/main">
            <a:off x="6400800" y="1714500"/>
            <a:ext cx="5191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12B3C"/>
                </a:solidFill>
                <a:latin typeface="DejaVu Sans"/>
                <a:ea typeface="DejaVu Sans"/>
                <a:cs typeface="DejaVu Sans"/>
              </a:defRPr>
            </a:defPPr>
            <a:lvl1pPr>
              <a:defRPr sz="1950" b="1">
                <a:solidFill>
                  <a:srgbClr val="112B3C"/>
                </a:solidFill>
                <a:latin typeface="DejaVu Sans"/>
                <a:ea typeface="DejaVu Sans"/>
                <a:cs typeface="DejaVu Sans"/>
              </a:defRPr>
            </a:lvl1pPr>
            <a:lvl2pPr>
              <a:defRPr sz="1950" b="1">
                <a:solidFill>
                  <a:srgbClr val="112B3C"/>
                </a:solidFill>
                <a:latin typeface="DejaVu Sans"/>
                <a:ea typeface="DejaVu Sans"/>
                <a:cs typeface="DejaVu Sans"/>
              </a:defRPr>
            </a:lvl2pPr>
            <a:lvl3pPr>
              <a:defRPr sz="1950" b="1">
                <a:solidFill>
                  <a:srgbClr val="112B3C"/>
                </a:solidFill>
                <a:latin typeface="DejaVu Sans"/>
                <a:ea typeface="DejaVu Sans"/>
                <a:cs typeface="DejaVu Sans"/>
              </a:defRPr>
            </a:lvl3pPr>
            <a:lvl4pPr>
              <a:defRPr sz="1950" b="1">
                <a:solidFill>
                  <a:srgbClr val="112B3C"/>
                </a:solidFill>
                <a:latin typeface="DejaVu Sans"/>
                <a:ea typeface="DejaVu Sans"/>
                <a:cs typeface="DejaVu Sans"/>
              </a:defRPr>
            </a:lvl4pPr>
            <a:lvl5pPr>
              <a:defRPr sz="1950" b="1">
                <a:solidFill>
                  <a:srgbClr val="112B3C"/>
                </a:solidFill>
                <a:latin typeface="DejaVu Sans"/>
                <a:ea typeface="DejaVu Sans"/>
                <a:cs typeface="DejaVu Sans"/>
              </a:defRPr>
            </a:lvl5pPr>
            <a:lvl6pPr>
              <a:defRPr sz="1950" b="1">
                <a:solidFill>
                  <a:srgbClr val="112B3C"/>
                </a:solidFill>
                <a:latin typeface="DejaVu Sans"/>
                <a:ea typeface="DejaVu Sans"/>
                <a:cs typeface="DejaVu Sans"/>
              </a:defRPr>
            </a:lvl6pPr>
            <a:lvl7pPr>
              <a:defRPr sz="1950" b="1">
                <a:solidFill>
                  <a:srgbClr val="112B3C"/>
                </a:solidFill>
                <a:latin typeface="DejaVu Sans"/>
                <a:ea typeface="DejaVu Sans"/>
                <a:cs typeface="DejaVu Sans"/>
              </a:defRPr>
            </a:lvl7pPr>
            <a:lvl8pPr>
              <a:defRPr sz="1950" b="1">
                <a:solidFill>
                  <a:srgbClr val="112B3C"/>
                </a:solidFill>
                <a:latin typeface="DejaVu Sans"/>
                <a:ea typeface="DejaVu Sans"/>
                <a:cs typeface="DejaVu Sans"/>
              </a:defRPr>
            </a:lvl8pPr>
            <a:lvl9pPr>
              <a:defRPr sz="1950" b="1">
                <a:solidFill>
                  <a:srgbClr val="112B3C"/>
                </a:solidFill>
                <a:latin typeface="DejaVu Sans"/>
                <a:ea typeface="DejaVu Sans"/>
                <a:cs typeface="DejaVu Sans"/>
              </a:defRPr>
            </a:lvl9pPr>
          </a:lstStyle>
          <a:p xmlns:a="http://schemas.openxmlformats.org/drawingml/2006/main">
            <a:pPr>
              <a:defRPr sz="1950" b="1">
                <a:solidFill>
                  <a:srgbClr val="112B3C"/>
                </a:solidFill>
                <a:latin typeface="DejaVu Sans"/>
                <a:ea typeface="DejaVu Sans"/>
                <a:cs typeface="DejaVu Sans"/>
              </a:defRPr>
            </a:pPr>
            <a:r>
              <a:rPr sz="1950" b="1">
                <a:solidFill>
                  <a:srgbClr val="112B3C"/>
                </a:solidFill>
                <a:latin typeface="DejaVu Sans"/>
                <a:ea typeface="DejaVu Sans"/>
                <a:cs typeface="DejaVu Sans"/>
              </a:rPr>
              <a:t>POST /api/turnos</a:t>
            </a:r>
          </a:p>
        </p:txBody>
      </p:sp>
      <p:sp>
        <p:nvSpPr>
          <p:cNvPr id="10" name="">
            <a:extLst xmlns:a="http://schemas.openxmlformats.org/drawingml/2006/main">
              <a:ext uri="{FF2B5EF4-FFF2-40B4-BE49-F238E27FC236}">
                <a16:creationId xmlns:a16="http://schemas.microsoft.com/office/drawing/2014/main" id="{89607559-1EBF-4A3E-AF93-7F1235945FBE}"/>
              </a:ext>
            </a:extLst>
          </p:cNvPr>
          <p:cNvSpPr>
            <a:spLocks xmlns:a="http://schemas.openxmlformats.org/drawingml/2006/main" noGrp="1"/>
          </p:cNvSpPr>
          <p:nvPr/>
        </p:nvSpPr>
        <p:spPr>
          <a:xfrm xmlns:a="http://schemas.openxmlformats.org/drawingml/2006/main">
            <a:off x="6400800" y="2552700"/>
            <a:ext cx="5181600" cy="190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DB821AE-0232-49B4-B5F8-5AEDDAA3DD43}"/>
              </a:ext>
            </a:extLst>
          </p:cNvPr>
          <p:cNvSpPr>
            <a:spLocks xmlns:a="http://schemas.openxmlformats.org/drawingml/2006/main" noGrp="1"/>
          </p:cNvSpPr>
          <p:nvPr/>
        </p:nvSpPr>
        <p:spPr>
          <a:xfrm xmlns:a="http://schemas.openxmlformats.org/drawingml/2006/main">
            <a:off x="6457950" y="2943225"/>
            <a:ext cx="5048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7384A"/>
                </a:solidFill>
                <a:latin typeface="DejaVu Sans Mono"/>
                <a:ea typeface="DejaVu Sans Mono"/>
                <a:cs typeface="DejaVu Sans Mono"/>
              </a:defRPr>
            </a:defPPr>
            <a:lvl1pPr>
              <a:defRPr sz="1650" b="0">
                <a:solidFill>
                  <a:srgbClr val="17384A"/>
                </a:solidFill>
                <a:latin typeface="DejaVu Sans Mono"/>
                <a:ea typeface="DejaVu Sans Mono"/>
                <a:cs typeface="DejaVu Sans Mono"/>
              </a:defRPr>
            </a:lvl1pPr>
            <a:lvl2pPr>
              <a:defRPr sz="1650" b="0">
                <a:solidFill>
                  <a:srgbClr val="17384A"/>
                </a:solidFill>
                <a:latin typeface="DejaVu Sans Mono"/>
                <a:ea typeface="DejaVu Sans Mono"/>
                <a:cs typeface="DejaVu Sans Mono"/>
              </a:defRPr>
            </a:lvl2pPr>
            <a:lvl3pPr>
              <a:defRPr sz="1650" b="0">
                <a:solidFill>
                  <a:srgbClr val="17384A"/>
                </a:solidFill>
                <a:latin typeface="DejaVu Sans Mono"/>
                <a:ea typeface="DejaVu Sans Mono"/>
                <a:cs typeface="DejaVu Sans Mono"/>
              </a:defRPr>
            </a:lvl3pPr>
            <a:lvl4pPr>
              <a:defRPr sz="1650" b="0">
                <a:solidFill>
                  <a:srgbClr val="17384A"/>
                </a:solidFill>
                <a:latin typeface="DejaVu Sans Mono"/>
                <a:ea typeface="DejaVu Sans Mono"/>
                <a:cs typeface="DejaVu Sans Mono"/>
              </a:defRPr>
            </a:lvl4pPr>
            <a:lvl5pPr>
              <a:defRPr sz="1650" b="0">
                <a:solidFill>
                  <a:srgbClr val="17384A"/>
                </a:solidFill>
                <a:latin typeface="DejaVu Sans Mono"/>
                <a:ea typeface="DejaVu Sans Mono"/>
                <a:cs typeface="DejaVu Sans Mono"/>
              </a:defRPr>
            </a:lvl5pPr>
            <a:lvl6pPr>
              <a:defRPr sz="1650" b="0">
                <a:solidFill>
                  <a:srgbClr val="17384A"/>
                </a:solidFill>
                <a:latin typeface="DejaVu Sans Mono"/>
                <a:ea typeface="DejaVu Sans Mono"/>
                <a:cs typeface="DejaVu Sans Mono"/>
              </a:defRPr>
            </a:lvl6pPr>
            <a:lvl7pPr>
              <a:defRPr sz="1650" b="0">
                <a:solidFill>
                  <a:srgbClr val="17384A"/>
                </a:solidFill>
                <a:latin typeface="DejaVu Sans Mono"/>
                <a:ea typeface="DejaVu Sans Mono"/>
                <a:cs typeface="DejaVu Sans Mono"/>
              </a:defRPr>
            </a:lvl7pPr>
            <a:lvl8pPr>
              <a:defRPr sz="1650" b="0">
                <a:solidFill>
                  <a:srgbClr val="17384A"/>
                </a:solidFill>
                <a:latin typeface="DejaVu Sans Mono"/>
                <a:ea typeface="DejaVu Sans Mono"/>
                <a:cs typeface="DejaVu Sans Mono"/>
              </a:defRPr>
            </a:lvl8pPr>
            <a:lvl9pPr>
              <a:defRPr sz="1650" b="0">
                <a:solidFill>
                  <a:srgbClr val="17384A"/>
                </a:solidFill>
                <a:latin typeface="DejaVu Sans Mono"/>
                <a:ea typeface="DejaVu Sans Mono"/>
                <a:cs typeface="DejaVu Sans Mono"/>
              </a:defRPr>
            </a:lvl9pPr>
          </a:lstStyle>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"servicioId": "&lt;servicio activo&gt;",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"fechaHora": "&lt;fecha con zona&gt;"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r>
              <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Estado: Confirmado</a:t>
            </a:r>
          </a:p>
        </p:txBody>
      </p:sp>
      <p:sp>
        <p:nvSpPr>
          <p:cNvPr id="12" name="">
            <a:extLst xmlns:a="http://schemas.openxmlformats.org/drawingml/2006/main">
              <a:ext uri="{FF2B5EF4-FFF2-40B4-BE49-F238E27FC236}">
                <a16:creationId xmlns:a16="http://schemas.microsoft.com/office/drawing/2014/main" id="{B836D79B-AD04-4D3E-AD00-E81BA8CF068E}"/>
              </a:ext>
            </a:extLst>
          </p:cNvPr>
          <p:cNvSpPr>
            <a:spLocks xmlns:a="http://schemas.openxmlformats.org/drawingml/2006/main" noGrp="1"/>
          </p:cNvSpPr>
          <p:nvPr/>
        </p:nvSpPr>
        <p:spPr>
          <a:xfrm xmlns:a="http://schemas.openxmlformats.org/drawingml/2006/main">
            <a:off x="6457950" y="5419725"/>
            <a:ext cx="5048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536675"/>
                </a:solidFill>
                <a:latin typeface="DejaVu Sans"/>
                <a:ea typeface="DejaVu Sans"/>
                <a:cs typeface="DejaVu Sans"/>
              </a:defRPr>
            </a:defPPr>
            <a:lvl1pPr>
              <a:defRPr sz="1275" b="0">
                <a:solidFill>
                  <a:srgbClr val="536675"/>
                </a:solidFill>
                <a:latin typeface="DejaVu Sans"/>
                <a:ea typeface="DejaVu Sans"/>
                <a:cs typeface="DejaVu Sans"/>
              </a:defRPr>
            </a:lvl1pPr>
            <a:lvl2pPr>
              <a:defRPr sz="1275" b="0">
                <a:solidFill>
                  <a:srgbClr val="536675"/>
                </a:solidFill>
                <a:latin typeface="DejaVu Sans"/>
                <a:ea typeface="DejaVu Sans"/>
                <a:cs typeface="DejaVu Sans"/>
              </a:defRPr>
            </a:lvl2pPr>
            <a:lvl3pPr>
              <a:defRPr sz="1275" b="0">
                <a:solidFill>
                  <a:srgbClr val="536675"/>
                </a:solidFill>
                <a:latin typeface="DejaVu Sans"/>
                <a:ea typeface="DejaVu Sans"/>
                <a:cs typeface="DejaVu Sans"/>
              </a:defRPr>
            </a:lvl3pPr>
            <a:lvl4pPr>
              <a:defRPr sz="1275" b="0">
                <a:solidFill>
                  <a:srgbClr val="536675"/>
                </a:solidFill>
                <a:latin typeface="DejaVu Sans"/>
                <a:ea typeface="DejaVu Sans"/>
                <a:cs typeface="DejaVu Sans"/>
              </a:defRPr>
            </a:lvl4pPr>
            <a:lvl5pPr>
              <a:defRPr sz="1275" b="0">
                <a:solidFill>
                  <a:srgbClr val="536675"/>
                </a:solidFill>
                <a:latin typeface="DejaVu Sans"/>
                <a:ea typeface="DejaVu Sans"/>
                <a:cs typeface="DejaVu Sans"/>
              </a:defRPr>
            </a:lvl5pPr>
            <a:lvl6pPr>
              <a:defRPr sz="1275" b="0">
                <a:solidFill>
                  <a:srgbClr val="536675"/>
                </a:solidFill>
                <a:latin typeface="DejaVu Sans"/>
                <a:ea typeface="DejaVu Sans"/>
                <a:cs typeface="DejaVu Sans"/>
              </a:defRPr>
            </a:lvl6pPr>
            <a:lvl7pPr>
              <a:defRPr sz="1275" b="0">
                <a:solidFill>
                  <a:srgbClr val="536675"/>
                </a:solidFill>
                <a:latin typeface="DejaVu Sans"/>
                <a:ea typeface="DejaVu Sans"/>
                <a:cs typeface="DejaVu Sans"/>
              </a:defRPr>
            </a:lvl7pPr>
            <a:lvl8pPr>
              <a:defRPr sz="1275" b="0">
                <a:solidFill>
                  <a:srgbClr val="536675"/>
                </a:solidFill>
                <a:latin typeface="DejaVu Sans"/>
                <a:ea typeface="DejaVu Sans"/>
                <a:cs typeface="DejaVu Sans"/>
              </a:defRPr>
            </a:lvl8pPr>
            <a:lvl9pPr>
              <a:defRPr sz="1275" b="0">
                <a:solidFill>
                  <a:srgbClr val="536675"/>
                </a:solidFill>
                <a:latin typeface="DejaVu Sans"/>
                <a:ea typeface="DejaVu Sans"/>
                <a:cs typeface="DejaVu Sans"/>
              </a:defRPr>
            </a:lvl9pPr>
          </a:lstStyle>
          <a:p xmlns:a="http://schemas.openxmlformats.org/drawingml/2006/main">
            <a:pPr>
              <a:defRPr sz="1275" b="0">
                <a:solidFill>
                  <a:srgbClr val="536675"/>
                </a:solidFill>
                <a:latin typeface="DejaVu Sans"/>
                <a:ea typeface="DejaVu Sans"/>
                <a:cs typeface="DejaVu Sans"/>
              </a:defRPr>
            </a:pPr>
            <a:r>
              <a:rPr sz="1275" b="0">
                <a:solidFill>
                  <a:srgbClr val="536675"/>
                </a:solidFill>
                <a:latin typeface="DejaVu Sans"/>
                <a:ea typeface="DejaVu Sans"/>
                <a:cs typeface="DejaVu Sans"/>
              </a:rPr>
              <a:t>API/Controllers/TurnosController.cs</a:t>
            </a:r>
          </a:p>
        </p:txBody>
      </p:sp>
    </p:spTree>
    <p:extLst>
      <p:ext uri="{BB962C8B-B14F-4D97-AF65-F5344CB8AC3E}">
        <p14:creationId xmlns:p14="http://schemas.microsoft.com/office/powerpoint/2010/main" val="63921049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3B173C-A92F-4D39-B3A9-00EDE96B3F4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2B01D96-8646-4253-9328-BD549E54E5DF}"/>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CU-04 Modificar turno</a:t>
            </a:r>
          </a:p>
        </p:txBody>
      </p:sp>
      <p:sp>
        <p:nvSpPr>
          <p:cNvPr id="3" name="">
            <a:extLst xmlns:a="http://schemas.openxmlformats.org/drawingml/2006/main">
              <a:ext uri="{FF2B5EF4-FFF2-40B4-BE49-F238E27FC236}">
                <a16:creationId xmlns:a16="http://schemas.microsoft.com/office/drawing/2014/main" id="{F89ADECF-8F34-489C-80A7-C19AD66730FA}"/>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BF2695-4AF0-4F9D-A729-BE3F0168F0B5}"/>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22D62ECF-D73E-413A-B586-BF6A02B1E14C}"/>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11</a:t>
            </a:r>
          </a:p>
        </p:txBody>
      </p:sp>
      <p:sp>
        <p:nvSpPr>
          <p:cNvPr id="6" name="">
            <a:extLst xmlns:a="http://schemas.openxmlformats.org/drawingml/2006/main">
              <a:ext uri="{FF2B5EF4-FFF2-40B4-BE49-F238E27FC236}">
                <a16:creationId xmlns:a16="http://schemas.microsoft.com/office/drawing/2014/main" id="{3456644D-CA43-41DF-A940-715214A98C6D}"/>
              </a:ext>
            </a:extLst>
          </p:cNvPr>
          <p:cNvSpPr>
            <a:spLocks xmlns:a="http://schemas.openxmlformats.org/drawingml/2006/main" noGrp="1"/>
          </p:cNvSpPr>
          <p:nvPr/>
        </p:nvSpPr>
        <p:spPr>
          <a:xfrm xmlns:a="http://schemas.openxmlformats.org/drawingml/2006/main">
            <a:off x="609600" y="14954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00A58E"/>
                </a:solidFill>
                <a:latin typeface="DejaVu Sans"/>
                <a:ea typeface="DejaVu Sans"/>
                <a:cs typeface="DejaVu Sans"/>
              </a:defRPr>
            </a:defPPr>
            <a:lvl1pPr>
              <a:defRPr sz="1875" b="1">
                <a:solidFill>
                  <a:srgbClr val="00A58E"/>
                </a:solidFill>
                <a:latin typeface="DejaVu Sans"/>
                <a:ea typeface="DejaVu Sans"/>
                <a:cs typeface="DejaVu Sans"/>
              </a:defRPr>
            </a:lvl1pPr>
            <a:lvl2pPr>
              <a:defRPr sz="1875" b="1">
                <a:solidFill>
                  <a:srgbClr val="00A58E"/>
                </a:solidFill>
                <a:latin typeface="DejaVu Sans"/>
                <a:ea typeface="DejaVu Sans"/>
                <a:cs typeface="DejaVu Sans"/>
              </a:defRPr>
            </a:lvl2pPr>
            <a:lvl3pPr>
              <a:defRPr sz="1875" b="1">
                <a:solidFill>
                  <a:srgbClr val="00A58E"/>
                </a:solidFill>
                <a:latin typeface="DejaVu Sans"/>
                <a:ea typeface="DejaVu Sans"/>
                <a:cs typeface="DejaVu Sans"/>
              </a:defRPr>
            </a:lvl3pPr>
            <a:lvl4pPr>
              <a:defRPr sz="1875" b="1">
                <a:solidFill>
                  <a:srgbClr val="00A58E"/>
                </a:solidFill>
                <a:latin typeface="DejaVu Sans"/>
                <a:ea typeface="DejaVu Sans"/>
                <a:cs typeface="DejaVu Sans"/>
              </a:defRPr>
            </a:lvl4pPr>
            <a:lvl5pPr>
              <a:defRPr sz="1875" b="1">
                <a:solidFill>
                  <a:srgbClr val="00A58E"/>
                </a:solidFill>
                <a:latin typeface="DejaVu Sans"/>
                <a:ea typeface="DejaVu Sans"/>
                <a:cs typeface="DejaVu Sans"/>
              </a:defRPr>
            </a:lvl5pPr>
            <a:lvl6pPr>
              <a:defRPr sz="1875" b="1">
                <a:solidFill>
                  <a:srgbClr val="00A58E"/>
                </a:solidFill>
                <a:latin typeface="DejaVu Sans"/>
                <a:ea typeface="DejaVu Sans"/>
                <a:cs typeface="DejaVu Sans"/>
              </a:defRPr>
            </a:lvl6pPr>
            <a:lvl7pPr>
              <a:defRPr sz="1875" b="1">
                <a:solidFill>
                  <a:srgbClr val="00A58E"/>
                </a:solidFill>
                <a:latin typeface="DejaVu Sans"/>
                <a:ea typeface="DejaVu Sans"/>
                <a:cs typeface="DejaVu Sans"/>
              </a:defRPr>
            </a:lvl7pPr>
            <a:lvl8pPr>
              <a:defRPr sz="1875" b="1">
                <a:solidFill>
                  <a:srgbClr val="00A58E"/>
                </a:solidFill>
                <a:latin typeface="DejaVu Sans"/>
                <a:ea typeface="DejaVu Sans"/>
                <a:cs typeface="DejaVu Sans"/>
              </a:defRPr>
            </a:lvl8pPr>
            <a:lvl9pPr>
              <a:defRPr sz="1875" b="1">
                <a:solidFill>
                  <a:srgbClr val="00A58E"/>
                </a:solidFill>
                <a:latin typeface="DejaVu Sans"/>
                <a:ea typeface="DejaVu Sans"/>
                <a:cs typeface="DejaVu Sans"/>
              </a:defRPr>
            </a:lvl9pPr>
          </a:lstStyle>
          <a:p xmlns:a="http://schemas.openxmlformats.org/drawingml/2006/main">
            <a:pPr>
              <a:defRPr sz="1875" b="1">
                <a:solidFill>
                  <a:srgbClr val="00A58E"/>
                </a:solidFill>
                <a:latin typeface="DejaVu Sans"/>
                <a:ea typeface="DejaVu Sans"/>
                <a:cs typeface="DejaVu Sans"/>
              </a:defRPr>
            </a:pPr>
            <a:r>
              <a:rPr sz="1875" b="1">
                <a:solidFill>
                  <a:srgbClr val="00A58E"/>
                </a:solidFill>
                <a:latin typeface="DejaVu Sans"/>
                <a:ea typeface="DejaVu Sans"/>
                <a:cs typeface="DejaVu Sans"/>
              </a:rPr>
              <a:t>RF-03 / CU-04</a:t>
            </a:r>
          </a:p>
        </p:txBody>
      </p:sp>
      <p:sp>
        <p:nvSpPr>
          <p:cNvPr id="7" name="">
            <a:extLst xmlns:a="http://schemas.openxmlformats.org/drawingml/2006/main">
              <a:ext uri="{FF2B5EF4-FFF2-40B4-BE49-F238E27FC236}">
                <a16:creationId xmlns:a16="http://schemas.microsoft.com/office/drawing/2014/main" id="{DDEFDEB8-08FB-46C9-BE94-30FCF602164A}"/>
              </a:ext>
            </a:extLst>
          </p:cNvPr>
          <p:cNvSpPr>
            <a:spLocks xmlns:a="http://schemas.openxmlformats.org/drawingml/2006/main" noGrp="1"/>
          </p:cNvSpPr>
          <p:nvPr/>
        </p:nvSpPr>
        <p:spPr>
          <a:xfrm xmlns:a="http://schemas.openxmlformats.org/drawingml/2006/main">
            <a:off x="609600" y="2247900"/>
            <a:ext cx="5191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7384A"/>
                </a:solidFill>
                <a:latin typeface="DejaVu Sans"/>
                <a:ea typeface="DejaVu Sans"/>
                <a:cs typeface="DejaVu Sans"/>
              </a:defRPr>
            </a:defPPr>
            <a:lvl1pPr>
              <a:defRPr sz="2400" b="1">
                <a:solidFill>
                  <a:srgbClr val="17384A"/>
                </a:solidFill>
                <a:latin typeface="DejaVu Sans"/>
                <a:ea typeface="DejaVu Sans"/>
                <a:cs typeface="DejaVu Sans"/>
              </a:defRPr>
            </a:lvl1pPr>
            <a:lvl2pPr>
              <a:defRPr sz="2400" b="1">
                <a:solidFill>
                  <a:srgbClr val="17384A"/>
                </a:solidFill>
                <a:latin typeface="DejaVu Sans"/>
                <a:ea typeface="DejaVu Sans"/>
                <a:cs typeface="DejaVu Sans"/>
              </a:defRPr>
            </a:lvl2pPr>
            <a:lvl3pPr>
              <a:defRPr sz="2400" b="1">
                <a:solidFill>
                  <a:srgbClr val="17384A"/>
                </a:solidFill>
                <a:latin typeface="DejaVu Sans"/>
                <a:ea typeface="DejaVu Sans"/>
                <a:cs typeface="DejaVu Sans"/>
              </a:defRPr>
            </a:lvl3pPr>
            <a:lvl4pPr>
              <a:defRPr sz="2400" b="1">
                <a:solidFill>
                  <a:srgbClr val="17384A"/>
                </a:solidFill>
                <a:latin typeface="DejaVu Sans"/>
                <a:ea typeface="DejaVu Sans"/>
                <a:cs typeface="DejaVu Sans"/>
              </a:defRPr>
            </a:lvl4pPr>
            <a:lvl5pPr>
              <a:defRPr sz="2400" b="1">
                <a:solidFill>
                  <a:srgbClr val="17384A"/>
                </a:solidFill>
                <a:latin typeface="DejaVu Sans"/>
                <a:ea typeface="DejaVu Sans"/>
                <a:cs typeface="DejaVu Sans"/>
              </a:defRPr>
            </a:lvl5pPr>
            <a:lvl6pPr>
              <a:defRPr sz="2400" b="1">
                <a:solidFill>
                  <a:srgbClr val="17384A"/>
                </a:solidFill>
                <a:latin typeface="DejaVu Sans"/>
                <a:ea typeface="DejaVu Sans"/>
                <a:cs typeface="DejaVu Sans"/>
              </a:defRPr>
            </a:lvl6pPr>
            <a:lvl7pPr>
              <a:defRPr sz="2400" b="1">
                <a:solidFill>
                  <a:srgbClr val="17384A"/>
                </a:solidFill>
                <a:latin typeface="DejaVu Sans"/>
                <a:ea typeface="DejaVu Sans"/>
                <a:cs typeface="DejaVu Sans"/>
              </a:defRPr>
            </a:lvl7pPr>
            <a:lvl8pPr>
              <a:defRPr sz="2400" b="1">
                <a:solidFill>
                  <a:srgbClr val="17384A"/>
                </a:solidFill>
                <a:latin typeface="DejaVu Sans"/>
                <a:ea typeface="DejaVu Sans"/>
                <a:cs typeface="DejaVu Sans"/>
              </a:defRPr>
            </a:lvl8pPr>
            <a:lvl9pPr>
              <a:defRPr sz="2400" b="1">
                <a:solidFill>
                  <a:srgbClr val="17384A"/>
                </a:solidFill>
                <a:latin typeface="DejaVu Sans"/>
                <a:ea typeface="DejaVu Sans"/>
                <a:cs typeface="DejaVu Sans"/>
              </a:defRPr>
            </a:lvl9pPr>
          </a:lstStyle>
          <a:p xmlns:a="http://schemas.openxmlformats.org/drawingml/2006/main">
            <a:pPr>
              <a:defRPr sz="2400" b="1">
                <a:solidFill>
                  <a:srgbClr val="17384A"/>
                </a:solidFill>
                <a:latin typeface="DejaVu Sans"/>
                <a:ea typeface="DejaVu Sans"/>
                <a:cs typeface="DejaVu Sans"/>
              </a:defRPr>
            </a:pPr>
            <a:r>
              <a:rPr sz="2400" b="1">
                <a:solidFill>
                  <a:srgbClr val="17384A"/>
                </a:solidFill>
                <a:latin typeface="DejaVu Sans"/>
                <a:ea typeface="DejaVu Sans"/>
                <a:cs typeface="DejaVu Sans"/>
              </a:rPr>
              <a:t>Titular o personal, turno confirmado y futuro</a:t>
            </a:r>
          </a:p>
        </p:txBody>
      </p:sp>
      <p:sp>
        <p:nvSpPr>
          <p:cNvPr id="8" name="">
            <a:extLst xmlns:a="http://schemas.openxmlformats.org/drawingml/2006/main">
              <a:ext uri="{FF2B5EF4-FFF2-40B4-BE49-F238E27FC236}">
                <a16:creationId xmlns:a16="http://schemas.microsoft.com/office/drawing/2014/main" id="{3F052444-F05B-4970-B514-EAA58593DDCB}"/>
              </a:ext>
            </a:extLst>
          </p:cNvPr>
          <p:cNvSpPr>
            <a:spLocks xmlns:a="http://schemas.openxmlformats.org/drawingml/2006/main" noGrp="1"/>
          </p:cNvSpPr>
          <p:nvPr/>
        </p:nvSpPr>
        <p:spPr>
          <a:xfrm xmlns:a="http://schemas.openxmlformats.org/drawingml/2006/main">
            <a:off x="609600" y="5133975"/>
            <a:ext cx="5191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A58E"/>
                </a:solidFill>
                <a:latin typeface="DejaVu Sans"/>
                <a:ea typeface="DejaVu Sans"/>
                <a:cs typeface="DejaVu Sans"/>
              </a:defRPr>
            </a:defPPr>
            <a:lvl1pPr>
              <a:defRPr sz="2250" b="1">
                <a:solidFill>
                  <a:srgbClr val="00A58E"/>
                </a:solidFill>
                <a:latin typeface="DejaVu Sans"/>
                <a:ea typeface="DejaVu Sans"/>
                <a:cs typeface="DejaVu Sans"/>
              </a:defRPr>
            </a:lvl1pPr>
            <a:lvl2pPr>
              <a:defRPr sz="2250" b="1">
                <a:solidFill>
                  <a:srgbClr val="00A58E"/>
                </a:solidFill>
                <a:latin typeface="DejaVu Sans"/>
                <a:ea typeface="DejaVu Sans"/>
                <a:cs typeface="DejaVu Sans"/>
              </a:defRPr>
            </a:lvl2pPr>
            <a:lvl3pPr>
              <a:defRPr sz="2250" b="1">
                <a:solidFill>
                  <a:srgbClr val="00A58E"/>
                </a:solidFill>
                <a:latin typeface="DejaVu Sans"/>
                <a:ea typeface="DejaVu Sans"/>
                <a:cs typeface="DejaVu Sans"/>
              </a:defRPr>
            </a:lvl3pPr>
            <a:lvl4pPr>
              <a:defRPr sz="2250" b="1">
                <a:solidFill>
                  <a:srgbClr val="00A58E"/>
                </a:solidFill>
                <a:latin typeface="DejaVu Sans"/>
                <a:ea typeface="DejaVu Sans"/>
                <a:cs typeface="DejaVu Sans"/>
              </a:defRPr>
            </a:lvl4pPr>
            <a:lvl5pPr>
              <a:defRPr sz="2250" b="1">
                <a:solidFill>
                  <a:srgbClr val="00A58E"/>
                </a:solidFill>
                <a:latin typeface="DejaVu Sans"/>
                <a:ea typeface="DejaVu Sans"/>
                <a:cs typeface="DejaVu Sans"/>
              </a:defRPr>
            </a:lvl5pPr>
            <a:lvl6pPr>
              <a:defRPr sz="2250" b="1">
                <a:solidFill>
                  <a:srgbClr val="00A58E"/>
                </a:solidFill>
                <a:latin typeface="DejaVu Sans"/>
                <a:ea typeface="DejaVu Sans"/>
                <a:cs typeface="DejaVu Sans"/>
              </a:defRPr>
            </a:lvl6pPr>
            <a:lvl7pPr>
              <a:defRPr sz="2250" b="1">
                <a:solidFill>
                  <a:srgbClr val="00A58E"/>
                </a:solidFill>
                <a:latin typeface="DejaVu Sans"/>
                <a:ea typeface="DejaVu Sans"/>
                <a:cs typeface="DejaVu Sans"/>
              </a:defRPr>
            </a:lvl7pPr>
            <a:lvl8pPr>
              <a:defRPr sz="2250" b="1">
                <a:solidFill>
                  <a:srgbClr val="00A58E"/>
                </a:solidFill>
                <a:latin typeface="DejaVu Sans"/>
                <a:ea typeface="DejaVu Sans"/>
                <a:cs typeface="DejaVu Sans"/>
              </a:defRPr>
            </a:lvl8pPr>
            <a:lvl9pPr>
              <a:defRPr sz="2250" b="1">
                <a:solidFill>
                  <a:srgbClr val="00A58E"/>
                </a:solidFill>
                <a:latin typeface="DejaVu Sans"/>
                <a:ea typeface="DejaVu Sans"/>
                <a:cs typeface="DejaVu Sans"/>
              </a:defRPr>
            </a:lvl9pPr>
          </a:lstStyle>
          <a:p xmlns:a="http://schemas.openxmlformats.org/drawingml/2006/main">
            <a:pPr>
              <a:defRPr sz="2250" b="1">
                <a:solidFill>
                  <a:srgbClr val="00A58E"/>
                </a:solidFill>
                <a:latin typeface="DejaVu Sans"/>
                <a:ea typeface="DejaVu Sans"/>
                <a:cs typeface="DejaVu Sans"/>
              </a:defRPr>
            </a:pPr>
            <a:r>
              <a:rPr sz="2250" b="1">
                <a:solidFill>
                  <a:srgbClr val="00A58E"/>
                </a:solidFill>
                <a:latin typeface="DejaVu Sans"/>
                <a:ea typeface="DejaVu Sans"/>
                <a:cs typeface="DejaVu Sans"/>
              </a:rPr>
              <a:t>200 OK</a:t>
            </a:r>
          </a:p>
        </p:txBody>
      </p:sp>
      <p:sp>
        <p:nvSpPr>
          <p:cNvPr id="9" name="">
            <a:extLst xmlns:a="http://schemas.openxmlformats.org/drawingml/2006/main">
              <a:ext uri="{FF2B5EF4-FFF2-40B4-BE49-F238E27FC236}">
                <a16:creationId xmlns:a16="http://schemas.microsoft.com/office/drawing/2014/main" id="{F3BA01C2-1142-4F59-BBF5-54A2388DA2D7}"/>
              </a:ext>
            </a:extLst>
          </p:cNvPr>
          <p:cNvSpPr>
            <a:spLocks xmlns:a="http://schemas.openxmlformats.org/drawingml/2006/main" noGrp="1"/>
          </p:cNvSpPr>
          <p:nvPr/>
        </p:nvSpPr>
        <p:spPr>
          <a:xfrm xmlns:a="http://schemas.openxmlformats.org/drawingml/2006/main">
            <a:off x="6400800" y="1714500"/>
            <a:ext cx="5191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12B3C"/>
                </a:solidFill>
                <a:latin typeface="DejaVu Sans"/>
                <a:ea typeface="DejaVu Sans"/>
                <a:cs typeface="DejaVu Sans"/>
              </a:defRPr>
            </a:defPPr>
            <a:lvl1pPr>
              <a:defRPr sz="1950" b="1">
                <a:solidFill>
                  <a:srgbClr val="112B3C"/>
                </a:solidFill>
                <a:latin typeface="DejaVu Sans"/>
                <a:ea typeface="DejaVu Sans"/>
                <a:cs typeface="DejaVu Sans"/>
              </a:defRPr>
            </a:lvl1pPr>
            <a:lvl2pPr>
              <a:defRPr sz="1950" b="1">
                <a:solidFill>
                  <a:srgbClr val="112B3C"/>
                </a:solidFill>
                <a:latin typeface="DejaVu Sans"/>
                <a:ea typeface="DejaVu Sans"/>
                <a:cs typeface="DejaVu Sans"/>
              </a:defRPr>
            </a:lvl2pPr>
            <a:lvl3pPr>
              <a:defRPr sz="1950" b="1">
                <a:solidFill>
                  <a:srgbClr val="112B3C"/>
                </a:solidFill>
                <a:latin typeface="DejaVu Sans"/>
                <a:ea typeface="DejaVu Sans"/>
                <a:cs typeface="DejaVu Sans"/>
              </a:defRPr>
            </a:lvl3pPr>
            <a:lvl4pPr>
              <a:defRPr sz="1950" b="1">
                <a:solidFill>
                  <a:srgbClr val="112B3C"/>
                </a:solidFill>
                <a:latin typeface="DejaVu Sans"/>
                <a:ea typeface="DejaVu Sans"/>
                <a:cs typeface="DejaVu Sans"/>
              </a:defRPr>
            </a:lvl4pPr>
            <a:lvl5pPr>
              <a:defRPr sz="1950" b="1">
                <a:solidFill>
                  <a:srgbClr val="112B3C"/>
                </a:solidFill>
                <a:latin typeface="DejaVu Sans"/>
                <a:ea typeface="DejaVu Sans"/>
                <a:cs typeface="DejaVu Sans"/>
              </a:defRPr>
            </a:lvl5pPr>
            <a:lvl6pPr>
              <a:defRPr sz="1950" b="1">
                <a:solidFill>
                  <a:srgbClr val="112B3C"/>
                </a:solidFill>
                <a:latin typeface="DejaVu Sans"/>
                <a:ea typeface="DejaVu Sans"/>
                <a:cs typeface="DejaVu Sans"/>
              </a:defRPr>
            </a:lvl6pPr>
            <a:lvl7pPr>
              <a:defRPr sz="1950" b="1">
                <a:solidFill>
                  <a:srgbClr val="112B3C"/>
                </a:solidFill>
                <a:latin typeface="DejaVu Sans"/>
                <a:ea typeface="DejaVu Sans"/>
                <a:cs typeface="DejaVu Sans"/>
              </a:defRPr>
            </a:lvl7pPr>
            <a:lvl8pPr>
              <a:defRPr sz="1950" b="1">
                <a:solidFill>
                  <a:srgbClr val="112B3C"/>
                </a:solidFill>
                <a:latin typeface="DejaVu Sans"/>
                <a:ea typeface="DejaVu Sans"/>
                <a:cs typeface="DejaVu Sans"/>
              </a:defRPr>
            </a:lvl8pPr>
            <a:lvl9pPr>
              <a:defRPr sz="1950" b="1">
                <a:solidFill>
                  <a:srgbClr val="112B3C"/>
                </a:solidFill>
                <a:latin typeface="DejaVu Sans"/>
                <a:ea typeface="DejaVu Sans"/>
                <a:cs typeface="DejaVu Sans"/>
              </a:defRPr>
            </a:lvl9pPr>
          </a:lstStyle>
          <a:p xmlns:a="http://schemas.openxmlformats.org/drawingml/2006/main">
            <a:pPr>
              <a:defRPr sz="1950" b="1">
                <a:solidFill>
                  <a:srgbClr val="112B3C"/>
                </a:solidFill>
                <a:latin typeface="DejaVu Sans"/>
                <a:ea typeface="DejaVu Sans"/>
                <a:cs typeface="DejaVu Sans"/>
              </a:defRPr>
            </a:pPr>
            <a:r>
              <a:rPr sz="1950" b="1">
                <a:solidFill>
                  <a:srgbClr val="112B3C"/>
                </a:solidFill>
                <a:latin typeface="DejaVu Sans"/>
                <a:ea typeface="DejaVu Sans"/>
                <a:cs typeface="DejaVu Sans"/>
              </a:rPr>
              <a:t>PUT /api/turnos/{id}</a:t>
            </a:r>
          </a:p>
        </p:txBody>
      </p:sp>
      <p:sp>
        <p:nvSpPr>
          <p:cNvPr id="10" name="">
            <a:extLst xmlns:a="http://schemas.openxmlformats.org/drawingml/2006/main">
              <a:ext uri="{FF2B5EF4-FFF2-40B4-BE49-F238E27FC236}">
                <a16:creationId xmlns:a16="http://schemas.microsoft.com/office/drawing/2014/main" id="{E261923E-2161-4AEA-BEC4-DFFE6EA8D9CA}"/>
              </a:ext>
            </a:extLst>
          </p:cNvPr>
          <p:cNvSpPr>
            <a:spLocks xmlns:a="http://schemas.openxmlformats.org/drawingml/2006/main" noGrp="1"/>
          </p:cNvSpPr>
          <p:nvPr/>
        </p:nvSpPr>
        <p:spPr>
          <a:xfrm xmlns:a="http://schemas.openxmlformats.org/drawingml/2006/main">
            <a:off x="6400800" y="2552700"/>
            <a:ext cx="5181600" cy="190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6041475-786E-4E19-832C-3EB8B421B07D}"/>
              </a:ext>
            </a:extLst>
          </p:cNvPr>
          <p:cNvSpPr>
            <a:spLocks xmlns:a="http://schemas.openxmlformats.org/drawingml/2006/main" noGrp="1"/>
          </p:cNvSpPr>
          <p:nvPr/>
        </p:nvSpPr>
        <p:spPr>
          <a:xfrm xmlns:a="http://schemas.openxmlformats.org/drawingml/2006/main">
            <a:off x="6457950" y="2943225"/>
            <a:ext cx="5048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7384A"/>
                </a:solidFill>
                <a:latin typeface="DejaVu Sans Mono"/>
                <a:ea typeface="DejaVu Sans Mono"/>
                <a:cs typeface="DejaVu Sans Mono"/>
              </a:defRPr>
            </a:defPPr>
            <a:lvl1pPr>
              <a:defRPr sz="1650" b="0">
                <a:solidFill>
                  <a:srgbClr val="17384A"/>
                </a:solidFill>
                <a:latin typeface="DejaVu Sans Mono"/>
                <a:ea typeface="DejaVu Sans Mono"/>
                <a:cs typeface="DejaVu Sans Mono"/>
              </a:defRPr>
            </a:lvl1pPr>
            <a:lvl2pPr>
              <a:defRPr sz="1650" b="0">
                <a:solidFill>
                  <a:srgbClr val="17384A"/>
                </a:solidFill>
                <a:latin typeface="DejaVu Sans Mono"/>
                <a:ea typeface="DejaVu Sans Mono"/>
                <a:cs typeface="DejaVu Sans Mono"/>
              </a:defRPr>
            </a:lvl2pPr>
            <a:lvl3pPr>
              <a:defRPr sz="1650" b="0">
                <a:solidFill>
                  <a:srgbClr val="17384A"/>
                </a:solidFill>
                <a:latin typeface="DejaVu Sans Mono"/>
                <a:ea typeface="DejaVu Sans Mono"/>
                <a:cs typeface="DejaVu Sans Mono"/>
              </a:defRPr>
            </a:lvl3pPr>
            <a:lvl4pPr>
              <a:defRPr sz="1650" b="0">
                <a:solidFill>
                  <a:srgbClr val="17384A"/>
                </a:solidFill>
                <a:latin typeface="DejaVu Sans Mono"/>
                <a:ea typeface="DejaVu Sans Mono"/>
                <a:cs typeface="DejaVu Sans Mono"/>
              </a:defRPr>
            </a:lvl4pPr>
            <a:lvl5pPr>
              <a:defRPr sz="1650" b="0">
                <a:solidFill>
                  <a:srgbClr val="17384A"/>
                </a:solidFill>
                <a:latin typeface="DejaVu Sans Mono"/>
                <a:ea typeface="DejaVu Sans Mono"/>
                <a:cs typeface="DejaVu Sans Mono"/>
              </a:defRPr>
            </a:lvl5pPr>
            <a:lvl6pPr>
              <a:defRPr sz="1650" b="0">
                <a:solidFill>
                  <a:srgbClr val="17384A"/>
                </a:solidFill>
                <a:latin typeface="DejaVu Sans Mono"/>
                <a:ea typeface="DejaVu Sans Mono"/>
                <a:cs typeface="DejaVu Sans Mono"/>
              </a:defRPr>
            </a:lvl6pPr>
            <a:lvl7pPr>
              <a:defRPr sz="1650" b="0">
                <a:solidFill>
                  <a:srgbClr val="17384A"/>
                </a:solidFill>
                <a:latin typeface="DejaVu Sans Mono"/>
                <a:ea typeface="DejaVu Sans Mono"/>
                <a:cs typeface="DejaVu Sans Mono"/>
              </a:defRPr>
            </a:lvl7pPr>
            <a:lvl8pPr>
              <a:defRPr sz="1650" b="0">
                <a:solidFill>
                  <a:srgbClr val="17384A"/>
                </a:solidFill>
                <a:latin typeface="DejaVu Sans Mono"/>
                <a:ea typeface="DejaVu Sans Mono"/>
                <a:cs typeface="DejaVu Sans Mono"/>
              </a:defRPr>
            </a:lvl8pPr>
            <a:lvl9pPr>
              <a:defRPr sz="1650" b="0">
                <a:solidFill>
                  <a:srgbClr val="17384A"/>
                </a:solidFill>
                <a:latin typeface="DejaVu Sans Mono"/>
                <a:ea typeface="DejaVu Sans Mono"/>
                <a:cs typeface="DejaVu Sans Mono"/>
              </a:defRPr>
            </a:lvl9pPr>
          </a:lstStyle>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"servicioId": "&lt;servicio activo&gt;",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"fechaHora": "&lt;nueva fecha&gt;"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r>
              <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Se conserva el ID del turno</a:t>
            </a:r>
          </a:p>
        </p:txBody>
      </p:sp>
      <p:sp>
        <p:nvSpPr>
          <p:cNvPr id="12" name="">
            <a:extLst xmlns:a="http://schemas.openxmlformats.org/drawingml/2006/main">
              <a:ext uri="{FF2B5EF4-FFF2-40B4-BE49-F238E27FC236}">
                <a16:creationId xmlns:a16="http://schemas.microsoft.com/office/drawing/2014/main" id="{309C049A-177C-43DE-9297-56AB551E2E56}"/>
              </a:ext>
            </a:extLst>
          </p:cNvPr>
          <p:cNvSpPr>
            <a:spLocks xmlns:a="http://schemas.openxmlformats.org/drawingml/2006/main" noGrp="1"/>
          </p:cNvSpPr>
          <p:nvPr/>
        </p:nvSpPr>
        <p:spPr>
          <a:xfrm xmlns:a="http://schemas.openxmlformats.org/drawingml/2006/main">
            <a:off x="6457950" y="5419725"/>
            <a:ext cx="5048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536675"/>
                </a:solidFill>
                <a:latin typeface="DejaVu Sans"/>
                <a:ea typeface="DejaVu Sans"/>
                <a:cs typeface="DejaVu Sans"/>
              </a:defRPr>
            </a:defPPr>
            <a:lvl1pPr>
              <a:defRPr sz="1275" b="0">
                <a:solidFill>
                  <a:srgbClr val="536675"/>
                </a:solidFill>
                <a:latin typeface="DejaVu Sans"/>
                <a:ea typeface="DejaVu Sans"/>
                <a:cs typeface="DejaVu Sans"/>
              </a:defRPr>
            </a:lvl1pPr>
            <a:lvl2pPr>
              <a:defRPr sz="1275" b="0">
                <a:solidFill>
                  <a:srgbClr val="536675"/>
                </a:solidFill>
                <a:latin typeface="DejaVu Sans"/>
                <a:ea typeface="DejaVu Sans"/>
                <a:cs typeface="DejaVu Sans"/>
              </a:defRPr>
            </a:lvl2pPr>
            <a:lvl3pPr>
              <a:defRPr sz="1275" b="0">
                <a:solidFill>
                  <a:srgbClr val="536675"/>
                </a:solidFill>
                <a:latin typeface="DejaVu Sans"/>
                <a:ea typeface="DejaVu Sans"/>
                <a:cs typeface="DejaVu Sans"/>
              </a:defRPr>
            </a:lvl3pPr>
            <a:lvl4pPr>
              <a:defRPr sz="1275" b="0">
                <a:solidFill>
                  <a:srgbClr val="536675"/>
                </a:solidFill>
                <a:latin typeface="DejaVu Sans"/>
                <a:ea typeface="DejaVu Sans"/>
                <a:cs typeface="DejaVu Sans"/>
              </a:defRPr>
            </a:lvl4pPr>
            <a:lvl5pPr>
              <a:defRPr sz="1275" b="0">
                <a:solidFill>
                  <a:srgbClr val="536675"/>
                </a:solidFill>
                <a:latin typeface="DejaVu Sans"/>
                <a:ea typeface="DejaVu Sans"/>
                <a:cs typeface="DejaVu Sans"/>
              </a:defRPr>
            </a:lvl5pPr>
            <a:lvl6pPr>
              <a:defRPr sz="1275" b="0">
                <a:solidFill>
                  <a:srgbClr val="536675"/>
                </a:solidFill>
                <a:latin typeface="DejaVu Sans"/>
                <a:ea typeface="DejaVu Sans"/>
                <a:cs typeface="DejaVu Sans"/>
              </a:defRPr>
            </a:lvl6pPr>
            <a:lvl7pPr>
              <a:defRPr sz="1275" b="0">
                <a:solidFill>
                  <a:srgbClr val="536675"/>
                </a:solidFill>
                <a:latin typeface="DejaVu Sans"/>
                <a:ea typeface="DejaVu Sans"/>
                <a:cs typeface="DejaVu Sans"/>
              </a:defRPr>
            </a:lvl7pPr>
            <a:lvl8pPr>
              <a:defRPr sz="1275" b="0">
                <a:solidFill>
                  <a:srgbClr val="536675"/>
                </a:solidFill>
                <a:latin typeface="DejaVu Sans"/>
                <a:ea typeface="DejaVu Sans"/>
                <a:cs typeface="DejaVu Sans"/>
              </a:defRPr>
            </a:lvl8pPr>
            <a:lvl9pPr>
              <a:defRPr sz="1275" b="0">
                <a:solidFill>
                  <a:srgbClr val="536675"/>
                </a:solidFill>
                <a:latin typeface="DejaVu Sans"/>
                <a:ea typeface="DejaVu Sans"/>
                <a:cs typeface="DejaVu Sans"/>
              </a:defRPr>
            </a:lvl9pPr>
          </a:lstStyle>
          <a:p xmlns:a="http://schemas.openxmlformats.org/drawingml/2006/main">
            <a:pPr>
              <a:defRPr sz="1275" b="0">
                <a:solidFill>
                  <a:srgbClr val="536675"/>
                </a:solidFill>
                <a:latin typeface="DejaVu Sans"/>
                <a:ea typeface="DejaVu Sans"/>
                <a:cs typeface="DejaVu Sans"/>
              </a:defRPr>
            </a:pPr>
            <a:r>
              <a:rPr sz="1275" b="0">
                <a:solidFill>
                  <a:srgbClr val="536675"/>
                </a:solidFill>
                <a:latin typeface="DejaVu Sans"/>
                <a:ea typeface="DejaVu Sans"/>
                <a:cs typeface="DejaVu Sans"/>
              </a:rPr>
              <a:t>BusinessLogic/Services/TurnoService.cs</a:t>
            </a:r>
          </a:p>
        </p:txBody>
      </p:sp>
    </p:spTree>
    <p:extLst>
      <p:ext uri="{BB962C8B-B14F-4D97-AF65-F5344CB8AC3E}">
        <p14:creationId xmlns:p14="http://schemas.microsoft.com/office/powerpoint/2010/main" val="19239455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750817-9BCE-4E7C-9669-8631D1158537}"/>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C4E6760-F660-463C-BCBE-850AF4413685}"/>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CU-05 Cancelar turno</a:t>
            </a:r>
          </a:p>
        </p:txBody>
      </p:sp>
      <p:sp>
        <p:nvSpPr>
          <p:cNvPr id="3" name="">
            <a:extLst xmlns:a="http://schemas.openxmlformats.org/drawingml/2006/main">
              <a:ext uri="{FF2B5EF4-FFF2-40B4-BE49-F238E27FC236}">
                <a16:creationId xmlns:a16="http://schemas.microsoft.com/office/drawing/2014/main" id="{B29C7395-2351-473D-BDFC-1C95833DB4EE}"/>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BB136F-F04C-4352-8AD1-22BD81BBA7E4}"/>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E4BE672F-1532-45B3-8005-C782A19BCA37}"/>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12</a:t>
            </a:r>
          </a:p>
        </p:txBody>
      </p:sp>
      <p:sp>
        <p:nvSpPr>
          <p:cNvPr id="6" name="">
            <a:extLst xmlns:a="http://schemas.openxmlformats.org/drawingml/2006/main">
              <a:ext uri="{FF2B5EF4-FFF2-40B4-BE49-F238E27FC236}">
                <a16:creationId xmlns:a16="http://schemas.microsoft.com/office/drawing/2014/main" id="{E4BE687F-2232-4DB9-8D52-68EB8CD5643A}"/>
              </a:ext>
            </a:extLst>
          </p:cNvPr>
          <p:cNvSpPr>
            <a:spLocks xmlns:a="http://schemas.openxmlformats.org/drawingml/2006/main" noGrp="1"/>
          </p:cNvSpPr>
          <p:nvPr/>
        </p:nvSpPr>
        <p:spPr>
          <a:xfrm xmlns:a="http://schemas.openxmlformats.org/drawingml/2006/main">
            <a:off x="609600" y="14954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00A58E"/>
                </a:solidFill>
                <a:latin typeface="DejaVu Sans"/>
                <a:ea typeface="DejaVu Sans"/>
                <a:cs typeface="DejaVu Sans"/>
              </a:defRPr>
            </a:defPPr>
            <a:lvl1pPr>
              <a:defRPr sz="1875" b="1">
                <a:solidFill>
                  <a:srgbClr val="00A58E"/>
                </a:solidFill>
                <a:latin typeface="DejaVu Sans"/>
                <a:ea typeface="DejaVu Sans"/>
                <a:cs typeface="DejaVu Sans"/>
              </a:defRPr>
            </a:lvl1pPr>
            <a:lvl2pPr>
              <a:defRPr sz="1875" b="1">
                <a:solidFill>
                  <a:srgbClr val="00A58E"/>
                </a:solidFill>
                <a:latin typeface="DejaVu Sans"/>
                <a:ea typeface="DejaVu Sans"/>
                <a:cs typeface="DejaVu Sans"/>
              </a:defRPr>
            </a:lvl2pPr>
            <a:lvl3pPr>
              <a:defRPr sz="1875" b="1">
                <a:solidFill>
                  <a:srgbClr val="00A58E"/>
                </a:solidFill>
                <a:latin typeface="DejaVu Sans"/>
                <a:ea typeface="DejaVu Sans"/>
                <a:cs typeface="DejaVu Sans"/>
              </a:defRPr>
            </a:lvl3pPr>
            <a:lvl4pPr>
              <a:defRPr sz="1875" b="1">
                <a:solidFill>
                  <a:srgbClr val="00A58E"/>
                </a:solidFill>
                <a:latin typeface="DejaVu Sans"/>
                <a:ea typeface="DejaVu Sans"/>
                <a:cs typeface="DejaVu Sans"/>
              </a:defRPr>
            </a:lvl4pPr>
            <a:lvl5pPr>
              <a:defRPr sz="1875" b="1">
                <a:solidFill>
                  <a:srgbClr val="00A58E"/>
                </a:solidFill>
                <a:latin typeface="DejaVu Sans"/>
                <a:ea typeface="DejaVu Sans"/>
                <a:cs typeface="DejaVu Sans"/>
              </a:defRPr>
            </a:lvl5pPr>
            <a:lvl6pPr>
              <a:defRPr sz="1875" b="1">
                <a:solidFill>
                  <a:srgbClr val="00A58E"/>
                </a:solidFill>
                <a:latin typeface="DejaVu Sans"/>
                <a:ea typeface="DejaVu Sans"/>
                <a:cs typeface="DejaVu Sans"/>
              </a:defRPr>
            </a:lvl6pPr>
            <a:lvl7pPr>
              <a:defRPr sz="1875" b="1">
                <a:solidFill>
                  <a:srgbClr val="00A58E"/>
                </a:solidFill>
                <a:latin typeface="DejaVu Sans"/>
                <a:ea typeface="DejaVu Sans"/>
                <a:cs typeface="DejaVu Sans"/>
              </a:defRPr>
            </a:lvl7pPr>
            <a:lvl8pPr>
              <a:defRPr sz="1875" b="1">
                <a:solidFill>
                  <a:srgbClr val="00A58E"/>
                </a:solidFill>
                <a:latin typeface="DejaVu Sans"/>
                <a:ea typeface="DejaVu Sans"/>
                <a:cs typeface="DejaVu Sans"/>
              </a:defRPr>
            </a:lvl8pPr>
            <a:lvl9pPr>
              <a:defRPr sz="1875" b="1">
                <a:solidFill>
                  <a:srgbClr val="00A58E"/>
                </a:solidFill>
                <a:latin typeface="DejaVu Sans"/>
                <a:ea typeface="DejaVu Sans"/>
                <a:cs typeface="DejaVu Sans"/>
              </a:defRPr>
            </a:lvl9pPr>
          </a:lstStyle>
          <a:p xmlns:a="http://schemas.openxmlformats.org/drawingml/2006/main">
            <a:pPr>
              <a:defRPr sz="1875" b="1">
                <a:solidFill>
                  <a:srgbClr val="00A58E"/>
                </a:solidFill>
                <a:latin typeface="DejaVu Sans"/>
                <a:ea typeface="DejaVu Sans"/>
                <a:cs typeface="DejaVu Sans"/>
              </a:defRPr>
            </a:pPr>
            <a:r>
              <a:rPr sz="1875" b="1">
                <a:solidFill>
                  <a:srgbClr val="00A58E"/>
                </a:solidFill>
                <a:latin typeface="DejaVu Sans"/>
                <a:ea typeface="DejaVu Sans"/>
                <a:cs typeface="DejaVu Sans"/>
              </a:rPr>
              <a:t>RF-04 / CU-05</a:t>
            </a:r>
          </a:p>
        </p:txBody>
      </p:sp>
      <p:sp>
        <p:nvSpPr>
          <p:cNvPr id="7" name="">
            <a:extLst xmlns:a="http://schemas.openxmlformats.org/drawingml/2006/main">
              <a:ext uri="{FF2B5EF4-FFF2-40B4-BE49-F238E27FC236}">
                <a16:creationId xmlns:a16="http://schemas.microsoft.com/office/drawing/2014/main" id="{177543E1-ADB8-48D5-A82F-962D4EC24176}"/>
              </a:ext>
            </a:extLst>
          </p:cNvPr>
          <p:cNvSpPr>
            <a:spLocks xmlns:a="http://schemas.openxmlformats.org/drawingml/2006/main" noGrp="1"/>
          </p:cNvSpPr>
          <p:nvPr/>
        </p:nvSpPr>
        <p:spPr>
          <a:xfrm xmlns:a="http://schemas.openxmlformats.org/drawingml/2006/main">
            <a:off x="609600" y="2247900"/>
            <a:ext cx="5191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7384A"/>
                </a:solidFill>
                <a:latin typeface="DejaVu Sans"/>
                <a:ea typeface="DejaVu Sans"/>
                <a:cs typeface="DejaVu Sans"/>
              </a:defRPr>
            </a:defPPr>
            <a:lvl1pPr>
              <a:defRPr sz="2400" b="1">
                <a:solidFill>
                  <a:srgbClr val="17384A"/>
                </a:solidFill>
                <a:latin typeface="DejaVu Sans"/>
                <a:ea typeface="DejaVu Sans"/>
                <a:cs typeface="DejaVu Sans"/>
              </a:defRPr>
            </a:lvl1pPr>
            <a:lvl2pPr>
              <a:defRPr sz="2400" b="1">
                <a:solidFill>
                  <a:srgbClr val="17384A"/>
                </a:solidFill>
                <a:latin typeface="DejaVu Sans"/>
                <a:ea typeface="DejaVu Sans"/>
                <a:cs typeface="DejaVu Sans"/>
              </a:defRPr>
            </a:lvl2pPr>
            <a:lvl3pPr>
              <a:defRPr sz="2400" b="1">
                <a:solidFill>
                  <a:srgbClr val="17384A"/>
                </a:solidFill>
                <a:latin typeface="DejaVu Sans"/>
                <a:ea typeface="DejaVu Sans"/>
                <a:cs typeface="DejaVu Sans"/>
              </a:defRPr>
            </a:lvl3pPr>
            <a:lvl4pPr>
              <a:defRPr sz="2400" b="1">
                <a:solidFill>
                  <a:srgbClr val="17384A"/>
                </a:solidFill>
                <a:latin typeface="DejaVu Sans"/>
                <a:ea typeface="DejaVu Sans"/>
                <a:cs typeface="DejaVu Sans"/>
              </a:defRPr>
            </a:lvl4pPr>
            <a:lvl5pPr>
              <a:defRPr sz="2400" b="1">
                <a:solidFill>
                  <a:srgbClr val="17384A"/>
                </a:solidFill>
                <a:latin typeface="DejaVu Sans"/>
                <a:ea typeface="DejaVu Sans"/>
                <a:cs typeface="DejaVu Sans"/>
              </a:defRPr>
            </a:lvl5pPr>
            <a:lvl6pPr>
              <a:defRPr sz="2400" b="1">
                <a:solidFill>
                  <a:srgbClr val="17384A"/>
                </a:solidFill>
                <a:latin typeface="DejaVu Sans"/>
                <a:ea typeface="DejaVu Sans"/>
                <a:cs typeface="DejaVu Sans"/>
              </a:defRPr>
            </a:lvl6pPr>
            <a:lvl7pPr>
              <a:defRPr sz="2400" b="1">
                <a:solidFill>
                  <a:srgbClr val="17384A"/>
                </a:solidFill>
                <a:latin typeface="DejaVu Sans"/>
                <a:ea typeface="DejaVu Sans"/>
                <a:cs typeface="DejaVu Sans"/>
              </a:defRPr>
            </a:lvl7pPr>
            <a:lvl8pPr>
              <a:defRPr sz="2400" b="1">
                <a:solidFill>
                  <a:srgbClr val="17384A"/>
                </a:solidFill>
                <a:latin typeface="DejaVu Sans"/>
                <a:ea typeface="DejaVu Sans"/>
                <a:cs typeface="DejaVu Sans"/>
              </a:defRPr>
            </a:lvl8pPr>
            <a:lvl9pPr>
              <a:defRPr sz="2400" b="1">
                <a:solidFill>
                  <a:srgbClr val="17384A"/>
                </a:solidFill>
                <a:latin typeface="DejaVu Sans"/>
                <a:ea typeface="DejaVu Sans"/>
                <a:cs typeface="DejaVu Sans"/>
              </a:defRPr>
            </a:lvl9pPr>
          </a:lstStyle>
          <a:p xmlns:a="http://schemas.openxmlformats.org/drawingml/2006/main">
            <a:pPr>
              <a:defRPr sz="2400" b="1">
                <a:solidFill>
                  <a:srgbClr val="17384A"/>
                </a:solidFill>
                <a:latin typeface="DejaVu Sans"/>
                <a:ea typeface="DejaVu Sans"/>
                <a:cs typeface="DejaVu Sans"/>
              </a:defRPr>
            </a:pPr>
            <a:r>
              <a:rPr sz="2400" b="1">
                <a:solidFill>
                  <a:srgbClr val="17384A"/>
                </a:solidFill>
                <a:latin typeface="DejaVu Sans"/>
                <a:ea typeface="DejaVu Sans"/>
                <a:cs typeface="DejaVu Sans"/>
              </a:rPr>
              <a:t>Se conserva el historial y se libera el horario</a:t>
            </a:r>
          </a:p>
        </p:txBody>
      </p:sp>
      <p:sp>
        <p:nvSpPr>
          <p:cNvPr id="8" name="">
            <a:extLst xmlns:a="http://schemas.openxmlformats.org/drawingml/2006/main">
              <a:ext uri="{FF2B5EF4-FFF2-40B4-BE49-F238E27FC236}">
                <a16:creationId xmlns:a16="http://schemas.microsoft.com/office/drawing/2014/main" id="{BD2A58FB-3D18-44C4-AE7B-3769D9BC70BC}"/>
              </a:ext>
            </a:extLst>
          </p:cNvPr>
          <p:cNvSpPr>
            <a:spLocks xmlns:a="http://schemas.openxmlformats.org/drawingml/2006/main" noGrp="1"/>
          </p:cNvSpPr>
          <p:nvPr/>
        </p:nvSpPr>
        <p:spPr>
          <a:xfrm xmlns:a="http://schemas.openxmlformats.org/drawingml/2006/main">
            <a:off x="609600" y="5133975"/>
            <a:ext cx="5191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A58E"/>
                </a:solidFill>
                <a:latin typeface="DejaVu Sans"/>
                <a:ea typeface="DejaVu Sans"/>
                <a:cs typeface="DejaVu Sans"/>
              </a:defRPr>
            </a:defPPr>
            <a:lvl1pPr>
              <a:defRPr sz="2250" b="1">
                <a:solidFill>
                  <a:srgbClr val="00A58E"/>
                </a:solidFill>
                <a:latin typeface="DejaVu Sans"/>
                <a:ea typeface="DejaVu Sans"/>
                <a:cs typeface="DejaVu Sans"/>
              </a:defRPr>
            </a:lvl1pPr>
            <a:lvl2pPr>
              <a:defRPr sz="2250" b="1">
                <a:solidFill>
                  <a:srgbClr val="00A58E"/>
                </a:solidFill>
                <a:latin typeface="DejaVu Sans"/>
                <a:ea typeface="DejaVu Sans"/>
                <a:cs typeface="DejaVu Sans"/>
              </a:defRPr>
            </a:lvl2pPr>
            <a:lvl3pPr>
              <a:defRPr sz="2250" b="1">
                <a:solidFill>
                  <a:srgbClr val="00A58E"/>
                </a:solidFill>
                <a:latin typeface="DejaVu Sans"/>
                <a:ea typeface="DejaVu Sans"/>
                <a:cs typeface="DejaVu Sans"/>
              </a:defRPr>
            </a:lvl3pPr>
            <a:lvl4pPr>
              <a:defRPr sz="2250" b="1">
                <a:solidFill>
                  <a:srgbClr val="00A58E"/>
                </a:solidFill>
                <a:latin typeface="DejaVu Sans"/>
                <a:ea typeface="DejaVu Sans"/>
                <a:cs typeface="DejaVu Sans"/>
              </a:defRPr>
            </a:lvl4pPr>
            <a:lvl5pPr>
              <a:defRPr sz="2250" b="1">
                <a:solidFill>
                  <a:srgbClr val="00A58E"/>
                </a:solidFill>
                <a:latin typeface="DejaVu Sans"/>
                <a:ea typeface="DejaVu Sans"/>
                <a:cs typeface="DejaVu Sans"/>
              </a:defRPr>
            </a:lvl5pPr>
            <a:lvl6pPr>
              <a:defRPr sz="2250" b="1">
                <a:solidFill>
                  <a:srgbClr val="00A58E"/>
                </a:solidFill>
                <a:latin typeface="DejaVu Sans"/>
                <a:ea typeface="DejaVu Sans"/>
                <a:cs typeface="DejaVu Sans"/>
              </a:defRPr>
            </a:lvl6pPr>
            <a:lvl7pPr>
              <a:defRPr sz="2250" b="1">
                <a:solidFill>
                  <a:srgbClr val="00A58E"/>
                </a:solidFill>
                <a:latin typeface="DejaVu Sans"/>
                <a:ea typeface="DejaVu Sans"/>
                <a:cs typeface="DejaVu Sans"/>
              </a:defRPr>
            </a:lvl7pPr>
            <a:lvl8pPr>
              <a:defRPr sz="2250" b="1">
                <a:solidFill>
                  <a:srgbClr val="00A58E"/>
                </a:solidFill>
                <a:latin typeface="DejaVu Sans"/>
                <a:ea typeface="DejaVu Sans"/>
                <a:cs typeface="DejaVu Sans"/>
              </a:defRPr>
            </a:lvl8pPr>
            <a:lvl9pPr>
              <a:defRPr sz="2250" b="1">
                <a:solidFill>
                  <a:srgbClr val="00A58E"/>
                </a:solidFill>
                <a:latin typeface="DejaVu Sans"/>
                <a:ea typeface="DejaVu Sans"/>
                <a:cs typeface="DejaVu Sans"/>
              </a:defRPr>
            </a:lvl9pPr>
          </a:lstStyle>
          <a:p xmlns:a="http://schemas.openxmlformats.org/drawingml/2006/main">
            <a:pPr>
              <a:defRPr sz="2250" b="1">
                <a:solidFill>
                  <a:srgbClr val="00A58E"/>
                </a:solidFill>
                <a:latin typeface="DejaVu Sans"/>
                <a:ea typeface="DejaVu Sans"/>
                <a:cs typeface="DejaVu Sans"/>
              </a:defRPr>
            </a:pPr>
            <a:r>
              <a:rPr sz="2250" b="1">
                <a:solidFill>
                  <a:srgbClr val="00A58E"/>
                </a:solidFill>
                <a:latin typeface="DejaVu Sans"/>
                <a:ea typeface="DejaVu Sans"/>
                <a:cs typeface="DejaVu Sans"/>
              </a:rPr>
              <a:t>204 No Content</a:t>
            </a:r>
          </a:p>
        </p:txBody>
      </p:sp>
      <p:sp>
        <p:nvSpPr>
          <p:cNvPr id="9" name="">
            <a:extLst xmlns:a="http://schemas.openxmlformats.org/drawingml/2006/main">
              <a:ext uri="{FF2B5EF4-FFF2-40B4-BE49-F238E27FC236}">
                <a16:creationId xmlns:a16="http://schemas.microsoft.com/office/drawing/2014/main" id="{25E90752-F0F1-4202-8C87-85FBF2B16885}"/>
              </a:ext>
            </a:extLst>
          </p:cNvPr>
          <p:cNvSpPr>
            <a:spLocks xmlns:a="http://schemas.openxmlformats.org/drawingml/2006/main" noGrp="1"/>
          </p:cNvSpPr>
          <p:nvPr/>
        </p:nvSpPr>
        <p:spPr>
          <a:xfrm xmlns:a="http://schemas.openxmlformats.org/drawingml/2006/main">
            <a:off x="6400800" y="1714500"/>
            <a:ext cx="5191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12B3C"/>
                </a:solidFill>
                <a:latin typeface="DejaVu Sans"/>
                <a:ea typeface="DejaVu Sans"/>
                <a:cs typeface="DejaVu Sans"/>
              </a:defRPr>
            </a:defPPr>
            <a:lvl1pPr>
              <a:defRPr sz="1950" b="1">
                <a:solidFill>
                  <a:srgbClr val="112B3C"/>
                </a:solidFill>
                <a:latin typeface="DejaVu Sans"/>
                <a:ea typeface="DejaVu Sans"/>
                <a:cs typeface="DejaVu Sans"/>
              </a:defRPr>
            </a:lvl1pPr>
            <a:lvl2pPr>
              <a:defRPr sz="1950" b="1">
                <a:solidFill>
                  <a:srgbClr val="112B3C"/>
                </a:solidFill>
                <a:latin typeface="DejaVu Sans"/>
                <a:ea typeface="DejaVu Sans"/>
                <a:cs typeface="DejaVu Sans"/>
              </a:defRPr>
            </a:lvl2pPr>
            <a:lvl3pPr>
              <a:defRPr sz="1950" b="1">
                <a:solidFill>
                  <a:srgbClr val="112B3C"/>
                </a:solidFill>
                <a:latin typeface="DejaVu Sans"/>
                <a:ea typeface="DejaVu Sans"/>
                <a:cs typeface="DejaVu Sans"/>
              </a:defRPr>
            </a:lvl3pPr>
            <a:lvl4pPr>
              <a:defRPr sz="1950" b="1">
                <a:solidFill>
                  <a:srgbClr val="112B3C"/>
                </a:solidFill>
                <a:latin typeface="DejaVu Sans"/>
                <a:ea typeface="DejaVu Sans"/>
                <a:cs typeface="DejaVu Sans"/>
              </a:defRPr>
            </a:lvl4pPr>
            <a:lvl5pPr>
              <a:defRPr sz="1950" b="1">
                <a:solidFill>
                  <a:srgbClr val="112B3C"/>
                </a:solidFill>
                <a:latin typeface="DejaVu Sans"/>
                <a:ea typeface="DejaVu Sans"/>
                <a:cs typeface="DejaVu Sans"/>
              </a:defRPr>
            </a:lvl5pPr>
            <a:lvl6pPr>
              <a:defRPr sz="1950" b="1">
                <a:solidFill>
                  <a:srgbClr val="112B3C"/>
                </a:solidFill>
                <a:latin typeface="DejaVu Sans"/>
                <a:ea typeface="DejaVu Sans"/>
                <a:cs typeface="DejaVu Sans"/>
              </a:defRPr>
            </a:lvl6pPr>
            <a:lvl7pPr>
              <a:defRPr sz="1950" b="1">
                <a:solidFill>
                  <a:srgbClr val="112B3C"/>
                </a:solidFill>
                <a:latin typeface="DejaVu Sans"/>
                <a:ea typeface="DejaVu Sans"/>
                <a:cs typeface="DejaVu Sans"/>
              </a:defRPr>
            </a:lvl7pPr>
            <a:lvl8pPr>
              <a:defRPr sz="1950" b="1">
                <a:solidFill>
                  <a:srgbClr val="112B3C"/>
                </a:solidFill>
                <a:latin typeface="DejaVu Sans"/>
                <a:ea typeface="DejaVu Sans"/>
                <a:cs typeface="DejaVu Sans"/>
              </a:defRPr>
            </a:lvl8pPr>
            <a:lvl9pPr>
              <a:defRPr sz="1950" b="1">
                <a:solidFill>
                  <a:srgbClr val="112B3C"/>
                </a:solidFill>
                <a:latin typeface="DejaVu Sans"/>
                <a:ea typeface="DejaVu Sans"/>
                <a:cs typeface="DejaVu Sans"/>
              </a:defRPr>
            </a:lvl9pPr>
          </a:lstStyle>
          <a:p xmlns:a="http://schemas.openxmlformats.org/drawingml/2006/main">
            <a:pPr>
              <a:defRPr sz="1950" b="1">
                <a:solidFill>
                  <a:srgbClr val="112B3C"/>
                </a:solidFill>
                <a:latin typeface="DejaVu Sans"/>
                <a:ea typeface="DejaVu Sans"/>
                <a:cs typeface="DejaVu Sans"/>
              </a:defRPr>
            </a:pPr>
            <a:r>
              <a:rPr sz="1950" b="1">
                <a:solidFill>
                  <a:srgbClr val="112B3C"/>
                </a:solidFill>
                <a:latin typeface="DejaVu Sans"/>
                <a:ea typeface="DejaVu Sans"/>
                <a:cs typeface="DejaVu Sans"/>
              </a:rPr>
              <a:t>DELETE /api/turnos/{id}</a:t>
            </a:r>
          </a:p>
        </p:txBody>
      </p:sp>
      <p:sp>
        <p:nvSpPr>
          <p:cNvPr id="10" name="">
            <a:extLst xmlns:a="http://schemas.openxmlformats.org/drawingml/2006/main">
              <a:ext uri="{FF2B5EF4-FFF2-40B4-BE49-F238E27FC236}">
                <a16:creationId xmlns:a16="http://schemas.microsoft.com/office/drawing/2014/main" id="{DF8DD4C8-885A-4CFF-BBE5-E463E518973F}"/>
              </a:ext>
            </a:extLst>
          </p:cNvPr>
          <p:cNvSpPr>
            <a:spLocks xmlns:a="http://schemas.openxmlformats.org/drawingml/2006/main" noGrp="1"/>
          </p:cNvSpPr>
          <p:nvPr/>
        </p:nvSpPr>
        <p:spPr>
          <a:xfrm xmlns:a="http://schemas.openxmlformats.org/drawingml/2006/main">
            <a:off x="6400800" y="2552700"/>
            <a:ext cx="5181600" cy="190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CC7F6A-FFC2-4267-8E96-7BA43E078599}"/>
              </a:ext>
            </a:extLst>
          </p:cNvPr>
          <p:cNvSpPr>
            <a:spLocks xmlns:a="http://schemas.openxmlformats.org/drawingml/2006/main" noGrp="1"/>
          </p:cNvSpPr>
          <p:nvPr/>
        </p:nvSpPr>
        <p:spPr>
          <a:xfrm xmlns:a="http://schemas.openxmlformats.org/drawingml/2006/main">
            <a:off x="6457950" y="2943225"/>
            <a:ext cx="5048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7384A"/>
                </a:solidFill>
                <a:latin typeface="DejaVu Sans Mono"/>
                <a:ea typeface="DejaVu Sans Mono"/>
                <a:cs typeface="DejaVu Sans Mono"/>
              </a:defRPr>
            </a:defPPr>
            <a:lvl1pPr>
              <a:defRPr sz="1650" b="0">
                <a:solidFill>
                  <a:srgbClr val="17384A"/>
                </a:solidFill>
                <a:latin typeface="DejaVu Sans Mono"/>
                <a:ea typeface="DejaVu Sans Mono"/>
                <a:cs typeface="DejaVu Sans Mono"/>
              </a:defRPr>
            </a:lvl1pPr>
            <a:lvl2pPr>
              <a:defRPr sz="1650" b="0">
                <a:solidFill>
                  <a:srgbClr val="17384A"/>
                </a:solidFill>
                <a:latin typeface="DejaVu Sans Mono"/>
                <a:ea typeface="DejaVu Sans Mono"/>
                <a:cs typeface="DejaVu Sans Mono"/>
              </a:defRPr>
            </a:lvl2pPr>
            <a:lvl3pPr>
              <a:defRPr sz="1650" b="0">
                <a:solidFill>
                  <a:srgbClr val="17384A"/>
                </a:solidFill>
                <a:latin typeface="DejaVu Sans Mono"/>
                <a:ea typeface="DejaVu Sans Mono"/>
                <a:cs typeface="DejaVu Sans Mono"/>
              </a:defRPr>
            </a:lvl3pPr>
            <a:lvl4pPr>
              <a:defRPr sz="1650" b="0">
                <a:solidFill>
                  <a:srgbClr val="17384A"/>
                </a:solidFill>
                <a:latin typeface="DejaVu Sans Mono"/>
                <a:ea typeface="DejaVu Sans Mono"/>
                <a:cs typeface="DejaVu Sans Mono"/>
              </a:defRPr>
            </a:lvl4pPr>
            <a:lvl5pPr>
              <a:defRPr sz="1650" b="0">
                <a:solidFill>
                  <a:srgbClr val="17384A"/>
                </a:solidFill>
                <a:latin typeface="DejaVu Sans Mono"/>
                <a:ea typeface="DejaVu Sans Mono"/>
                <a:cs typeface="DejaVu Sans Mono"/>
              </a:defRPr>
            </a:lvl5pPr>
            <a:lvl6pPr>
              <a:defRPr sz="1650" b="0">
                <a:solidFill>
                  <a:srgbClr val="17384A"/>
                </a:solidFill>
                <a:latin typeface="DejaVu Sans Mono"/>
                <a:ea typeface="DejaVu Sans Mono"/>
                <a:cs typeface="DejaVu Sans Mono"/>
              </a:defRPr>
            </a:lvl6pPr>
            <a:lvl7pPr>
              <a:defRPr sz="1650" b="0">
                <a:solidFill>
                  <a:srgbClr val="17384A"/>
                </a:solidFill>
                <a:latin typeface="DejaVu Sans Mono"/>
                <a:ea typeface="DejaVu Sans Mono"/>
                <a:cs typeface="DejaVu Sans Mono"/>
              </a:defRPr>
            </a:lvl7pPr>
            <a:lvl8pPr>
              <a:defRPr sz="1650" b="0">
                <a:solidFill>
                  <a:srgbClr val="17384A"/>
                </a:solidFill>
                <a:latin typeface="DejaVu Sans Mono"/>
                <a:ea typeface="DejaVu Sans Mono"/>
                <a:cs typeface="DejaVu Sans Mono"/>
              </a:defRPr>
            </a:lvl8pPr>
            <a:lvl9pPr>
              <a:defRPr sz="1650" b="0">
                <a:solidFill>
                  <a:srgbClr val="17384A"/>
                </a:solidFill>
                <a:latin typeface="DejaVu Sans Mono"/>
                <a:ea typeface="DejaVu Sans Mono"/>
                <a:cs typeface="DejaVu Sans Mono"/>
              </a:defRPr>
            </a:lvl9pPr>
          </a:lstStyle>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Sin cuerpo de petición</a:t>
            </a:r>
          </a:p>
          <a:p xmlns:a="http://schemas.openxmlformats.org/drawingml/2006/main">
            <a:r>
              <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Estado: Cancelado</a:t>
            </a:r>
          </a:p>
          <a:p xmlns:a="http://schemas.openxmlformats.org/drawingml/2006/main">
            <a:r>
              <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GET /api/turnos/disponibilidad</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"disponible": true }</a:t>
            </a:r>
          </a:p>
        </p:txBody>
      </p:sp>
      <p:sp>
        <p:nvSpPr>
          <p:cNvPr id="12" name="">
            <a:extLst xmlns:a="http://schemas.openxmlformats.org/drawingml/2006/main">
              <a:ext uri="{FF2B5EF4-FFF2-40B4-BE49-F238E27FC236}">
                <a16:creationId xmlns:a16="http://schemas.microsoft.com/office/drawing/2014/main" id="{34AD2CA7-F87D-4861-BBF5-8F9452695F40}"/>
              </a:ext>
            </a:extLst>
          </p:cNvPr>
          <p:cNvSpPr>
            <a:spLocks xmlns:a="http://schemas.openxmlformats.org/drawingml/2006/main" noGrp="1"/>
          </p:cNvSpPr>
          <p:nvPr/>
        </p:nvSpPr>
        <p:spPr>
          <a:xfrm xmlns:a="http://schemas.openxmlformats.org/drawingml/2006/main">
            <a:off x="6457950" y="5419725"/>
            <a:ext cx="5048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536675"/>
                </a:solidFill>
                <a:latin typeface="DejaVu Sans"/>
                <a:ea typeface="DejaVu Sans"/>
                <a:cs typeface="DejaVu Sans"/>
              </a:defRPr>
            </a:defPPr>
            <a:lvl1pPr>
              <a:defRPr sz="1275" b="0">
                <a:solidFill>
                  <a:srgbClr val="536675"/>
                </a:solidFill>
                <a:latin typeface="DejaVu Sans"/>
                <a:ea typeface="DejaVu Sans"/>
                <a:cs typeface="DejaVu Sans"/>
              </a:defRPr>
            </a:lvl1pPr>
            <a:lvl2pPr>
              <a:defRPr sz="1275" b="0">
                <a:solidFill>
                  <a:srgbClr val="536675"/>
                </a:solidFill>
                <a:latin typeface="DejaVu Sans"/>
                <a:ea typeface="DejaVu Sans"/>
                <a:cs typeface="DejaVu Sans"/>
              </a:defRPr>
            </a:lvl2pPr>
            <a:lvl3pPr>
              <a:defRPr sz="1275" b="0">
                <a:solidFill>
                  <a:srgbClr val="536675"/>
                </a:solidFill>
                <a:latin typeface="DejaVu Sans"/>
                <a:ea typeface="DejaVu Sans"/>
                <a:cs typeface="DejaVu Sans"/>
              </a:defRPr>
            </a:lvl3pPr>
            <a:lvl4pPr>
              <a:defRPr sz="1275" b="0">
                <a:solidFill>
                  <a:srgbClr val="536675"/>
                </a:solidFill>
                <a:latin typeface="DejaVu Sans"/>
                <a:ea typeface="DejaVu Sans"/>
                <a:cs typeface="DejaVu Sans"/>
              </a:defRPr>
            </a:lvl4pPr>
            <a:lvl5pPr>
              <a:defRPr sz="1275" b="0">
                <a:solidFill>
                  <a:srgbClr val="536675"/>
                </a:solidFill>
                <a:latin typeface="DejaVu Sans"/>
                <a:ea typeface="DejaVu Sans"/>
                <a:cs typeface="DejaVu Sans"/>
              </a:defRPr>
            </a:lvl5pPr>
            <a:lvl6pPr>
              <a:defRPr sz="1275" b="0">
                <a:solidFill>
                  <a:srgbClr val="536675"/>
                </a:solidFill>
                <a:latin typeface="DejaVu Sans"/>
                <a:ea typeface="DejaVu Sans"/>
                <a:cs typeface="DejaVu Sans"/>
              </a:defRPr>
            </a:lvl6pPr>
            <a:lvl7pPr>
              <a:defRPr sz="1275" b="0">
                <a:solidFill>
                  <a:srgbClr val="536675"/>
                </a:solidFill>
                <a:latin typeface="DejaVu Sans"/>
                <a:ea typeface="DejaVu Sans"/>
                <a:cs typeface="DejaVu Sans"/>
              </a:defRPr>
            </a:lvl7pPr>
            <a:lvl8pPr>
              <a:defRPr sz="1275" b="0">
                <a:solidFill>
                  <a:srgbClr val="536675"/>
                </a:solidFill>
                <a:latin typeface="DejaVu Sans"/>
                <a:ea typeface="DejaVu Sans"/>
                <a:cs typeface="DejaVu Sans"/>
              </a:defRPr>
            </a:lvl8pPr>
            <a:lvl9pPr>
              <a:defRPr sz="1275" b="0">
                <a:solidFill>
                  <a:srgbClr val="536675"/>
                </a:solidFill>
                <a:latin typeface="DejaVu Sans"/>
                <a:ea typeface="DejaVu Sans"/>
                <a:cs typeface="DejaVu Sans"/>
              </a:defRPr>
            </a:lvl9pPr>
          </a:lstStyle>
          <a:p xmlns:a="http://schemas.openxmlformats.org/drawingml/2006/main">
            <a:pPr>
              <a:defRPr sz="1275" b="0">
                <a:solidFill>
                  <a:srgbClr val="536675"/>
                </a:solidFill>
                <a:latin typeface="DejaVu Sans"/>
                <a:ea typeface="DejaVu Sans"/>
                <a:cs typeface="DejaVu Sans"/>
              </a:defRPr>
            </a:pPr>
            <a:r>
              <a:rPr sz="1275" b="0">
                <a:solidFill>
                  <a:srgbClr val="536675"/>
                </a:solidFill>
                <a:latin typeface="DejaVu Sans"/>
                <a:ea typeface="DejaVu Sans"/>
                <a:cs typeface="DejaVu Sans"/>
              </a:rPr>
              <a:t>BusinessLogic/Services/TurnoService.cs</a:t>
            </a:r>
          </a:p>
        </p:txBody>
      </p:sp>
    </p:spTree>
    <p:extLst>
      <p:ext uri="{BB962C8B-B14F-4D97-AF65-F5344CB8AC3E}">
        <p14:creationId xmlns:p14="http://schemas.microsoft.com/office/powerpoint/2010/main" val="1352746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685BAC-EFC3-42F3-AA43-F888A9DFB38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EC3DE81-3530-4213-B725-D8D5BA7D2D6E}"/>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CU-06 Gestionar servicios</a:t>
            </a:r>
          </a:p>
        </p:txBody>
      </p:sp>
      <p:sp>
        <p:nvSpPr>
          <p:cNvPr id="3" name="">
            <a:extLst xmlns:a="http://schemas.openxmlformats.org/drawingml/2006/main">
              <a:ext uri="{FF2B5EF4-FFF2-40B4-BE49-F238E27FC236}">
                <a16:creationId xmlns:a16="http://schemas.microsoft.com/office/drawing/2014/main" id="{748D8796-4E4F-424E-97E5-DC3ABAB98A76}"/>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E82C46-D31B-408F-878C-AEF2E5FD4C10}"/>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68D9A085-9E79-428C-A263-42D3D90DAC4D}"/>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13</a:t>
            </a:r>
          </a:p>
        </p:txBody>
      </p:sp>
      <p:sp>
        <p:nvSpPr>
          <p:cNvPr id="6" name="">
            <a:extLst xmlns:a="http://schemas.openxmlformats.org/drawingml/2006/main">
              <a:ext uri="{FF2B5EF4-FFF2-40B4-BE49-F238E27FC236}">
                <a16:creationId xmlns:a16="http://schemas.microsoft.com/office/drawing/2014/main" id="{46D668C5-FE64-4723-B764-E29EF044A0CB}"/>
              </a:ext>
            </a:extLst>
          </p:cNvPr>
          <p:cNvSpPr>
            <a:spLocks xmlns:a="http://schemas.openxmlformats.org/drawingml/2006/main" noGrp="1"/>
          </p:cNvSpPr>
          <p:nvPr/>
        </p:nvSpPr>
        <p:spPr>
          <a:xfrm xmlns:a="http://schemas.openxmlformats.org/drawingml/2006/main">
            <a:off x="609600" y="14954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00A58E"/>
                </a:solidFill>
                <a:latin typeface="DejaVu Sans"/>
                <a:ea typeface="DejaVu Sans"/>
                <a:cs typeface="DejaVu Sans"/>
              </a:defRPr>
            </a:defPPr>
            <a:lvl1pPr>
              <a:defRPr sz="1875" b="1">
                <a:solidFill>
                  <a:srgbClr val="00A58E"/>
                </a:solidFill>
                <a:latin typeface="DejaVu Sans"/>
                <a:ea typeface="DejaVu Sans"/>
                <a:cs typeface="DejaVu Sans"/>
              </a:defRPr>
            </a:lvl1pPr>
            <a:lvl2pPr>
              <a:defRPr sz="1875" b="1">
                <a:solidFill>
                  <a:srgbClr val="00A58E"/>
                </a:solidFill>
                <a:latin typeface="DejaVu Sans"/>
                <a:ea typeface="DejaVu Sans"/>
                <a:cs typeface="DejaVu Sans"/>
              </a:defRPr>
            </a:lvl2pPr>
            <a:lvl3pPr>
              <a:defRPr sz="1875" b="1">
                <a:solidFill>
                  <a:srgbClr val="00A58E"/>
                </a:solidFill>
                <a:latin typeface="DejaVu Sans"/>
                <a:ea typeface="DejaVu Sans"/>
                <a:cs typeface="DejaVu Sans"/>
              </a:defRPr>
            </a:lvl3pPr>
            <a:lvl4pPr>
              <a:defRPr sz="1875" b="1">
                <a:solidFill>
                  <a:srgbClr val="00A58E"/>
                </a:solidFill>
                <a:latin typeface="DejaVu Sans"/>
                <a:ea typeface="DejaVu Sans"/>
                <a:cs typeface="DejaVu Sans"/>
              </a:defRPr>
            </a:lvl4pPr>
            <a:lvl5pPr>
              <a:defRPr sz="1875" b="1">
                <a:solidFill>
                  <a:srgbClr val="00A58E"/>
                </a:solidFill>
                <a:latin typeface="DejaVu Sans"/>
                <a:ea typeface="DejaVu Sans"/>
                <a:cs typeface="DejaVu Sans"/>
              </a:defRPr>
            </a:lvl5pPr>
            <a:lvl6pPr>
              <a:defRPr sz="1875" b="1">
                <a:solidFill>
                  <a:srgbClr val="00A58E"/>
                </a:solidFill>
                <a:latin typeface="DejaVu Sans"/>
                <a:ea typeface="DejaVu Sans"/>
                <a:cs typeface="DejaVu Sans"/>
              </a:defRPr>
            </a:lvl6pPr>
            <a:lvl7pPr>
              <a:defRPr sz="1875" b="1">
                <a:solidFill>
                  <a:srgbClr val="00A58E"/>
                </a:solidFill>
                <a:latin typeface="DejaVu Sans"/>
                <a:ea typeface="DejaVu Sans"/>
                <a:cs typeface="DejaVu Sans"/>
              </a:defRPr>
            </a:lvl7pPr>
            <a:lvl8pPr>
              <a:defRPr sz="1875" b="1">
                <a:solidFill>
                  <a:srgbClr val="00A58E"/>
                </a:solidFill>
                <a:latin typeface="DejaVu Sans"/>
                <a:ea typeface="DejaVu Sans"/>
                <a:cs typeface="DejaVu Sans"/>
              </a:defRPr>
            </a:lvl8pPr>
            <a:lvl9pPr>
              <a:defRPr sz="1875" b="1">
                <a:solidFill>
                  <a:srgbClr val="00A58E"/>
                </a:solidFill>
                <a:latin typeface="DejaVu Sans"/>
                <a:ea typeface="DejaVu Sans"/>
                <a:cs typeface="DejaVu Sans"/>
              </a:defRPr>
            </a:lvl9pPr>
          </a:lstStyle>
          <a:p xmlns:a="http://schemas.openxmlformats.org/drawingml/2006/main">
            <a:pPr>
              <a:defRPr sz="1875" b="1">
                <a:solidFill>
                  <a:srgbClr val="00A58E"/>
                </a:solidFill>
                <a:latin typeface="DejaVu Sans"/>
                <a:ea typeface="DejaVu Sans"/>
                <a:cs typeface="DejaVu Sans"/>
              </a:defRPr>
            </a:pPr>
            <a:r>
              <a:rPr sz="1875" b="1">
                <a:solidFill>
                  <a:srgbClr val="00A58E"/>
                </a:solidFill>
                <a:latin typeface="DejaVu Sans"/>
                <a:ea typeface="DejaVu Sans"/>
                <a:cs typeface="DejaVu Sans"/>
              </a:rPr>
              <a:t>RF-05 / CU-06</a:t>
            </a:r>
          </a:p>
        </p:txBody>
      </p:sp>
      <p:sp>
        <p:nvSpPr>
          <p:cNvPr id="7" name="">
            <a:extLst xmlns:a="http://schemas.openxmlformats.org/drawingml/2006/main">
              <a:ext uri="{FF2B5EF4-FFF2-40B4-BE49-F238E27FC236}">
                <a16:creationId xmlns:a16="http://schemas.microsoft.com/office/drawing/2014/main" id="{443D47D1-3E73-4D97-83C6-CABE896CA731}"/>
              </a:ext>
            </a:extLst>
          </p:cNvPr>
          <p:cNvSpPr>
            <a:spLocks xmlns:a="http://schemas.openxmlformats.org/drawingml/2006/main" noGrp="1"/>
          </p:cNvSpPr>
          <p:nvPr/>
        </p:nvSpPr>
        <p:spPr>
          <a:xfrm xmlns:a="http://schemas.openxmlformats.org/drawingml/2006/main">
            <a:off x="609600" y="2247900"/>
            <a:ext cx="5191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7384A"/>
                </a:solidFill>
                <a:latin typeface="DejaVu Sans"/>
                <a:ea typeface="DejaVu Sans"/>
                <a:cs typeface="DejaVu Sans"/>
              </a:defRPr>
            </a:defPPr>
            <a:lvl1pPr>
              <a:defRPr sz="2400" b="1">
                <a:solidFill>
                  <a:srgbClr val="17384A"/>
                </a:solidFill>
                <a:latin typeface="DejaVu Sans"/>
                <a:ea typeface="DejaVu Sans"/>
                <a:cs typeface="DejaVu Sans"/>
              </a:defRPr>
            </a:lvl1pPr>
            <a:lvl2pPr>
              <a:defRPr sz="2400" b="1">
                <a:solidFill>
                  <a:srgbClr val="17384A"/>
                </a:solidFill>
                <a:latin typeface="DejaVu Sans"/>
                <a:ea typeface="DejaVu Sans"/>
                <a:cs typeface="DejaVu Sans"/>
              </a:defRPr>
            </a:lvl2pPr>
            <a:lvl3pPr>
              <a:defRPr sz="2400" b="1">
                <a:solidFill>
                  <a:srgbClr val="17384A"/>
                </a:solidFill>
                <a:latin typeface="DejaVu Sans"/>
                <a:ea typeface="DejaVu Sans"/>
                <a:cs typeface="DejaVu Sans"/>
              </a:defRPr>
            </a:lvl3pPr>
            <a:lvl4pPr>
              <a:defRPr sz="2400" b="1">
                <a:solidFill>
                  <a:srgbClr val="17384A"/>
                </a:solidFill>
                <a:latin typeface="DejaVu Sans"/>
                <a:ea typeface="DejaVu Sans"/>
                <a:cs typeface="DejaVu Sans"/>
              </a:defRPr>
            </a:lvl4pPr>
            <a:lvl5pPr>
              <a:defRPr sz="2400" b="1">
                <a:solidFill>
                  <a:srgbClr val="17384A"/>
                </a:solidFill>
                <a:latin typeface="DejaVu Sans"/>
                <a:ea typeface="DejaVu Sans"/>
                <a:cs typeface="DejaVu Sans"/>
              </a:defRPr>
            </a:lvl5pPr>
            <a:lvl6pPr>
              <a:defRPr sz="2400" b="1">
                <a:solidFill>
                  <a:srgbClr val="17384A"/>
                </a:solidFill>
                <a:latin typeface="DejaVu Sans"/>
                <a:ea typeface="DejaVu Sans"/>
                <a:cs typeface="DejaVu Sans"/>
              </a:defRPr>
            </a:lvl6pPr>
            <a:lvl7pPr>
              <a:defRPr sz="2400" b="1">
                <a:solidFill>
                  <a:srgbClr val="17384A"/>
                </a:solidFill>
                <a:latin typeface="DejaVu Sans"/>
                <a:ea typeface="DejaVu Sans"/>
                <a:cs typeface="DejaVu Sans"/>
              </a:defRPr>
            </a:lvl7pPr>
            <a:lvl8pPr>
              <a:defRPr sz="2400" b="1">
                <a:solidFill>
                  <a:srgbClr val="17384A"/>
                </a:solidFill>
                <a:latin typeface="DejaVu Sans"/>
                <a:ea typeface="DejaVu Sans"/>
                <a:cs typeface="DejaVu Sans"/>
              </a:defRPr>
            </a:lvl8pPr>
            <a:lvl9pPr>
              <a:defRPr sz="2400" b="1">
                <a:solidFill>
                  <a:srgbClr val="17384A"/>
                </a:solidFill>
                <a:latin typeface="DejaVu Sans"/>
                <a:ea typeface="DejaVu Sans"/>
                <a:cs typeface="DejaVu Sans"/>
              </a:defRPr>
            </a:lvl9pPr>
          </a:lstStyle>
          <a:p xmlns:a="http://schemas.openxmlformats.org/drawingml/2006/main">
            <a:pPr>
              <a:defRPr sz="2400" b="1">
                <a:solidFill>
                  <a:srgbClr val="17384A"/>
                </a:solidFill>
                <a:latin typeface="DejaVu Sans"/>
                <a:ea typeface="DejaVu Sans"/>
                <a:cs typeface="DejaVu Sans"/>
              </a:defRPr>
            </a:pPr>
            <a:r>
              <a:rPr sz="2400" b="1">
                <a:solidFill>
                  <a:srgbClr val="17384A"/>
                </a:solidFill>
                <a:latin typeface="DejaVu Sans"/>
                <a:ea typeface="DejaVu Sans"/>
                <a:cs typeface="DejaVu Sans"/>
              </a:rPr>
              <a:t>Solo administrador, nombre único e importe positivo</a:t>
            </a:r>
          </a:p>
        </p:txBody>
      </p:sp>
      <p:sp>
        <p:nvSpPr>
          <p:cNvPr id="8" name="">
            <a:extLst xmlns:a="http://schemas.openxmlformats.org/drawingml/2006/main">
              <a:ext uri="{FF2B5EF4-FFF2-40B4-BE49-F238E27FC236}">
                <a16:creationId xmlns:a16="http://schemas.microsoft.com/office/drawing/2014/main" id="{3B601727-372C-43BB-94E4-42462256A166}"/>
              </a:ext>
            </a:extLst>
          </p:cNvPr>
          <p:cNvSpPr>
            <a:spLocks xmlns:a="http://schemas.openxmlformats.org/drawingml/2006/main" noGrp="1"/>
          </p:cNvSpPr>
          <p:nvPr/>
        </p:nvSpPr>
        <p:spPr>
          <a:xfrm xmlns:a="http://schemas.openxmlformats.org/drawingml/2006/main">
            <a:off x="609600" y="5133975"/>
            <a:ext cx="5191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A58E"/>
                </a:solidFill>
                <a:latin typeface="DejaVu Sans"/>
                <a:ea typeface="DejaVu Sans"/>
                <a:cs typeface="DejaVu Sans"/>
              </a:defRPr>
            </a:defPPr>
            <a:lvl1pPr>
              <a:defRPr sz="2250" b="1">
                <a:solidFill>
                  <a:srgbClr val="00A58E"/>
                </a:solidFill>
                <a:latin typeface="DejaVu Sans"/>
                <a:ea typeface="DejaVu Sans"/>
                <a:cs typeface="DejaVu Sans"/>
              </a:defRPr>
            </a:lvl1pPr>
            <a:lvl2pPr>
              <a:defRPr sz="2250" b="1">
                <a:solidFill>
                  <a:srgbClr val="00A58E"/>
                </a:solidFill>
                <a:latin typeface="DejaVu Sans"/>
                <a:ea typeface="DejaVu Sans"/>
                <a:cs typeface="DejaVu Sans"/>
              </a:defRPr>
            </a:lvl2pPr>
            <a:lvl3pPr>
              <a:defRPr sz="2250" b="1">
                <a:solidFill>
                  <a:srgbClr val="00A58E"/>
                </a:solidFill>
                <a:latin typeface="DejaVu Sans"/>
                <a:ea typeface="DejaVu Sans"/>
                <a:cs typeface="DejaVu Sans"/>
              </a:defRPr>
            </a:lvl3pPr>
            <a:lvl4pPr>
              <a:defRPr sz="2250" b="1">
                <a:solidFill>
                  <a:srgbClr val="00A58E"/>
                </a:solidFill>
                <a:latin typeface="DejaVu Sans"/>
                <a:ea typeface="DejaVu Sans"/>
                <a:cs typeface="DejaVu Sans"/>
              </a:defRPr>
            </a:lvl4pPr>
            <a:lvl5pPr>
              <a:defRPr sz="2250" b="1">
                <a:solidFill>
                  <a:srgbClr val="00A58E"/>
                </a:solidFill>
                <a:latin typeface="DejaVu Sans"/>
                <a:ea typeface="DejaVu Sans"/>
                <a:cs typeface="DejaVu Sans"/>
              </a:defRPr>
            </a:lvl5pPr>
            <a:lvl6pPr>
              <a:defRPr sz="2250" b="1">
                <a:solidFill>
                  <a:srgbClr val="00A58E"/>
                </a:solidFill>
                <a:latin typeface="DejaVu Sans"/>
                <a:ea typeface="DejaVu Sans"/>
                <a:cs typeface="DejaVu Sans"/>
              </a:defRPr>
            </a:lvl6pPr>
            <a:lvl7pPr>
              <a:defRPr sz="2250" b="1">
                <a:solidFill>
                  <a:srgbClr val="00A58E"/>
                </a:solidFill>
                <a:latin typeface="DejaVu Sans"/>
                <a:ea typeface="DejaVu Sans"/>
                <a:cs typeface="DejaVu Sans"/>
              </a:defRPr>
            </a:lvl7pPr>
            <a:lvl8pPr>
              <a:defRPr sz="2250" b="1">
                <a:solidFill>
                  <a:srgbClr val="00A58E"/>
                </a:solidFill>
                <a:latin typeface="DejaVu Sans"/>
                <a:ea typeface="DejaVu Sans"/>
                <a:cs typeface="DejaVu Sans"/>
              </a:defRPr>
            </a:lvl8pPr>
            <a:lvl9pPr>
              <a:defRPr sz="2250" b="1">
                <a:solidFill>
                  <a:srgbClr val="00A58E"/>
                </a:solidFill>
                <a:latin typeface="DejaVu Sans"/>
                <a:ea typeface="DejaVu Sans"/>
                <a:cs typeface="DejaVu Sans"/>
              </a:defRPr>
            </a:lvl9pPr>
          </a:lstStyle>
          <a:p xmlns:a="http://schemas.openxmlformats.org/drawingml/2006/main">
            <a:pPr>
              <a:defRPr sz="2250" b="1">
                <a:solidFill>
                  <a:srgbClr val="00A58E"/>
                </a:solidFill>
                <a:latin typeface="DejaVu Sans"/>
                <a:ea typeface="DejaVu Sans"/>
                <a:cs typeface="DejaVu Sans"/>
              </a:defRPr>
            </a:pPr>
            <a:r>
              <a:rPr sz="2250" b="1">
                <a:solidFill>
                  <a:srgbClr val="00A58E"/>
                </a:solidFill>
                <a:latin typeface="DejaVu Sans"/>
                <a:ea typeface="DejaVu Sans"/>
                <a:cs typeface="DejaVu Sans"/>
              </a:rPr>
              <a:t>201 / 200 / 204</a:t>
            </a:r>
          </a:p>
        </p:txBody>
      </p:sp>
      <p:sp>
        <p:nvSpPr>
          <p:cNvPr id="9" name="">
            <a:extLst xmlns:a="http://schemas.openxmlformats.org/drawingml/2006/main">
              <a:ext uri="{FF2B5EF4-FFF2-40B4-BE49-F238E27FC236}">
                <a16:creationId xmlns:a16="http://schemas.microsoft.com/office/drawing/2014/main" id="{E9CD285D-142A-4FE0-B9B1-4325BA5D061B}"/>
              </a:ext>
            </a:extLst>
          </p:cNvPr>
          <p:cNvSpPr>
            <a:spLocks xmlns:a="http://schemas.openxmlformats.org/drawingml/2006/main" noGrp="1"/>
          </p:cNvSpPr>
          <p:nvPr/>
        </p:nvSpPr>
        <p:spPr>
          <a:xfrm xmlns:a="http://schemas.openxmlformats.org/drawingml/2006/main">
            <a:off x="6400800" y="1714500"/>
            <a:ext cx="5191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12B3C"/>
                </a:solidFill>
                <a:latin typeface="DejaVu Sans"/>
                <a:ea typeface="DejaVu Sans"/>
                <a:cs typeface="DejaVu Sans"/>
              </a:defRPr>
            </a:defPPr>
            <a:lvl1pPr>
              <a:defRPr sz="1950" b="1">
                <a:solidFill>
                  <a:srgbClr val="112B3C"/>
                </a:solidFill>
                <a:latin typeface="DejaVu Sans"/>
                <a:ea typeface="DejaVu Sans"/>
                <a:cs typeface="DejaVu Sans"/>
              </a:defRPr>
            </a:lvl1pPr>
            <a:lvl2pPr>
              <a:defRPr sz="1950" b="1">
                <a:solidFill>
                  <a:srgbClr val="112B3C"/>
                </a:solidFill>
                <a:latin typeface="DejaVu Sans"/>
                <a:ea typeface="DejaVu Sans"/>
                <a:cs typeface="DejaVu Sans"/>
              </a:defRPr>
            </a:lvl2pPr>
            <a:lvl3pPr>
              <a:defRPr sz="1950" b="1">
                <a:solidFill>
                  <a:srgbClr val="112B3C"/>
                </a:solidFill>
                <a:latin typeface="DejaVu Sans"/>
                <a:ea typeface="DejaVu Sans"/>
                <a:cs typeface="DejaVu Sans"/>
              </a:defRPr>
            </a:lvl3pPr>
            <a:lvl4pPr>
              <a:defRPr sz="1950" b="1">
                <a:solidFill>
                  <a:srgbClr val="112B3C"/>
                </a:solidFill>
                <a:latin typeface="DejaVu Sans"/>
                <a:ea typeface="DejaVu Sans"/>
                <a:cs typeface="DejaVu Sans"/>
              </a:defRPr>
            </a:lvl4pPr>
            <a:lvl5pPr>
              <a:defRPr sz="1950" b="1">
                <a:solidFill>
                  <a:srgbClr val="112B3C"/>
                </a:solidFill>
                <a:latin typeface="DejaVu Sans"/>
                <a:ea typeface="DejaVu Sans"/>
                <a:cs typeface="DejaVu Sans"/>
              </a:defRPr>
            </a:lvl5pPr>
            <a:lvl6pPr>
              <a:defRPr sz="1950" b="1">
                <a:solidFill>
                  <a:srgbClr val="112B3C"/>
                </a:solidFill>
                <a:latin typeface="DejaVu Sans"/>
                <a:ea typeface="DejaVu Sans"/>
                <a:cs typeface="DejaVu Sans"/>
              </a:defRPr>
            </a:lvl6pPr>
            <a:lvl7pPr>
              <a:defRPr sz="1950" b="1">
                <a:solidFill>
                  <a:srgbClr val="112B3C"/>
                </a:solidFill>
                <a:latin typeface="DejaVu Sans"/>
                <a:ea typeface="DejaVu Sans"/>
                <a:cs typeface="DejaVu Sans"/>
              </a:defRPr>
            </a:lvl7pPr>
            <a:lvl8pPr>
              <a:defRPr sz="1950" b="1">
                <a:solidFill>
                  <a:srgbClr val="112B3C"/>
                </a:solidFill>
                <a:latin typeface="DejaVu Sans"/>
                <a:ea typeface="DejaVu Sans"/>
                <a:cs typeface="DejaVu Sans"/>
              </a:defRPr>
            </a:lvl8pPr>
            <a:lvl9pPr>
              <a:defRPr sz="1950" b="1">
                <a:solidFill>
                  <a:srgbClr val="112B3C"/>
                </a:solidFill>
                <a:latin typeface="DejaVu Sans"/>
                <a:ea typeface="DejaVu Sans"/>
                <a:cs typeface="DejaVu Sans"/>
              </a:defRPr>
            </a:lvl9pPr>
          </a:lstStyle>
          <a:p xmlns:a="http://schemas.openxmlformats.org/drawingml/2006/main">
            <a:pPr>
              <a:defRPr sz="1950" b="1">
                <a:solidFill>
                  <a:srgbClr val="112B3C"/>
                </a:solidFill>
                <a:latin typeface="DejaVu Sans"/>
                <a:ea typeface="DejaVu Sans"/>
                <a:cs typeface="DejaVu Sans"/>
              </a:defRPr>
            </a:pPr>
            <a:r>
              <a:rPr sz="1950" b="1">
                <a:solidFill>
                  <a:srgbClr val="112B3C"/>
                </a:solidFill>
                <a:latin typeface="DejaVu Sans"/>
                <a:ea typeface="DejaVu Sans"/>
                <a:cs typeface="DejaVu Sans"/>
              </a:rPr>
              <a:t>POST /api/servicios</a:t>
            </a:r>
          </a:p>
        </p:txBody>
      </p:sp>
      <p:sp>
        <p:nvSpPr>
          <p:cNvPr id="10" name="">
            <a:extLst xmlns:a="http://schemas.openxmlformats.org/drawingml/2006/main">
              <a:ext uri="{FF2B5EF4-FFF2-40B4-BE49-F238E27FC236}">
                <a16:creationId xmlns:a16="http://schemas.microsoft.com/office/drawing/2014/main" id="{3AAC480B-0B19-409E-96FE-1C40DDCF1CD0}"/>
              </a:ext>
            </a:extLst>
          </p:cNvPr>
          <p:cNvSpPr>
            <a:spLocks xmlns:a="http://schemas.openxmlformats.org/drawingml/2006/main" noGrp="1"/>
          </p:cNvSpPr>
          <p:nvPr/>
        </p:nvSpPr>
        <p:spPr>
          <a:xfrm xmlns:a="http://schemas.openxmlformats.org/drawingml/2006/main">
            <a:off x="6400800" y="2552700"/>
            <a:ext cx="5181600" cy="190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A98A5D9-FA2B-4D0A-8FEE-BE71412746EF}"/>
              </a:ext>
            </a:extLst>
          </p:cNvPr>
          <p:cNvSpPr>
            <a:spLocks xmlns:a="http://schemas.openxmlformats.org/drawingml/2006/main" noGrp="1"/>
          </p:cNvSpPr>
          <p:nvPr/>
        </p:nvSpPr>
        <p:spPr>
          <a:xfrm xmlns:a="http://schemas.openxmlformats.org/drawingml/2006/main">
            <a:off x="6457950" y="2943225"/>
            <a:ext cx="5048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7384A"/>
                </a:solidFill>
                <a:latin typeface="DejaVu Sans Mono"/>
                <a:ea typeface="DejaVu Sans Mono"/>
                <a:cs typeface="DejaVu Sans Mono"/>
              </a:defRPr>
            </a:defPPr>
            <a:lvl1pPr>
              <a:defRPr sz="1650" b="0">
                <a:solidFill>
                  <a:srgbClr val="17384A"/>
                </a:solidFill>
                <a:latin typeface="DejaVu Sans Mono"/>
                <a:ea typeface="DejaVu Sans Mono"/>
                <a:cs typeface="DejaVu Sans Mono"/>
              </a:defRPr>
            </a:lvl1pPr>
            <a:lvl2pPr>
              <a:defRPr sz="1650" b="0">
                <a:solidFill>
                  <a:srgbClr val="17384A"/>
                </a:solidFill>
                <a:latin typeface="DejaVu Sans Mono"/>
                <a:ea typeface="DejaVu Sans Mono"/>
                <a:cs typeface="DejaVu Sans Mono"/>
              </a:defRPr>
            </a:lvl2pPr>
            <a:lvl3pPr>
              <a:defRPr sz="1650" b="0">
                <a:solidFill>
                  <a:srgbClr val="17384A"/>
                </a:solidFill>
                <a:latin typeface="DejaVu Sans Mono"/>
                <a:ea typeface="DejaVu Sans Mono"/>
                <a:cs typeface="DejaVu Sans Mono"/>
              </a:defRPr>
            </a:lvl3pPr>
            <a:lvl4pPr>
              <a:defRPr sz="1650" b="0">
                <a:solidFill>
                  <a:srgbClr val="17384A"/>
                </a:solidFill>
                <a:latin typeface="DejaVu Sans Mono"/>
                <a:ea typeface="DejaVu Sans Mono"/>
                <a:cs typeface="DejaVu Sans Mono"/>
              </a:defRPr>
            </a:lvl4pPr>
            <a:lvl5pPr>
              <a:defRPr sz="1650" b="0">
                <a:solidFill>
                  <a:srgbClr val="17384A"/>
                </a:solidFill>
                <a:latin typeface="DejaVu Sans Mono"/>
                <a:ea typeface="DejaVu Sans Mono"/>
                <a:cs typeface="DejaVu Sans Mono"/>
              </a:defRPr>
            </a:lvl5pPr>
            <a:lvl6pPr>
              <a:defRPr sz="1650" b="0">
                <a:solidFill>
                  <a:srgbClr val="17384A"/>
                </a:solidFill>
                <a:latin typeface="DejaVu Sans Mono"/>
                <a:ea typeface="DejaVu Sans Mono"/>
                <a:cs typeface="DejaVu Sans Mono"/>
              </a:defRPr>
            </a:lvl6pPr>
            <a:lvl7pPr>
              <a:defRPr sz="1650" b="0">
                <a:solidFill>
                  <a:srgbClr val="17384A"/>
                </a:solidFill>
                <a:latin typeface="DejaVu Sans Mono"/>
                <a:ea typeface="DejaVu Sans Mono"/>
                <a:cs typeface="DejaVu Sans Mono"/>
              </a:defRPr>
            </a:lvl7pPr>
            <a:lvl8pPr>
              <a:defRPr sz="1650" b="0">
                <a:solidFill>
                  <a:srgbClr val="17384A"/>
                </a:solidFill>
                <a:latin typeface="DejaVu Sans Mono"/>
                <a:ea typeface="DejaVu Sans Mono"/>
                <a:cs typeface="DejaVu Sans Mono"/>
              </a:defRPr>
            </a:lvl8pPr>
            <a:lvl9pPr>
              <a:defRPr sz="1650" b="0">
                <a:solidFill>
                  <a:srgbClr val="17384A"/>
                </a:solidFill>
                <a:latin typeface="DejaVu Sans Mono"/>
                <a:ea typeface="DejaVu Sans Mono"/>
                <a:cs typeface="DejaVu Sans Mono"/>
              </a:defRPr>
            </a:lvl9pPr>
          </a:lstStyle>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"nombre": "&lt;nombre único&gt;",</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  "importe": 12000</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a:t>
            </a:r>
          </a:p>
          <a:p xmlns:a="http://schemas.openxmlformats.org/drawingml/2006/main">
            <a:r>
              <a:t/>
            </a:r>
          </a:p>
          <a:p xmlns:a="http://schemas.openxmlformats.org/drawingml/2006/main">
            <a:pPr>
              <a:defRPr sz="1650" b="0">
                <a:solidFill>
                  <a:srgbClr val="17384A"/>
                </a:solidFill>
                <a:latin typeface="DejaVu Sans Mono"/>
                <a:ea typeface="DejaVu Sans Mono"/>
                <a:cs typeface="DejaVu Sans Mono"/>
              </a:defRPr>
            </a:pPr>
            <a:r>
              <a:rPr sz="1650" b="0">
                <a:solidFill>
                  <a:srgbClr val="17384A"/>
                </a:solidFill>
                <a:latin typeface="DejaVu Sans Mono"/>
                <a:ea typeface="DejaVu Sans Mono"/>
                <a:cs typeface="DejaVu Sans Mono"/>
              </a:rPr>
              <a:t>Requiere rol Administrador</a:t>
            </a:r>
          </a:p>
        </p:txBody>
      </p:sp>
      <p:sp>
        <p:nvSpPr>
          <p:cNvPr id="12" name="">
            <a:extLst xmlns:a="http://schemas.openxmlformats.org/drawingml/2006/main">
              <a:ext uri="{FF2B5EF4-FFF2-40B4-BE49-F238E27FC236}">
                <a16:creationId xmlns:a16="http://schemas.microsoft.com/office/drawing/2014/main" id="{7A127359-B3B8-4074-985D-C8E9B3B8F485}"/>
              </a:ext>
            </a:extLst>
          </p:cNvPr>
          <p:cNvSpPr>
            <a:spLocks xmlns:a="http://schemas.openxmlformats.org/drawingml/2006/main" noGrp="1"/>
          </p:cNvSpPr>
          <p:nvPr/>
        </p:nvSpPr>
        <p:spPr>
          <a:xfrm xmlns:a="http://schemas.openxmlformats.org/drawingml/2006/main">
            <a:off x="6457950" y="5419725"/>
            <a:ext cx="5048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536675"/>
                </a:solidFill>
                <a:latin typeface="DejaVu Sans"/>
                <a:ea typeface="DejaVu Sans"/>
                <a:cs typeface="DejaVu Sans"/>
              </a:defRPr>
            </a:defPPr>
            <a:lvl1pPr>
              <a:defRPr sz="1275" b="0">
                <a:solidFill>
                  <a:srgbClr val="536675"/>
                </a:solidFill>
                <a:latin typeface="DejaVu Sans"/>
                <a:ea typeface="DejaVu Sans"/>
                <a:cs typeface="DejaVu Sans"/>
              </a:defRPr>
            </a:lvl1pPr>
            <a:lvl2pPr>
              <a:defRPr sz="1275" b="0">
                <a:solidFill>
                  <a:srgbClr val="536675"/>
                </a:solidFill>
                <a:latin typeface="DejaVu Sans"/>
                <a:ea typeface="DejaVu Sans"/>
                <a:cs typeface="DejaVu Sans"/>
              </a:defRPr>
            </a:lvl2pPr>
            <a:lvl3pPr>
              <a:defRPr sz="1275" b="0">
                <a:solidFill>
                  <a:srgbClr val="536675"/>
                </a:solidFill>
                <a:latin typeface="DejaVu Sans"/>
                <a:ea typeface="DejaVu Sans"/>
                <a:cs typeface="DejaVu Sans"/>
              </a:defRPr>
            </a:lvl3pPr>
            <a:lvl4pPr>
              <a:defRPr sz="1275" b="0">
                <a:solidFill>
                  <a:srgbClr val="536675"/>
                </a:solidFill>
                <a:latin typeface="DejaVu Sans"/>
                <a:ea typeface="DejaVu Sans"/>
                <a:cs typeface="DejaVu Sans"/>
              </a:defRPr>
            </a:lvl4pPr>
            <a:lvl5pPr>
              <a:defRPr sz="1275" b="0">
                <a:solidFill>
                  <a:srgbClr val="536675"/>
                </a:solidFill>
                <a:latin typeface="DejaVu Sans"/>
                <a:ea typeface="DejaVu Sans"/>
                <a:cs typeface="DejaVu Sans"/>
              </a:defRPr>
            </a:lvl5pPr>
            <a:lvl6pPr>
              <a:defRPr sz="1275" b="0">
                <a:solidFill>
                  <a:srgbClr val="536675"/>
                </a:solidFill>
                <a:latin typeface="DejaVu Sans"/>
                <a:ea typeface="DejaVu Sans"/>
                <a:cs typeface="DejaVu Sans"/>
              </a:defRPr>
            </a:lvl6pPr>
            <a:lvl7pPr>
              <a:defRPr sz="1275" b="0">
                <a:solidFill>
                  <a:srgbClr val="536675"/>
                </a:solidFill>
                <a:latin typeface="DejaVu Sans"/>
                <a:ea typeface="DejaVu Sans"/>
                <a:cs typeface="DejaVu Sans"/>
              </a:defRPr>
            </a:lvl7pPr>
            <a:lvl8pPr>
              <a:defRPr sz="1275" b="0">
                <a:solidFill>
                  <a:srgbClr val="536675"/>
                </a:solidFill>
                <a:latin typeface="DejaVu Sans"/>
                <a:ea typeface="DejaVu Sans"/>
                <a:cs typeface="DejaVu Sans"/>
              </a:defRPr>
            </a:lvl8pPr>
            <a:lvl9pPr>
              <a:defRPr sz="1275" b="0">
                <a:solidFill>
                  <a:srgbClr val="536675"/>
                </a:solidFill>
                <a:latin typeface="DejaVu Sans"/>
                <a:ea typeface="DejaVu Sans"/>
                <a:cs typeface="DejaVu Sans"/>
              </a:defRPr>
            </a:lvl9pPr>
          </a:lstStyle>
          <a:p xmlns:a="http://schemas.openxmlformats.org/drawingml/2006/main">
            <a:pPr>
              <a:defRPr sz="1275" b="0">
                <a:solidFill>
                  <a:srgbClr val="536675"/>
                </a:solidFill>
                <a:latin typeface="DejaVu Sans"/>
                <a:ea typeface="DejaVu Sans"/>
                <a:cs typeface="DejaVu Sans"/>
              </a:defRPr>
            </a:pPr>
            <a:r>
              <a:rPr sz="1275" b="0">
                <a:solidFill>
                  <a:srgbClr val="536675"/>
                </a:solidFill>
                <a:latin typeface="DejaVu Sans"/>
                <a:ea typeface="DejaVu Sans"/>
                <a:cs typeface="DejaVu Sans"/>
              </a:rPr>
              <a:t>BusinessLogic/Services/ServicioService.cs</a:t>
            </a:r>
          </a:p>
        </p:txBody>
      </p:sp>
    </p:spTree>
    <p:extLst>
      <p:ext uri="{BB962C8B-B14F-4D97-AF65-F5344CB8AC3E}">
        <p14:creationId xmlns:p14="http://schemas.microsoft.com/office/powerpoint/2010/main" val="12317226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B5C8AC-FEBA-4032-B315-A391F8AD0DC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3FC4798-0EB7-4E41-9B50-A7101C6F85D7}"/>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Validaciones y datos limpios</a:t>
            </a:r>
          </a:p>
        </p:txBody>
      </p:sp>
      <p:sp>
        <p:nvSpPr>
          <p:cNvPr id="3" name="">
            <a:extLst xmlns:a="http://schemas.openxmlformats.org/drawingml/2006/main">
              <a:ext uri="{FF2B5EF4-FFF2-40B4-BE49-F238E27FC236}">
                <a16:creationId xmlns:a16="http://schemas.microsoft.com/office/drawing/2014/main" id="{51C66D58-2024-4EF5-AF9D-B60FFC765591}"/>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CF35E4-6616-4EA0-9AAB-17762F3B7699}"/>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58A09C2E-A246-49B5-BD15-5245A2BF7483}"/>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14</a:t>
            </a:r>
          </a:p>
        </p:txBody>
      </p:sp>
      <p:graphicFrame>
        <p:nvGraphicFramePr>
          <p:cNvPr id="6" name="">
            <a:extLst xmlns:a="http://schemas.openxmlformats.org/drawingml/2006/main">
              <a:ext uri="{FF2B5EF4-FFF2-40B4-BE49-F238E27FC236}">
                <a16:creationId xmlns:a16="http://schemas.microsoft.com/office/drawing/2014/main" id="{17A673B8-6B55-492A-90E2-7896EF0C2C44}"/>
              </a:ext>
            </a:extLst>
          </p:cNvPr>
          <p:cNvGraphicFramePr/>
          <p:nvPr/>
        </p:nvGraphicFramePr>
        <p:xfrm>
          <a:off xmlns:a="http://schemas.openxmlformats.org/drawingml/2006/main" x="609600" y="1571625"/>
          <a:ext xmlns:a="http://schemas.openxmlformats.org/drawingml/2006/main" cx="10972800" cy="3476625"/>
        </p:xfrm>
        <a:graphic xmlns:a="http://schemas.openxmlformats.org/drawingml/2006/main">
          <a:graphicData uri="http://schemas.openxmlformats.org/drawingml/2006/table">
            <a:tbl>
              <a:tblPr/>
              <a:tblGrid>
                <a:gridCol w="4191000"/>
                <a:gridCol w="1809750"/>
                <a:gridCol w="4972050"/>
              </a:tblGrid>
              <a:tr h="695325">
                <a:tc>
                  <a:txBody>
                    <a:bodyPr lIns="114300" tIns="114300" rIns="114300" bIns="114300"/>
                    <a:lstStyle/>
                    <a:p>
                      <a:r>
                        <a:rPr sz="1725" b="1">
                          <a:solidFill>
                            <a:srgbClr val="FFFFFF"/>
                          </a:solidFill>
                          <a:latin typeface="DejaVu Sans"/>
                          <a:ea typeface="DejaVu Sans"/>
                          <a:cs typeface="DejaVu Sans"/>
                        </a:rPr>
                        <a:t>Entrada de prueba</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Respuesta</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Comprobación</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695325">
                <a:tc>
                  <a:txBody>
                    <a:bodyPr lIns="114300" tIns="114300" rIns="114300" bIns="114300"/>
                    <a:lstStyle/>
                    <a:p>
                      <a:r>
                        <a:rPr sz="1725" b="0">
                          <a:solidFill>
                            <a:srgbClr val="17384A"/>
                          </a:solidFill>
                          <a:latin typeface="DejaVu Sans"/>
                          <a:ea typeface="DejaVu Sans"/>
                          <a:cs typeface="DejaVu Sans"/>
                        </a:rPr>
                        <a:t>nombre: null</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400</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Sin altas ni cambios</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95325">
                <a:tc>
                  <a:txBody>
                    <a:bodyPr lIns="114300" tIns="114300" rIns="114300" bIns="114300"/>
                    <a:lstStyle/>
                    <a:p>
                      <a:r>
                        <a:rPr sz="1725" b="0">
                          <a:solidFill>
                            <a:srgbClr val="17384A"/>
                          </a:solidFill>
                          <a:latin typeface="DejaVu Sans"/>
                          <a:ea typeface="DejaVu Sans"/>
                          <a:cs typeface="DejaVu Sans"/>
                        </a:rPr>
                        <a:t>nombre: "   "</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400</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Sin altas ni cambios</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695325">
                <a:tc>
                  <a:txBody>
                    <a:bodyPr lIns="114300" tIns="114300" rIns="114300" bIns="114300"/>
                    <a:lstStyle/>
                    <a:p>
                      <a:r>
                        <a:rPr sz="1725" b="0">
                          <a:solidFill>
                            <a:srgbClr val="17384A"/>
                          </a:solidFill>
                          <a:latin typeface="DejaVu Sans"/>
                          <a:ea typeface="DejaVu Sans"/>
                          <a:cs typeface="DejaVu Sans"/>
                        </a:rPr>
                        <a:t>Cuerpo null o JSON roto</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400</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No se crea Cliente ni Usuario</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695325">
                <a:tc>
                  <a:txBody>
                    <a:bodyPr lIns="114300" tIns="114300" rIns="114300" bIns="114300"/>
                    <a:lstStyle/>
                    <a:p>
                      <a:r>
                        <a:rPr sz="1725" b="0">
                          <a:solidFill>
                            <a:srgbClr val="17384A"/>
                          </a:solidFill>
                          <a:latin typeface="DejaVu Sans"/>
                          <a:ea typeface="DejaVu Sans"/>
                          <a:cs typeface="DejaVu Sans"/>
                        </a:rPr>
                        <a:t>Importe cero o fecha pasada</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400</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No se guarda la operación</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1F34F05-C161-4DFD-80F8-3E9F7825DC88}"/>
              </a:ext>
            </a:extLst>
          </p:cNvPr>
          <p:cNvSpPr>
            <a:spLocks xmlns:a="http://schemas.openxmlformats.org/drawingml/2006/main" noGrp="1"/>
          </p:cNvSpPr>
          <p:nvPr/>
        </p:nvSpPr>
        <p:spPr>
          <a:xfrm xmlns:a="http://schemas.openxmlformats.org/drawingml/2006/main">
            <a:off x="609600" y="5400675"/>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12B3C"/>
                </a:solidFill>
                <a:latin typeface="DejaVu Sans Mono"/>
                <a:ea typeface="DejaVu Sans Mono"/>
                <a:cs typeface="DejaVu Sans Mono"/>
              </a:defRPr>
            </a:defPPr>
            <a:lvl1pPr>
              <a:defRPr sz="1875" b="1">
                <a:solidFill>
                  <a:srgbClr val="112B3C"/>
                </a:solidFill>
                <a:latin typeface="DejaVu Sans Mono"/>
                <a:ea typeface="DejaVu Sans Mono"/>
                <a:cs typeface="DejaVu Sans Mono"/>
              </a:defRPr>
            </a:lvl1pPr>
            <a:lvl2pPr>
              <a:defRPr sz="1875" b="1">
                <a:solidFill>
                  <a:srgbClr val="112B3C"/>
                </a:solidFill>
                <a:latin typeface="DejaVu Sans Mono"/>
                <a:ea typeface="DejaVu Sans Mono"/>
                <a:cs typeface="DejaVu Sans Mono"/>
              </a:defRPr>
            </a:lvl2pPr>
            <a:lvl3pPr>
              <a:defRPr sz="1875" b="1">
                <a:solidFill>
                  <a:srgbClr val="112B3C"/>
                </a:solidFill>
                <a:latin typeface="DejaVu Sans Mono"/>
                <a:ea typeface="DejaVu Sans Mono"/>
                <a:cs typeface="DejaVu Sans Mono"/>
              </a:defRPr>
            </a:lvl3pPr>
            <a:lvl4pPr>
              <a:defRPr sz="1875" b="1">
                <a:solidFill>
                  <a:srgbClr val="112B3C"/>
                </a:solidFill>
                <a:latin typeface="DejaVu Sans Mono"/>
                <a:ea typeface="DejaVu Sans Mono"/>
                <a:cs typeface="DejaVu Sans Mono"/>
              </a:defRPr>
            </a:lvl4pPr>
            <a:lvl5pPr>
              <a:defRPr sz="1875" b="1">
                <a:solidFill>
                  <a:srgbClr val="112B3C"/>
                </a:solidFill>
                <a:latin typeface="DejaVu Sans Mono"/>
                <a:ea typeface="DejaVu Sans Mono"/>
                <a:cs typeface="DejaVu Sans Mono"/>
              </a:defRPr>
            </a:lvl5pPr>
            <a:lvl6pPr>
              <a:defRPr sz="1875" b="1">
                <a:solidFill>
                  <a:srgbClr val="112B3C"/>
                </a:solidFill>
                <a:latin typeface="DejaVu Sans Mono"/>
                <a:ea typeface="DejaVu Sans Mono"/>
                <a:cs typeface="DejaVu Sans Mono"/>
              </a:defRPr>
            </a:lvl6pPr>
            <a:lvl7pPr>
              <a:defRPr sz="1875" b="1">
                <a:solidFill>
                  <a:srgbClr val="112B3C"/>
                </a:solidFill>
                <a:latin typeface="DejaVu Sans Mono"/>
                <a:ea typeface="DejaVu Sans Mono"/>
                <a:cs typeface="DejaVu Sans Mono"/>
              </a:defRPr>
            </a:lvl7pPr>
            <a:lvl8pPr>
              <a:defRPr sz="1875" b="1">
                <a:solidFill>
                  <a:srgbClr val="112B3C"/>
                </a:solidFill>
                <a:latin typeface="DejaVu Sans Mono"/>
                <a:ea typeface="DejaVu Sans Mono"/>
                <a:cs typeface="DejaVu Sans Mono"/>
              </a:defRPr>
            </a:lvl8pPr>
            <a:lvl9pPr>
              <a:defRPr sz="1875" b="1">
                <a:solidFill>
                  <a:srgbClr val="112B3C"/>
                </a:solidFill>
                <a:latin typeface="DejaVu Sans Mono"/>
                <a:ea typeface="DejaVu Sans Mono"/>
                <a:cs typeface="DejaVu Sans Mono"/>
              </a:defRPr>
            </a:lvl9pPr>
          </a:lstStyle>
          <a:p xmlns:a="http://schemas.openxmlformats.org/drawingml/2006/main">
            <a:pPr>
              <a:defRPr sz="1875" b="1">
                <a:solidFill>
                  <a:srgbClr val="112B3C"/>
                </a:solidFill>
                <a:latin typeface="DejaVu Sans Mono"/>
                <a:ea typeface="DejaVu Sans Mono"/>
                <a:cs typeface="DejaVu Sans Mono"/>
              </a:defRPr>
            </a:pPr>
            <a:r>
              <a:rPr sz="1875" b="1">
                <a:solidFill>
                  <a:srgbClr val="112B3C"/>
                </a:solidFill>
                <a:latin typeface="DejaVu Sans Mono"/>
                <a:ea typeface="DejaVu Sans Mono"/>
                <a:cs typeface="DejaVu Sans Mono"/>
              </a:rPr>
              <a:t>Assert.Equal(before, await Counts());</a:t>
            </a:r>
          </a:p>
        </p:txBody>
      </p:sp>
    </p:spTree>
    <p:extLst>
      <p:ext uri="{BB962C8B-B14F-4D97-AF65-F5344CB8AC3E}">
        <p14:creationId xmlns:p14="http://schemas.microsoft.com/office/powerpoint/2010/main" val="17061870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9A0789-A0A0-48F5-B214-390A6298BE6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32869C-0778-446B-8E6E-7626998101D5}"/>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Duplicados y normalización</a:t>
            </a:r>
          </a:p>
        </p:txBody>
      </p:sp>
      <p:sp>
        <p:nvSpPr>
          <p:cNvPr id="3" name="">
            <a:extLst xmlns:a="http://schemas.openxmlformats.org/drawingml/2006/main">
              <a:ext uri="{FF2B5EF4-FFF2-40B4-BE49-F238E27FC236}">
                <a16:creationId xmlns:a16="http://schemas.microsoft.com/office/drawing/2014/main" id="{9FD4E119-827A-44FB-B787-745619DCC508}"/>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9BC7F4-290A-4C66-8B63-3E46004B84E0}"/>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0FDFB89C-97C1-4A02-B054-B0F34379ADA7}"/>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15</a:t>
            </a:r>
          </a:p>
        </p:txBody>
      </p:sp>
      <p:graphicFrame>
        <p:nvGraphicFramePr>
          <p:cNvPr id="6" name="">
            <a:extLst xmlns:a="http://schemas.openxmlformats.org/drawingml/2006/main">
              <a:ext uri="{FF2B5EF4-FFF2-40B4-BE49-F238E27FC236}">
                <a16:creationId xmlns:a16="http://schemas.microsoft.com/office/drawing/2014/main" id="{EC68C768-19A3-4B56-9290-FAD1935DFA0A}"/>
              </a:ext>
            </a:extLst>
          </p:cNvPr>
          <p:cNvGraphicFramePr/>
          <p:nvPr/>
        </p:nvGraphicFramePr>
        <p:xfrm>
          <a:off xmlns:a="http://schemas.openxmlformats.org/drawingml/2006/main" x="609600" y="1905000"/>
          <a:ext xmlns:a="http://schemas.openxmlformats.org/drawingml/2006/main" cx="10972800" cy="3286125"/>
        </p:xfrm>
        <a:graphic xmlns:a="http://schemas.openxmlformats.org/drawingml/2006/main">
          <a:graphicData uri="http://schemas.openxmlformats.org/drawingml/2006/table">
            <a:tbl>
              <a:tblPr/>
              <a:tblGrid>
                <a:gridCol w="2476500"/>
                <a:gridCol w="5524500"/>
                <a:gridCol w="2971800"/>
              </a:tblGrid>
              <a:tr h="821531">
                <a:tc>
                  <a:txBody>
                    <a:bodyPr lIns="114300" tIns="114300" rIns="114300" bIns="114300"/>
                    <a:lstStyle/>
                    <a:p>
                      <a:r>
                        <a:rPr sz="1725" b="1">
                          <a:solidFill>
                            <a:srgbClr val="FFFFFF"/>
                          </a:solidFill>
                          <a:latin typeface="DejaVu Sans"/>
                          <a:ea typeface="DejaVu Sans"/>
                          <a:cs typeface="DejaVu Sans"/>
                        </a:rPr>
                        <a:t>Duplicado</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Qué compara la API</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Resultado</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821531">
                <a:tc>
                  <a:txBody>
                    <a:bodyPr lIns="114300" tIns="114300" rIns="114300" bIns="114300"/>
                    <a:lstStyle/>
                    <a:p>
                      <a:r>
                        <a:rPr sz="1725" b="0">
                          <a:solidFill>
                            <a:srgbClr val="17384A"/>
                          </a:solidFill>
                          <a:latin typeface="DejaVu Sans"/>
                          <a:ea typeface="DejaVu Sans"/>
                          <a:cs typeface="DejaVu Sans"/>
                        </a:rPr>
                        <a:t>Correo de cuenta</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Correo normalizado y unicidad</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409, sin otra cuenta</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821531">
                <a:tc>
                  <a:txBody>
                    <a:bodyPr lIns="114300" tIns="114300" rIns="114300" bIns="114300"/>
                    <a:lstStyle/>
                    <a:p>
                      <a:r>
                        <a:rPr sz="1725" b="0">
                          <a:solidFill>
                            <a:srgbClr val="17384A"/>
                          </a:solidFill>
                          <a:latin typeface="DejaVu Sans"/>
                          <a:ea typeface="DejaVu Sans"/>
                          <a:cs typeface="DejaVu Sans"/>
                        </a:rPr>
                        <a:t>Nombre del servicio</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Nombre recortado y comparación sin caso ASCII</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409, sin otro servicio</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821531">
                <a:tc>
                  <a:txBody>
                    <a:bodyPr lIns="114300" tIns="114300" rIns="114300" bIns="114300"/>
                    <a:lstStyle/>
                    <a:p>
                      <a:r>
                        <a:rPr sz="1725" b="0">
                          <a:solidFill>
                            <a:srgbClr val="17384A"/>
                          </a:solidFill>
                          <a:latin typeface="DejaVu Sans"/>
                          <a:ea typeface="DejaVu Sans"/>
                          <a:cs typeface="DejaVu Sans"/>
                        </a:rPr>
                        <a:t>Horario del turno</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Mismo instante confirmado</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409, sin otro turno activo</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bl>
          </a:graphicData>
        </a:graphic>
      </p:graphicFrame>
    </p:spTree>
    <p:extLst>
      <p:ext uri="{BB962C8B-B14F-4D97-AF65-F5344CB8AC3E}">
        <p14:creationId xmlns:p14="http://schemas.microsoft.com/office/powerpoint/2010/main" val="42600714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7B0DBD8-E56B-48A8-BB37-F0737792534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B2C0C25-4EC6-40DA-9113-E01C3D0A3639}"/>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La API decide las reglas y fechas</a:t>
            </a:r>
          </a:p>
        </p:txBody>
      </p:sp>
      <p:sp>
        <p:nvSpPr>
          <p:cNvPr id="3" name="">
            <a:extLst xmlns:a="http://schemas.openxmlformats.org/drawingml/2006/main">
              <a:ext uri="{FF2B5EF4-FFF2-40B4-BE49-F238E27FC236}">
                <a16:creationId xmlns:a16="http://schemas.microsoft.com/office/drawing/2014/main" id="{148AE8D4-4E75-4DF2-B9C6-622CB0BB4B57}"/>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A0DA1B1-4689-457C-ABE2-19ED19FF8BCB}"/>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90881317-D40F-4249-9262-AD85444C22D8}"/>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16</a:t>
            </a:r>
          </a:p>
        </p:txBody>
      </p:sp>
      <p:sp>
        <p:nvSpPr>
          <p:cNvPr id="6" name="">
            <a:extLst xmlns:a="http://schemas.openxmlformats.org/drawingml/2006/main">
              <a:ext uri="{FF2B5EF4-FFF2-40B4-BE49-F238E27FC236}">
                <a16:creationId xmlns:a16="http://schemas.microsoft.com/office/drawing/2014/main" id="{A04C8337-735C-4B75-A262-349B1CD5D0BC}"/>
              </a:ext>
            </a:extLst>
          </p:cNvPr>
          <p:cNvSpPr>
            <a:spLocks xmlns:a="http://schemas.openxmlformats.org/drawingml/2006/main" noGrp="1"/>
          </p:cNvSpPr>
          <p:nvPr/>
        </p:nvSpPr>
        <p:spPr>
          <a:xfrm xmlns:a="http://schemas.openxmlformats.org/drawingml/2006/main">
            <a:off x="609600" y="16573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Cliente HTTP</a:t>
            </a:r>
          </a:p>
        </p:txBody>
      </p:sp>
      <p:sp>
        <p:nvSpPr>
          <p:cNvPr id="7" name="">
            <a:extLst xmlns:a="http://schemas.openxmlformats.org/drawingml/2006/main">
              <a:ext uri="{FF2B5EF4-FFF2-40B4-BE49-F238E27FC236}">
                <a16:creationId xmlns:a16="http://schemas.microsoft.com/office/drawing/2014/main" id="{1AE9E1D7-6BC3-4D5F-B591-C79C1C7F258F}"/>
              </a:ext>
            </a:extLst>
          </p:cNvPr>
          <p:cNvSpPr>
            <a:spLocks xmlns:a="http://schemas.openxmlformats.org/drawingml/2006/main" noGrp="1"/>
          </p:cNvSpPr>
          <p:nvPr/>
        </p:nvSpPr>
        <p:spPr>
          <a:xfrm xmlns:a="http://schemas.openxmlformats.org/drawingml/2006/main">
            <a:off x="3533775" y="16573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Propone datos y presenta la respuesta recibida.</a:t>
            </a:r>
          </a:p>
        </p:txBody>
      </p:sp>
      <p:sp>
        <p:nvSpPr>
          <p:cNvPr id="8" name="">
            <a:extLst xmlns:a="http://schemas.openxmlformats.org/drawingml/2006/main">
              <a:ext uri="{FF2B5EF4-FFF2-40B4-BE49-F238E27FC236}">
                <a16:creationId xmlns:a16="http://schemas.microsoft.com/office/drawing/2014/main" id="{20818083-37B7-41B6-8611-B6CBA02DDC0A}"/>
              </a:ext>
            </a:extLst>
          </p:cNvPr>
          <p:cNvSpPr>
            <a:spLocks xmlns:a="http://schemas.openxmlformats.org/drawingml/2006/main" noGrp="1"/>
          </p:cNvSpPr>
          <p:nvPr/>
        </p:nvSpPr>
        <p:spPr>
          <a:xfrm xmlns:a="http://schemas.openxmlformats.org/drawingml/2006/main">
            <a:off x="609600" y="2476500"/>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37BBD1A-4DBB-4FBA-AE1F-7DCDFF8A5816}"/>
              </a:ext>
            </a:extLst>
          </p:cNvPr>
          <p:cNvSpPr>
            <a:spLocks xmlns:a="http://schemas.openxmlformats.org/drawingml/2006/main" noGrp="1"/>
          </p:cNvSpPr>
          <p:nvPr/>
        </p:nvSpPr>
        <p:spPr>
          <a:xfrm xmlns:a="http://schemas.openxmlformats.org/drawingml/2006/main">
            <a:off x="609600" y="26479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API</a:t>
            </a:r>
          </a:p>
        </p:txBody>
      </p:sp>
      <p:sp>
        <p:nvSpPr>
          <p:cNvPr id="10" name="">
            <a:extLst xmlns:a="http://schemas.openxmlformats.org/drawingml/2006/main">
              <a:ext uri="{FF2B5EF4-FFF2-40B4-BE49-F238E27FC236}">
                <a16:creationId xmlns:a16="http://schemas.microsoft.com/office/drawing/2014/main" id="{FB71B51E-0551-40B5-8628-7C1BEAD71C88}"/>
              </a:ext>
            </a:extLst>
          </p:cNvPr>
          <p:cNvSpPr>
            <a:spLocks xmlns:a="http://schemas.openxmlformats.org/drawingml/2006/main" noGrp="1"/>
          </p:cNvSpPr>
          <p:nvPr/>
        </p:nvSpPr>
        <p:spPr>
          <a:xfrm xmlns:a="http://schemas.openxmlformats.org/drawingml/2006/main">
            <a:off x="3533775" y="26479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Valida fechas, permisos, disponibilidad y estados.</a:t>
            </a:r>
          </a:p>
        </p:txBody>
      </p:sp>
      <p:sp>
        <p:nvSpPr>
          <p:cNvPr id="11" name="">
            <a:extLst xmlns:a="http://schemas.openxmlformats.org/drawingml/2006/main">
              <a:ext uri="{FF2B5EF4-FFF2-40B4-BE49-F238E27FC236}">
                <a16:creationId xmlns:a16="http://schemas.microsoft.com/office/drawing/2014/main" id="{B719E513-1BA6-4F2A-A151-50AC20D6B859}"/>
              </a:ext>
            </a:extLst>
          </p:cNvPr>
          <p:cNvSpPr>
            <a:spLocks xmlns:a="http://schemas.openxmlformats.org/drawingml/2006/main" noGrp="1"/>
          </p:cNvSpPr>
          <p:nvPr/>
        </p:nvSpPr>
        <p:spPr>
          <a:xfrm xmlns:a="http://schemas.openxmlformats.org/drawingml/2006/main">
            <a:off x="609600" y="3467100"/>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60D79B-F128-4DE5-A050-FC7007A0A632}"/>
              </a:ext>
            </a:extLst>
          </p:cNvPr>
          <p:cNvSpPr>
            <a:spLocks xmlns:a="http://schemas.openxmlformats.org/drawingml/2006/main" noGrp="1"/>
          </p:cNvSpPr>
          <p:nvPr/>
        </p:nvSpPr>
        <p:spPr>
          <a:xfrm xmlns:a="http://schemas.openxmlformats.org/drawingml/2006/main">
            <a:off x="609600" y="36385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Persistencia</a:t>
            </a:r>
          </a:p>
        </p:txBody>
      </p:sp>
      <p:sp>
        <p:nvSpPr>
          <p:cNvPr id="13" name="">
            <a:extLst xmlns:a="http://schemas.openxmlformats.org/drawingml/2006/main">
              <a:ext uri="{FF2B5EF4-FFF2-40B4-BE49-F238E27FC236}">
                <a16:creationId xmlns:a16="http://schemas.microsoft.com/office/drawing/2014/main" id="{8915378F-CA55-4AED-A6D9-6CDF6C43C0D4}"/>
              </a:ext>
            </a:extLst>
          </p:cNvPr>
          <p:cNvSpPr>
            <a:spLocks xmlns:a="http://schemas.openxmlformats.org/drawingml/2006/main" noGrp="1"/>
          </p:cNvSpPr>
          <p:nvPr/>
        </p:nvSpPr>
        <p:spPr>
          <a:xfrm xmlns:a="http://schemas.openxmlformats.org/drawingml/2006/main">
            <a:off x="3533775" y="36385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Guarda el instante en UTC y conserva restricciones.</a:t>
            </a:r>
          </a:p>
        </p:txBody>
      </p:sp>
      <p:sp>
        <p:nvSpPr>
          <p:cNvPr id="14" name="">
            <a:extLst xmlns:a="http://schemas.openxmlformats.org/drawingml/2006/main">
              <a:ext uri="{FF2B5EF4-FFF2-40B4-BE49-F238E27FC236}">
                <a16:creationId xmlns:a16="http://schemas.microsoft.com/office/drawing/2014/main" id="{19A2A742-9DF7-49A2-AEF7-EF0C0854DBDF}"/>
              </a:ext>
            </a:extLst>
          </p:cNvPr>
          <p:cNvSpPr>
            <a:spLocks xmlns:a="http://schemas.openxmlformats.org/drawingml/2006/main" noGrp="1"/>
          </p:cNvSpPr>
          <p:nvPr/>
        </p:nvSpPr>
        <p:spPr>
          <a:xfrm xmlns:a="http://schemas.openxmlformats.org/drawingml/2006/main">
            <a:off x="609600" y="4457700"/>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6CA101F-A57B-4D39-8FAE-24E899FB261D}"/>
              </a:ext>
            </a:extLst>
          </p:cNvPr>
          <p:cNvSpPr>
            <a:spLocks xmlns:a="http://schemas.openxmlformats.org/drawingml/2006/main" noGrp="1"/>
          </p:cNvSpPr>
          <p:nvPr/>
        </p:nvSpPr>
        <p:spPr>
          <a:xfrm xmlns:a="http://schemas.openxmlformats.org/drawingml/2006/main">
            <a:off x="609600" y="462915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Agenda</a:t>
            </a:r>
          </a:p>
        </p:txBody>
      </p:sp>
      <p:sp>
        <p:nvSpPr>
          <p:cNvPr id="16" name="">
            <a:extLst xmlns:a="http://schemas.openxmlformats.org/drawingml/2006/main">
              <a:ext uri="{FF2B5EF4-FFF2-40B4-BE49-F238E27FC236}">
                <a16:creationId xmlns:a16="http://schemas.microsoft.com/office/drawing/2014/main" id="{B98B2C38-73F9-4CE5-8596-C36D156F338C}"/>
              </a:ext>
            </a:extLst>
          </p:cNvPr>
          <p:cNvSpPr>
            <a:spLocks xmlns:a="http://schemas.openxmlformats.org/drawingml/2006/main" noGrp="1"/>
          </p:cNvSpPr>
          <p:nvPr/>
        </p:nvSpPr>
        <p:spPr>
          <a:xfrm xmlns:a="http://schemas.openxmlformats.org/drawingml/2006/main">
            <a:off x="3533775" y="462915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Interpreta el día en la zona argentina.</a:t>
            </a:r>
          </a:p>
        </p:txBody>
      </p:sp>
    </p:spTree>
    <p:extLst>
      <p:ext uri="{BB962C8B-B14F-4D97-AF65-F5344CB8AC3E}">
        <p14:creationId xmlns:p14="http://schemas.microsoft.com/office/powerpoint/2010/main" val="89072297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DCE996-E52C-41D4-8C53-EA9AF800CAE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79C3D2C-8D5C-4E34-B5AC-9F61563610B5}"/>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Evidencia de las pruebas</a:t>
            </a:r>
          </a:p>
        </p:txBody>
      </p:sp>
      <p:sp>
        <p:nvSpPr>
          <p:cNvPr id="3" name="">
            <a:extLst xmlns:a="http://schemas.openxmlformats.org/drawingml/2006/main">
              <a:ext uri="{FF2B5EF4-FFF2-40B4-BE49-F238E27FC236}">
                <a16:creationId xmlns:a16="http://schemas.microsoft.com/office/drawing/2014/main" id="{8E658D08-9B51-4349-B032-8006169B1DA8}"/>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036FA2-FAE3-46B5-B379-07C24FB67329}"/>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BFA55500-E6C5-4920-BEB4-C3EDFB358D2F}"/>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17</a:t>
            </a:r>
          </a:p>
        </p:txBody>
      </p:sp>
      <p:graphicFrame>
        <p:nvGraphicFramePr>
          <p:cNvPr id="6" name="">
            <a:extLst xmlns:a="http://schemas.openxmlformats.org/drawingml/2006/main">
              <a:ext uri="{FF2B5EF4-FFF2-40B4-BE49-F238E27FC236}">
                <a16:creationId xmlns:a16="http://schemas.microsoft.com/office/drawing/2014/main" id="{0729877E-A993-4AE9-88A2-E029036F2A96}"/>
              </a:ext>
            </a:extLst>
          </p:cNvPr>
          <p:cNvGraphicFramePr/>
          <p:nvPr/>
        </p:nvGraphicFramePr>
        <p:xfrm>
          <a:off xmlns:a="http://schemas.openxmlformats.org/drawingml/2006/main" x="609600" y="1571625"/>
          <a:ext xmlns:a="http://schemas.openxmlformats.org/drawingml/2006/main" cx="10972800" cy="4095750"/>
        </p:xfrm>
        <a:graphic xmlns:a="http://schemas.openxmlformats.org/drawingml/2006/main">
          <a:graphicData uri="http://schemas.openxmlformats.org/drawingml/2006/table">
            <a:tbl>
              <a:tblPr/>
              <a:tblGrid>
                <a:gridCol w="2952750"/>
                <a:gridCol w="3810000"/>
                <a:gridCol w="4210050"/>
              </a:tblGrid>
              <a:tr h="819150">
                <a:tc>
                  <a:txBody>
                    <a:bodyPr lIns="114300" tIns="114300" rIns="114300" bIns="114300"/>
                    <a:lstStyle/>
                    <a:p>
                      <a:r>
                        <a:rPr sz="1725" b="1">
                          <a:solidFill>
                            <a:srgbClr val="FFFFFF"/>
                          </a:solidFill>
                          <a:latin typeface="DejaVu Sans"/>
                          <a:ea typeface="DejaVu Sans"/>
                          <a:cs typeface="DejaVu Sans"/>
                        </a:rPr>
                        <a:t>Comprobación</a:t>
                      </a:r>
                    </a:p>
                  </a:txBody>
                  <a:tcPr marL="91440" marR="91440" marT="45720" marB="45720" anchor="ctr">
                    <a:lnL w="9525">
                      <a:solidFill>
                        <a:srgbClr val="CADADB"/>
                      </a:solidFill>
                      <a:prstDash val="solid"/>
                    </a:lnL>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Resultado</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c>
                  <a:txBody>
                    <a:bodyPr lIns="114300" tIns="114300" rIns="114300" bIns="114300"/>
                    <a:lstStyle/>
                    <a:p>
                      <a:r>
                        <a:rPr sz="1725" b="1">
                          <a:solidFill>
                            <a:srgbClr val="FFFFFF"/>
                          </a:solidFill>
                          <a:latin typeface="DejaVu Sans"/>
                          <a:ea typeface="DejaVu Sans"/>
                          <a:cs typeface="DejaVu Sans"/>
                        </a:rPr>
                        <a:t>Detalle</a:t>
                      </a:r>
                    </a:p>
                  </a:txBody>
                  <a:tcPr marL="91440" marR="91440" marT="45720" marB="45720" anchor="ctr">
                    <a:lnR w="9525">
                      <a:solidFill>
                        <a:srgbClr val="CADADB"/>
                      </a:solidFill>
                      <a:prstDash val="solid"/>
                    </a:lnR>
                    <a:lnT w="9525">
                      <a:solidFill>
                        <a:srgbClr val="CADADB"/>
                      </a:solidFill>
                      <a:prstDash val="solid"/>
                    </a:lnT>
                    <a:lnB w="9525">
                      <a:solidFill>
                        <a:srgbClr val="CADADB"/>
                      </a:solidFill>
                      <a:prstDash val="solid"/>
                    </a:lnB>
                    <a:solidFill>
                      <a:srgbClr val="112B3C"/>
                    </a:solidFill>
                  </a:tcPr>
                </a:tc>
              </a:tr>
              <a:tr h="819150">
                <a:tc>
                  <a:txBody>
                    <a:bodyPr lIns="114300" tIns="114300" rIns="114300" bIns="114300"/>
                    <a:lstStyle/>
                    <a:p>
                      <a:r>
                        <a:rPr sz="1725" b="0">
                          <a:solidFill>
                            <a:srgbClr val="17384A"/>
                          </a:solidFill>
                          <a:latin typeface="DejaVu Sans"/>
                          <a:ea typeface="DejaVu Sans"/>
                          <a:cs typeface="DejaVu Sans"/>
                        </a:rPr>
                        <a:t>Suite C#</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127 pruebas aprobadas</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31 unitarias y 96 de integración</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819150">
                <a:tc>
                  <a:txBody>
                    <a:bodyPr lIns="114300" tIns="114300" rIns="114300" bIns="114300"/>
                    <a:lstStyle/>
                    <a:p>
                      <a:r>
                        <a:rPr sz="1725" b="0">
                          <a:solidFill>
                            <a:srgbClr val="17384A"/>
                          </a:solidFill>
                          <a:latin typeface="DejaVu Sans"/>
                          <a:ea typeface="DejaVu Sans"/>
                          <a:cs typeface="DejaVu Sans"/>
                        </a:rPr>
                        <a:t>Autenticación real</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Firma, vencimiento, emisor y audiencia</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Sin TestAuthHandler en los casos nuevos</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r h="819150">
                <a:tc>
                  <a:txBody>
                    <a:bodyPr lIns="114300" tIns="114300" rIns="114300" bIns="114300"/>
                    <a:lstStyle/>
                    <a:p>
                      <a:r>
                        <a:rPr sz="1725" b="0">
                          <a:solidFill>
                            <a:srgbClr val="17384A"/>
                          </a:solidFill>
                          <a:latin typeface="DejaVu Sans"/>
                          <a:ea typeface="DejaVu Sans"/>
                          <a:cs typeface="DejaVu Sans"/>
                        </a:rPr>
                        <a:t>Bruno CLI</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25 peticiones aprobadas</a:t>
                      </a:r>
                    </a:p>
                  </a:txBody>
                  <a:tcPr marL="91440" marR="91440" marT="45720" marB="45720" anchor="ctr">
                    <a:lnR w="9525">
                      <a:solidFill>
                        <a:srgbClr val="CADADB"/>
                      </a:solidFill>
                      <a:prstDash val="solid"/>
                    </a:lnR>
                    <a:lnB w="9525">
                      <a:solidFill>
                        <a:srgbClr val="CADADB"/>
                      </a:solidFill>
                      <a:prstDash val="solid"/>
                    </a:lnB>
                    <a:solidFill>
                      <a:srgbClr val="EFF5F5"/>
                    </a:solidFill>
                  </a:tcPr>
                </a:tc>
                <a:tc>
                  <a:txBody>
                    <a:bodyPr lIns="114300" tIns="114300" rIns="114300" bIns="114300"/>
                    <a:lstStyle/>
                    <a:p>
                      <a:r>
                        <a:rPr sz="1725" b="0">
                          <a:solidFill>
                            <a:srgbClr val="17384A"/>
                          </a:solidFill>
                          <a:latin typeface="DejaVu Sans"/>
                          <a:ea typeface="DejaVu Sans"/>
                          <a:cs typeface="DejaVu Sans"/>
                        </a:rPr>
                        <a:t>00 Demo y 07 Defensa</a:t>
                      </a:r>
                    </a:p>
                  </a:txBody>
                  <a:tcPr marL="91440" marR="91440" marT="45720" marB="45720" anchor="ctr">
                    <a:lnR w="9525">
                      <a:solidFill>
                        <a:srgbClr val="CADADB"/>
                      </a:solidFill>
                      <a:prstDash val="solid"/>
                    </a:lnR>
                    <a:lnB w="9525">
                      <a:solidFill>
                        <a:srgbClr val="CADADB"/>
                      </a:solidFill>
                      <a:prstDash val="solid"/>
                    </a:lnB>
                    <a:solidFill>
                      <a:srgbClr val="EFF5F5"/>
                    </a:solidFill>
                  </a:tcPr>
                </a:tc>
              </a:tr>
              <a:tr h="819150">
                <a:tc>
                  <a:txBody>
                    <a:bodyPr lIns="114300" tIns="114300" rIns="114300" bIns="114300"/>
                    <a:lstStyle/>
                    <a:p>
                      <a:r>
                        <a:rPr sz="1725" b="0">
                          <a:solidFill>
                            <a:srgbClr val="17384A"/>
                          </a:solidFill>
                          <a:latin typeface="DejaVu Sans"/>
                          <a:ea typeface="DejaVu Sans"/>
                          <a:cs typeface="DejaVu Sans"/>
                        </a:rPr>
                        <a:t>Base de datos</a:t>
                      </a:r>
                    </a:p>
                  </a:txBody>
                  <a:tcPr marL="91440" marR="91440" marT="45720" marB="45720" anchor="ctr">
                    <a:lnL w="9525">
                      <a:solidFill>
                        <a:srgbClr val="CADADB"/>
                      </a:solidFill>
                      <a:prstDash val="solid"/>
                    </a:lnL>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Sin filas inválidas ni cambios parciales</a:t>
                      </a:r>
                    </a:p>
                  </a:txBody>
                  <a:tcPr marL="91440" marR="91440" marT="45720" marB="45720" anchor="ctr">
                    <a:lnR w="9525">
                      <a:solidFill>
                        <a:srgbClr val="CADADB"/>
                      </a:solidFill>
                      <a:prstDash val="solid"/>
                    </a:lnR>
                    <a:lnB w="9525">
                      <a:solidFill>
                        <a:srgbClr val="CADADB"/>
                      </a:solidFill>
                      <a:prstDash val="solid"/>
                    </a:lnB>
                    <a:solidFill>
                      <a:srgbClr val="FFFFFF"/>
                    </a:solidFill>
                  </a:tcPr>
                </a:tc>
                <a:tc>
                  <a:txBody>
                    <a:bodyPr lIns="114300" tIns="114300" rIns="114300" bIns="114300"/>
                    <a:lstStyle/>
                    <a:p>
                      <a:r>
                        <a:rPr sz="1725" b="0">
                          <a:solidFill>
                            <a:srgbClr val="17384A"/>
                          </a:solidFill>
                          <a:latin typeface="DejaVu Sans"/>
                          <a:ea typeface="DejaVu Sans"/>
                          <a:cs typeface="DejaVu Sans"/>
                        </a:rPr>
                        <a:t>Conteos y valores antes / después</a:t>
                      </a:r>
                    </a:p>
                  </a:txBody>
                  <a:tcPr marL="91440" marR="91440" marT="45720" marB="45720" anchor="ctr">
                    <a:lnR w="9525">
                      <a:solidFill>
                        <a:srgbClr val="CADADB"/>
                      </a:solidFill>
                      <a:prstDash val="solid"/>
                    </a:lnR>
                    <a:lnB w="9525">
                      <a:solidFill>
                        <a:srgbClr val="CADADB"/>
                      </a:solidFill>
                      <a:prstDash val="solid"/>
                    </a:lnB>
                    <a:solidFill>
                      <a:srgbClr val="FFFFFF"/>
                    </a:solidFill>
                  </a:tcPr>
                </a:tc>
              </a:tr>
            </a:tbl>
          </a:graphicData>
        </a:graphic>
      </p:graphicFrame>
    </p:spTree>
    <p:extLst>
      <p:ext uri="{BB962C8B-B14F-4D97-AF65-F5344CB8AC3E}">
        <p14:creationId xmlns:p14="http://schemas.microsoft.com/office/powerpoint/2010/main" val="16245209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DEB7AD9-A46D-4C11-9A23-E6619868E291}"/>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8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C939C78-43BA-46D3-B4C6-D8E9452279B2}"/>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000" b="1">
                <a:solidFill>
                  <a:srgbClr val="112B3C"/>
                </a:solidFill>
                <a:latin typeface="DejaVu Sans"/>
                <a:ea typeface="DejaVu Sans"/>
                <a:cs typeface="DejaVu Sans"/>
              </a:defRPr>
            </a:defPPr>
            <a:lvl1pPr>
              <a:defRPr sz="3000" b="1">
                <a:solidFill>
                  <a:srgbClr val="112B3C"/>
                </a:solidFill>
                <a:latin typeface="DejaVu Sans"/>
                <a:ea typeface="DejaVu Sans"/>
                <a:cs typeface="DejaVu Sans"/>
              </a:defRPr>
            </a:lvl1pPr>
            <a:lvl2pPr>
              <a:defRPr sz="3000" b="1">
                <a:solidFill>
                  <a:srgbClr val="112B3C"/>
                </a:solidFill>
                <a:latin typeface="DejaVu Sans"/>
                <a:ea typeface="DejaVu Sans"/>
                <a:cs typeface="DejaVu Sans"/>
              </a:defRPr>
            </a:lvl2pPr>
            <a:lvl3pPr>
              <a:defRPr sz="3000" b="1">
                <a:solidFill>
                  <a:srgbClr val="112B3C"/>
                </a:solidFill>
                <a:latin typeface="DejaVu Sans"/>
                <a:ea typeface="DejaVu Sans"/>
                <a:cs typeface="DejaVu Sans"/>
              </a:defRPr>
            </a:lvl3pPr>
            <a:lvl4pPr>
              <a:defRPr sz="3000" b="1">
                <a:solidFill>
                  <a:srgbClr val="112B3C"/>
                </a:solidFill>
                <a:latin typeface="DejaVu Sans"/>
                <a:ea typeface="DejaVu Sans"/>
                <a:cs typeface="DejaVu Sans"/>
              </a:defRPr>
            </a:lvl4pPr>
            <a:lvl5pPr>
              <a:defRPr sz="3000" b="1">
                <a:solidFill>
                  <a:srgbClr val="112B3C"/>
                </a:solidFill>
                <a:latin typeface="DejaVu Sans"/>
                <a:ea typeface="DejaVu Sans"/>
                <a:cs typeface="DejaVu Sans"/>
              </a:defRPr>
            </a:lvl5pPr>
            <a:lvl6pPr>
              <a:defRPr sz="3000" b="1">
                <a:solidFill>
                  <a:srgbClr val="112B3C"/>
                </a:solidFill>
                <a:latin typeface="DejaVu Sans"/>
                <a:ea typeface="DejaVu Sans"/>
                <a:cs typeface="DejaVu Sans"/>
              </a:defRPr>
            </a:lvl6pPr>
            <a:lvl7pPr>
              <a:defRPr sz="3000" b="1">
                <a:solidFill>
                  <a:srgbClr val="112B3C"/>
                </a:solidFill>
                <a:latin typeface="DejaVu Sans"/>
                <a:ea typeface="DejaVu Sans"/>
                <a:cs typeface="DejaVu Sans"/>
              </a:defRPr>
            </a:lvl7pPr>
            <a:lvl8pPr>
              <a:defRPr sz="3000" b="1">
                <a:solidFill>
                  <a:srgbClr val="112B3C"/>
                </a:solidFill>
                <a:latin typeface="DejaVu Sans"/>
                <a:ea typeface="DejaVu Sans"/>
                <a:cs typeface="DejaVu Sans"/>
              </a:defRPr>
            </a:lvl8pPr>
            <a:lvl9pPr>
              <a:defRPr sz="3000" b="1">
                <a:solidFill>
                  <a:srgbClr val="112B3C"/>
                </a:solidFill>
                <a:latin typeface="DejaVu Sans"/>
                <a:ea typeface="DejaVu Sans"/>
                <a:cs typeface="DejaVu Sans"/>
              </a:defRPr>
            </a:lvl9pPr>
          </a:lstStyle>
          <a:p xmlns:a="http://schemas.openxmlformats.org/drawingml/2006/main">
            <a:pPr>
              <a:defRPr sz="3000" b="1">
                <a:solidFill>
                  <a:srgbClr val="112B3C"/>
                </a:solidFill>
                <a:latin typeface="DejaVu Sans"/>
                <a:ea typeface="DejaVu Sans"/>
                <a:cs typeface="DejaVu Sans"/>
              </a:defRPr>
            </a:pPr>
            <a:r>
              <a:rPr sz="3000" b="1">
                <a:solidFill>
                  <a:srgbClr val="112B3C"/>
                </a:solidFill>
                <a:latin typeface="DejaVu Sans"/>
                <a:ea typeface="DejaVu Sans"/>
                <a:cs typeface="DejaVu Sans"/>
              </a:rPr>
              <a:t>Cierre y preguntas</a:t>
            </a:r>
          </a:p>
        </p:txBody>
      </p:sp>
      <p:sp>
        <p:nvSpPr>
          <p:cNvPr id="3" name="">
            <a:extLst xmlns:a="http://schemas.openxmlformats.org/drawingml/2006/main">
              <a:ext uri="{FF2B5EF4-FFF2-40B4-BE49-F238E27FC236}">
                <a16:creationId xmlns:a16="http://schemas.microsoft.com/office/drawing/2014/main" id="{A943FFFD-D054-48AC-A24D-DF10B1706610}"/>
              </a:ext>
            </a:extLst>
          </p:cNvPr>
          <p:cNvSpPr>
            <a:spLocks xmlns:a="http://schemas.openxmlformats.org/drawingml/2006/main" noGrp="1"/>
          </p:cNvSpPr>
          <p:nvPr/>
        </p:nvSpPr>
        <p:spPr>
          <a:xfrm xmlns:a="http://schemas.openxmlformats.org/drawingml/2006/main">
            <a:off x="609600" y="6134100"/>
            <a:ext cx="10972800" cy="19050"/>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23E1198-0BE2-4C94-BF93-D6022202CCAF}"/>
              </a:ext>
            </a:extLst>
          </p:cNvPr>
          <p:cNvSpPr>
            <a:spLocks xmlns:a="http://schemas.openxmlformats.org/drawingml/2006/main" noGrp="1"/>
          </p:cNvSpPr>
          <p:nvPr/>
        </p:nvSpPr>
        <p:spPr>
          <a:xfrm xmlns:a="http://schemas.openxmlformats.org/drawingml/2006/main">
            <a:off x="609600" y="6334125"/>
            <a:ext cx="971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536675"/>
                </a:solidFill>
                <a:latin typeface="DejaVu Sans"/>
                <a:ea typeface="DejaVu Sans"/>
                <a:cs typeface="DejaVu Sans"/>
              </a:defRPr>
            </a:defPPr>
            <a:lvl1pPr>
              <a:defRPr sz="1200" b="0">
                <a:solidFill>
                  <a:srgbClr val="536675"/>
                </a:solidFill>
                <a:latin typeface="DejaVu Sans"/>
                <a:ea typeface="DejaVu Sans"/>
                <a:cs typeface="DejaVu Sans"/>
              </a:defRPr>
            </a:lvl1pPr>
            <a:lvl2pPr>
              <a:defRPr sz="1200" b="0">
                <a:solidFill>
                  <a:srgbClr val="536675"/>
                </a:solidFill>
                <a:latin typeface="DejaVu Sans"/>
                <a:ea typeface="DejaVu Sans"/>
                <a:cs typeface="DejaVu Sans"/>
              </a:defRPr>
            </a:lvl2pPr>
            <a:lvl3pPr>
              <a:defRPr sz="1200" b="0">
                <a:solidFill>
                  <a:srgbClr val="536675"/>
                </a:solidFill>
                <a:latin typeface="DejaVu Sans"/>
                <a:ea typeface="DejaVu Sans"/>
                <a:cs typeface="DejaVu Sans"/>
              </a:defRPr>
            </a:lvl3pPr>
            <a:lvl4pPr>
              <a:defRPr sz="1200" b="0">
                <a:solidFill>
                  <a:srgbClr val="536675"/>
                </a:solidFill>
                <a:latin typeface="DejaVu Sans"/>
                <a:ea typeface="DejaVu Sans"/>
                <a:cs typeface="DejaVu Sans"/>
              </a:defRPr>
            </a:lvl4pPr>
            <a:lvl5pPr>
              <a:defRPr sz="1200" b="0">
                <a:solidFill>
                  <a:srgbClr val="536675"/>
                </a:solidFill>
                <a:latin typeface="DejaVu Sans"/>
                <a:ea typeface="DejaVu Sans"/>
                <a:cs typeface="DejaVu Sans"/>
              </a:defRPr>
            </a:lvl5pPr>
            <a:lvl6pPr>
              <a:defRPr sz="1200" b="0">
                <a:solidFill>
                  <a:srgbClr val="536675"/>
                </a:solidFill>
                <a:latin typeface="DejaVu Sans"/>
                <a:ea typeface="DejaVu Sans"/>
                <a:cs typeface="DejaVu Sans"/>
              </a:defRPr>
            </a:lvl6pPr>
            <a:lvl7pPr>
              <a:defRPr sz="1200" b="0">
                <a:solidFill>
                  <a:srgbClr val="536675"/>
                </a:solidFill>
                <a:latin typeface="DejaVu Sans"/>
                <a:ea typeface="DejaVu Sans"/>
                <a:cs typeface="DejaVu Sans"/>
              </a:defRPr>
            </a:lvl7pPr>
            <a:lvl8pPr>
              <a:defRPr sz="1200" b="0">
                <a:solidFill>
                  <a:srgbClr val="536675"/>
                </a:solidFill>
                <a:latin typeface="DejaVu Sans"/>
                <a:ea typeface="DejaVu Sans"/>
                <a:cs typeface="DejaVu Sans"/>
              </a:defRPr>
            </a:lvl8pPr>
            <a:lvl9pPr>
              <a:defRPr sz="1200" b="0">
                <a:solidFill>
                  <a:srgbClr val="536675"/>
                </a:solidFill>
                <a:latin typeface="DejaVu Sans"/>
                <a:ea typeface="DejaVu Sans"/>
                <a:cs typeface="DejaVu Sans"/>
              </a:defRPr>
            </a:lvl9pPr>
          </a:lstStyle>
          <a:p xmlns:a="http://schemas.openxmlformats.org/drawingml/2006/main">
            <a:pPr>
              <a:defRPr sz="1200" b="0">
                <a:solidFill>
                  <a:srgbClr val="536675"/>
                </a:solidFill>
                <a:latin typeface="DejaVu Sans"/>
                <a:ea typeface="DejaVu Sans"/>
                <a:cs typeface="DejaVu Sans"/>
              </a:defRPr>
            </a:pPr>
            <a:r>
              <a:rPr sz="1200" b="0">
                <a:solidFill>
                  <a:srgbClr val="536675"/>
                </a:solidFill>
                <a:latin typeface="DejaVu Sans"/>
                <a:ea typeface="DejaVu Sans"/>
                <a:cs typeface="DejaVu Sans"/>
              </a:rPr>
              <a:t>Grupo 9 · Prácticas Profesionalizantes I</a:t>
            </a:r>
          </a:p>
        </p:txBody>
      </p:sp>
      <p:sp>
        <p:nvSpPr>
          <p:cNvPr id="5" name="">
            <a:extLst xmlns:a="http://schemas.openxmlformats.org/drawingml/2006/main">
              <a:ext uri="{FF2B5EF4-FFF2-40B4-BE49-F238E27FC236}">
                <a16:creationId xmlns:a16="http://schemas.microsoft.com/office/drawing/2014/main" id="{38CB7EC4-A53E-4F46-B0F8-5EFD0B031315}"/>
              </a:ext>
            </a:extLst>
          </p:cNvPr>
          <p:cNvSpPr>
            <a:spLocks xmlns:a="http://schemas.openxmlformats.org/drawingml/2006/main" noGrp="1"/>
          </p:cNvSpPr>
          <p:nvPr/>
        </p:nvSpPr>
        <p:spPr>
          <a:xfrm xmlns:a="http://schemas.openxmlformats.org/drawingml/2006/main">
            <a:off x="11049000" y="6315075"/>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36675"/>
                </a:solidFill>
                <a:latin typeface="DejaVu Sans"/>
                <a:ea typeface="DejaVu Sans"/>
                <a:cs typeface="DejaVu Sans"/>
              </a:defRPr>
            </a:defPPr>
            <a:lvl1pPr>
              <a:defRPr sz="1350" b="0">
                <a:solidFill>
                  <a:srgbClr val="536675"/>
                </a:solidFill>
                <a:latin typeface="DejaVu Sans"/>
                <a:ea typeface="DejaVu Sans"/>
                <a:cs typeface="DejaVu Sans"/>
              </a:defRPr>
            </a:lvl1pPr>
            <a:lvl2pPr>
              <a:defRPr sz="1350" b="0">
                <a:solidFill>
                  <a:srgbClr val="536675"/>
                </a:solidFill>
                <a:latin typeface="DejaVu Sans"/>
                <a:ea typeface="DejaVu Sans"/>
                <a:cs typeface="DejaVu Sans"/>
              </a:defRPr>
            </a:lvl2pPr>
            <a:lvl3pPr>
              <a:defRPr sz="1350" b="0">
                <a:solidFill>
                  <a:srgbClr val="536675"/>
                </a:solidFill>
                <a:latin typeface="DejaVu Sans"/>
                <a:ea typeface="DejaVu Sans"/>
                <a:cs typeface="DejaVu Sans"/>
              </a:defRPr>
            </a:lvl3pPr>
            <a:lvl4pPr>
              <a:defRPr sz="1350" b="0">
                <a:solidFill>
                  <a:srgbClr val="536675"/>
                </a:solidFill>
                <a:latin typeface="DejaVu Sans"/>
                <a:ea typeface="DejaVu Sans"/>
                <a:cs typeface="DejaVu Sans"/>
              </a:defRPr>
            </a:lvl4pPr>
            <a:lvl5pPr>
              <a:defRPr sz="1350" b="0">
                <a:solidFill>
                  <a:srgbClr val="536675"/>
                </a:solidFill>
                <a:latin typeface="DejaVu Sans"/>
                <a:ea typeface="DejaVu Sans"/>
                <a:cs typeface="DejaVu Sans"/>
              </a:defRPr>
            </a:lvl5pPr>
            <a:lvl6pPr>
              <a:defRPr sz="1350" b="0">
                <a:solidFill>
                  <a:srgbClr val="536675"/>
                </a:solidFill>
                <a:latin typeface="DejaVu Sans"/>
                <a:ea typeface="DejaVu Sans"/>
                <a:cs typeface="DejaVu Sans"/>
              </a:defRPr>
            </a:lvl6pPr>
            <a:lvl7pPr>
              <a:defRPr sz="1350" b="0">
                <a:solidFill>
                  <a:srgbClr val="536675"/>
                </a:solidFill>
                <a:latin typeface="DejaVu Sans"/>
                <a:ea typeface="DejaVu Sans"/>
                <a:cs typeface="DejaVu Sans"/>
              </a:defRPr>
            </a:lvl7pPr>
            <a:lvl8pPr>
              <a:defRPr sz="1350" b="0">
                <a:solidFill>
                  <a:srgbClr val="536675"/>
                </a:solidFill>
                <a:latin typeface="DejaVu Sans"/>
                <a:ea typeface="DejaVu Sans"/>
                <a:cs typeface="DejaVu Sans"/>
              </a:defRPr>
            </a:lvl8pPr>
            <a:lvl9pPr>
              <a:defRPr sz="1350" b="0">
                <a:solidFill>
                  <a:srgbClr val="536675"/>
                </a:solidFill>
                <a:latin typeface="DejaVu Sans"/>
                <a:ea typeface="DejaVu Sans"/>
                <a:cs typeface="DejaVu Sans"/>
              </a:defRPr>
            </a:lvl9pPr>
          </a:lstStyle>
          <a:p xmlns:a="http://schemas.openxmlformats.org/drawingml/2006/main">
            <a:pPr>
              <a:defRPr sz="1350" b="0">
                <a:solidFill>
                  <a:srgbClr val="536675"/>
                </a:solidFill>
                <a:latin typeface="DejaVu Sans"/>
                <a:ea typeface="DejaVu Sans"/>
                <a:cs typeface="DejaVu Sans"/>
              </a:defRPr>
            </a:pPr>
            <a:r>
              <a:rPr sz="1350" b="0">
                <a:solidFill>
                  <a:srgbClr val="536675"/>
                </a:solidFill>
                <a:latin typeface="DejaVu Sans"/>
                <a:ea typeface="DejaVu Sans"/>
                <a:cs typeface="DejaVu Sans"/>
              </a:rPr>
              <a:t>18</a:t>
            </a:r>
          </a:p>
        </p:txBody>
      </p:sp>
      <p:sp>
        <p:nvSpPr>
          <p:cNvPr id="6" name="">
            <a:extLst xmlns:a="http://schemas.openxmlformats.org/drawingml/2006/main">
              <a:ext uri="{FF2B5EF4-FFF2-40B4-BE49-F238E27FC236}">
                <a16:creationId xmlns:a16="http://schemas.microsoft.com/office/drawing/2014/main" id="{B71ED949-3A38-43B4-A0A8-248106B5E7DD}"/>
              </a:ext>
            </a:extLst>
          </p:cNvPr>
          <p:cNvSpPr>
            <a:spLocks xmlns:a="http://schemas.openxmlformats.org/drawingml/2006/main" noGrp="1"/>
          </p:cNvSpPr>
          <p:nvPr/>
        </p:nvSpPr>
        <p:spPr>
          <a:xfrm xmlns:a="http://schemas.openxmlformats.org/drawingml/2006/main">
            <a:off x="609600" y="1952625"/>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Qué mostramos</a:t>
            </a:r>
          </a:p>
        </p:txBody>
      </p:sp>
      <p:sp>
        <p:nvSpPr>
          <p:cNvPr id="7" name="">
            <a:extLst xmlns:a="http://schemas.openxmlformats.org/drawingml/2006/main">
              <a:ext uri="{FF2B5EF4-FFF2-40B4-BE49-F238E27FC236}">
                <a16:creationId xmlns:a16="http://schemas.microsoft.com/office/drawing/2014/main" id="{DD55FF1F-26AF-4F66-A86B-DD6E00F0CDAA}"/>
              </a:ext>
            </a:extLst>
          </p:cNvPr>
          <p:cNvSpPr>
            <a:spLocks xmlns:a="http://schemas.openxmlformats.org/drawingml/2006/main" noGrp="1"/>
          </p:cNvSpPr>
          <p:nvPr/>
        </p:nvSpPr>
        <p:spPr>
          <a:xfrm xmlns:a="http://schemas.openxmlformats.org/drawingml/2006/main">
            <a:off x="3533775" y="1952625"/>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Cinco funciones vinculadas con sus casos de uso y código.</a:t>
            </a:r>
          </a:p>
        </p:txBody>
      </p:sp>
      <p:sp>
        <p:nvSpPr>
          <p:cNvPr id="8" name="">
            <a:extLst xmlns:a="http://schemas.openxmlformats.org/drawingml/2006/main">
              <a:ext uri="{FF2B5EF4-FFF2-40B4-BE49-F238E27FC236}">
                <a16:creationId xmlns:a16="http://schemas.microsoft.com/office/drawing/2014/main" id="{3EA6F0F8-2770-44FD-9660-B812199B2F49}"/>
              </a:ext>
            </a:extLst>
          </p:cNvPr>
          <p:cNvSpPr>
            <a:spLocks xmlns:a="http://schemas.openxmlformats.org/drawingml/2006/main" noGrp="1"/>
          </p:cNvSpPr>
          <p:nvPr/>
        </p:nvSpPr>
        <p:spPr>
          <a:xfrm xmlns:a="http://schemas.openxmlformats.org/drawingml/2006/main">
            <a:off x="609600" y="2876550"/>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A450B99-3DB2-4321-86DC-AC71DAE446B1}"/>
              </a:ext>
            </a:extLst>
          </p:cNvPr>
          <p:cNvSpPr>
            <a:spLocks xmlns:a="http://schemas.openxmlformats.org/drawingml/2006/main" noGrp="1"/>
          </p:cNvSpPr>
          <p:nvPr/>
        </p:nvSpPr>
        <p:spPr>
          <a:xfrm xmlns:a="http://schemas.openxmlformats.org/drawingml/2006/main">
            <a:off x="609600" y="3048000"/>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Qué comprobamos</a:t>
            </a:r>
          </a:p>
        </p:txBody>
      </p:sp>
      <p:sp>
        <p:nvSpPr>
          <p:cNvPr id="10" name="">
            <a:extLst xmlns:a="http://schemas.openxmlformats.org/drawingml/2006/main">
              <a:ext uri="{FF2B5EF4-FFF2-40B4-BE49-F238E27FC236}">
                <a16:creationId xmlns:a16="http://schemas.microsoft.com/office/drawing/2014/main" id="{96E65FED-7C80-437F-B348-17D28943FA15}"/>
              </a:ext>
            </a:extLst>
          </p:cNvPr>
          <p:cNvSpPr>
            <a:spLocks xmlns:a="http://schemas.openxmlformats.org/drawingml/2006/main" noGrp="1"/>
          </p:cNvSpPr>
          <p:nvPr/>
        </p:nvSpPr>
        <p:spPr>
          <a:xfrm xmlns:a="http://schemas.openxmlformats.org/drawingml/2006/main">
            <a:off x="3533775" y="3048000"/>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Autenticación, permisos, validaciones y duplicados.</a:t>
            </a:r>
          </a:p>
        </p:txBody>
      </p:sp>
      <p:sp>
        <p:nvSpPr>
          <p:cNvPr id="11" name="">
            <a:extLst xmlns:a="http://schemas.openxmlformats.org/drawingml/2006/main">
              <a:ext uri="{FF2B5EF4-FFF2-40B4-BE49-F238E27FC236}">
                <a16:creationId xmlns:a16="http://schemas.microsoft.com/office/drawing/2014/main" id="{D490FF28-6C1C-4BAE-9E06-BC023A85DA56}"/>
              </a:ext>
            </a:extLst>
          </p:cNvPr>
          <p:cNvSpPr>
            <a:spLocks xmlns:a="http://schemas.openxmlformats.org/drawingml/2006/main" noGrp="1"/>
          </p:cNvSpPr>
          <p:nvPr/>
        </p:nvSpPr>
        <p:spPr>
          <a:xfrm xmlns:a="http://schemas.openxmlformats.org/drawingml/2006/main">
            <a:off x="609600" y="3971925"/>
            <a:ext cx="10972800" cy="9525"/>
          </a:xfrm>
          <a:prstGeom xmlns:a="http://schemas.openxmlformats.org/drawingml/2006/main" prst="rect">
            <a:avLst/>
          </a:prstGeom>
          <a:solidFill xmlns:a="http://schemas.openxmlformats.org/drawingml/2006/main">
            <a:srgbClr val="CADAD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A6EDEE-919F-42CC-A152-62B403A3FF6C}"/>
              </a:ext>
            </a:extLst>
          </p:cNvPr>
          <p:cNvSpPr>
            <a:spLocks xmlns:a="http://schemas.openxmlformats.org/drawingml/2006/main" noGrp="1"/>
          </p:cNvSpPr>
          <p:nvPr/>
        </p:nvSpPr>
        <p:spPr>
          <a:xfrm xmlns:a="http://schemas.openxmlformats.org/drawingml/2006/main">
            <a:off x="609600" y="4143375"/>
            <a:ext cx="2714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00A58E"/>
                </a:solidFill>
                <a:latin typeface="DejaVu Sans"/>
                <a:ea typeface="DejaVu Sans"/>
                <a:cs typeface="DejaVu Sans"/>
              </a:defRPr>
            </a:defPPr>
            <a:lvl1pPr>
              <a:defRPr sz="1950" b="1">
                <a:solidFill>
                  <a:srgbClr val="00A58E"/>
                </a:solidFill>
                <a:latin typeface="DejaVu Sans"/>
                <a:ea typeface="DejaVu Sans"/>
                <a:cs typeface="DejaVu Sans"/>
              </a:defRPr>
            </a:lvl1pPr>
            <a:lvl2pPr>
              <a:defRPr sz="1950" b="1">
                <a:solidFill>
                  <a:srgbClr val="00A58E"/>
                </a:solidFill>
                <a:latin typeface="DejaVu Sans"/>
                <a:ea typeface="DejaVu Sans"/>
                <a:cs typeface="DejaVu Sans"/>
              </a:defRPr>
            </a:lvl2pPr>
            <a:lvl3pPr>
              <a:defRPr sz="1950" b="1">
                <a:solidFill>
                  <a:srgbClr val="00A58E"/>
                </a:solidFill>
                <a:latin typeface="DejaVu Sans"/>
                <a:ea typeface="DejaVu Sans"/>
                <a:cs typeface="DejaVu Sans"/>
              </a:defRPr>
            </a:lvl3pPr>
            <a:lvl4pPr>
              <a:defRPr sz="1950" b="1">
                <a:solidFill>
                  <a:srgbClr val="00A58E"/>
                </a:solidFill>
                <a:latin typeface="DejaVu Sans"/>
                <a:ea typeface="DejaVu Sans"/>
                <a:cs typeface="DejaVu Sans"/>
              </a:defRPr>
            </a:lvl4pPr>
            <a:lvl5pPr>
              <a:defRPr sz="1950" b="1">
                <a:solidFill>
                  <a:srgbClr val="00A58E"/>
                </a:solidFill>
                <a:latin typeface="DejaVu Sans"/>
                <a:ea typeface="DejaVu Sans"/>
                <a:cs typeface="DejaVu Sans"/>
              </a:defRPr>
            </a:lvl5pPr>
            <a:lvl6pPr>
              <a:defRPr sz="1950" b="1">
                <a:solidFill>
                  <a:srgbClr val="00A58E"/>
                </a:solidFill>
                <a:latin typeface="DejaVu Sans"/>
                <a:ea typeface="DejaVu Sans"/>
                <a:cs typeface="DejaVu Sans"/>
              </a:defRPr>
            </a:lvl6pPr>
            <a:lvl7pPr>
              <a:defRPr sz="1950" b="1">
                <a:solidFill>
                  <a:srgbClr val="00A58E"/>
                </a:solidFill>
                <a:latin typeface="DejaVu Sans"/>
                <a:ea typeface="DejaVu Sans"/>
                <a:cs typeface="DejaVu Sans"/>
              </a:defRPr>
            </a:lvl7pPr>
            <a:lvl8pPr>
              <a:defRPr sz="1950" b="1">
                <a:solidFill>
                  <a:srgbClr val="00A58E"/>
                </a:solidFill>
                <a:latin typeface="DejaVu Sans"/>
                <a:ea typeface="DejaVu Sans"/>
                <a:cs typeface="DejaVu Sans"/>
              </a:defRPr>
            </a:lvl8pPr>
            <a:lvl9pPr>
              <a:defRPr sz="1950" b="1">
                <a:solidFill>
                  <a:srgbClr val="00A58E"/>
                </a:solidFill>
                <a:latin typeface="DejaVu Sans"/>
                <a:ea typeface="DejaVu Sans"/>
                <a:cs typeface="DejaVu Sans"/>
              </a:defRPr>
            </a:lvl9pPr>
          </a:lstStyle>
          <a:p xmlns:a="http://schemas.openxmlformats.org/drawingml/2006/main">
            <a:pPr>
              <a:defRPr sz="1950" b="1">
                <a:solidFill>
                  <a:srgbClr val="00A58E"/>
                </a:solidFill>
                <a:latin typeface="DejaVu Sans"/>
                <a:ea typeface="DejaVu Sans"/>
                <a:cs typeface="DejaVu Sans"/>
              </a:defRPr>
            </a:pPr>
            <a:r>
              <a:rPr sz="1950" b="1">
                <a:solidFill>
                  <a:srgbClr val="00A58E"/>
                </a:solidFill>
                <a:latin typeface="DejaVu Sans"/>
                <a:ea typeface="DejaVu Sans"/>
                <a:cs typeface="DejaVu Sans"/>
              </a:rPr>
              <a:t>Con qué</a:t>
            </a:r>
          </a:p>
        </p:txBody>
      </p:sp>
      <p:sp>
        <p:nvSpPr>
          <p:cNvPr id="13" name="">
            <a:extLst xmlns:a="http://schemas.openxmlformats.org/drawingml/2006/main">
              <a:ext uri="{FF2B5EF4-FFF2-40B4-BE49-F238E27FC236}">
                <a16:creationId xmlns:a16="http://schemas.microsoft.com/office/drawing/2014/main" id="{FAE38531-C491-40AB-B9A5-85F6E3B6E801}"/>
              </a:ext>
            </a:extLst>
          </p:cNvPr>
          <p:cNvSpPr>
            <a:spLocks xmlns:a="http://schemas.openxmlformats.org/drawingml/2006/main" noGrp="1"/>
          </p:cNvSpPr>
          <p:nvPr/>
        </p:nvSpPr>
        <p:spPr>
          <a:xfrm xmlns:a="http://schemas.openxmlformats.org/drawingml/2006/main">
            <a:off x="3533775" y="4143375"/>
            <a:ext cx="78390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7384A"/>
                </a:solidFill>
                <a:latin typeface="DejaVu Sans"/>
                <a:ea typeface="DejaVu Sans"/>
                <a:cs typeface="DejaVu Sans"/>
              </a:defRPr>
            </a:defPPr>
            <a:lvl1pPr>
              <a:defRPr sz="1950" b="0">
                <a:solidFill>
                  <a:srgbClr val="17384A"/>
                </a:solidFill>
                <a:latin typeface="DejaVu Sans"/>
                <a:ea typeface="DejaVu Sans"/>
                <a:cs typeface="DejaVu Sans"/>
              </a:defRPr>
            </a:lvl1pPr>
            <a:lvl2pPr>
              <a:defRPr sz="1950" b="0">
                <a:solidFill>
                  <a:srgbClr val="17384A"/>
                </a:solidFill>
                <a:latin typeface="DejaVu Sans"/>
                <a:ea typeface="DejaVu Sans"/>
                <a:cs typeface="DejaVu Sans"/>
              </a:defRPr>
            </a:lvl2pPr>
            <a:lvl3pPr>
              <a:defRPr sz="1950" b="0">
                <a:solidFill>
                  <a:srgbClr val="17384A"/>
                </a:solidFill>
                <a:latin typeface="DejaVu Sans"/>
                <a:ea typeface="DejaVu Sans"/>
                <a:cs typeface="DejaVu Sans"/>
              </a:defRPr>
            </a:lvl3pPr>
            <a:lvl4pPr>
              <a:defRPr sz="1950" b="0">
                <a:solidFill>
                  <a:srgbClr val="17384A"/>
                </a:solidFill>
                <a:latin typeface="DejaVu Sans"/>
                <a:ea typeface="DejaVu Sans"/>
                <a:cs typeface="DejaVu Sans"/>
              </a:defRPr>
            </a:lvl4pPr>
            <a:lvl5pPr>
              <a:defRPr sz="1950" b="0">
                <a:solidFill>
                  <a:srgbClr val="17384A"/>
                </a:solidFill>
                <a:latin typeface="DejaVu Sans"/>
                <a:ea typeface="DejaVu Sans"/>
                <a:cs typeface="DejaVu Sans"/>
              </a:defRPr>
            </a:lvl5pPr>
            <a:lvl6pPr>
              <a:defRPr sz="1950" b="0">
                <a:solidFill>
                  <a:srgbClr val="17384A"/>
                </a:solidFill>
                <a:latin typeface="DejaVu Sans"/>
                <a:ea typeface="DejaVu Sans"/>
                <a:cs typeface="DejaVu Sans"/>
              </a:defRPr>
            </a:lvl6pPr>
            <a:lvl7pPr>
              <a:defRPr sz="1950" b="0">
                <a:solidFill>
                  <a:srgbClr val="17384A"/>
                </a:solidFill>
                <a:latin typeface="DejaVu Sans"/>
                <a:ea typeface="DejaVu Sans"/>
                <a:cs typeface="DejaVu Sans"/>
              </a:defRPr>
            </a:lvl7pPr>
            <a:lvl8pPr>
              <a:defRPr sz="1950" b="0">
                <a:solidFill>
                  <a:srgbClr val="17384A"/>
                </a:solidFill>
                <a:latin typeface="DejaVu Sans"/>
                <a:ea typeface="DejaVu Sans"/>
                <a:cs typeface="DejaVu Sans"/>
              </a:defRPr>
            </a:lvl8pPr>
            <a:lvl9pPr>
              <a:defRPr sz="1950" b="0">
                <a:solidFill>
                  <a:srgbClr val="17384A"/>
                </a:solidFill>
                <a:latin typeface="DejaVu Sans"/>
                <a:ea typeface="DejaVu Sans"/>
                <a:cs typeface="DejaVu Sans"/>
              </a:defRPr>
            </a:lvl9pPr>
          </a:lstStyle>
          <a:p xmlns:a="http://schemas.openxmlformats.org/drawingml/2006/main">
            <a:pPr>
              <a:defRPr sz="1950" b="0">
                <a:solidFill>
                  <a:srgbClr val="17384A"/>
                </a:solidFill>
                <a:latin typeface="DejaVu Sans"/>
                <a:ea typeface="DejaVu Sans"/>
                <a:cs typeface="DejaVu Sans"/>
              </a:defRPr>
            </a:pPr>
            <a:r>
              <a:rPr sz="1950" b="0">
                <a:solidFill>
                  <a:srgbClr val="17384A"/>
                </a:solidFill>
                <a:latin typeface="DejaVu Sans"/>
                <a:ea typeface="DejaVu Sans"/>
                <a:cs typeface="DejaVu Sans"/>
              </a:rPr>
              <a:t>API en C#, Bruno y pruebas con SQLite aislada.</a:t>
            </a:r>
          </a:p>
        </p:txBody>
      </p:sp>
    </p:spTree>
    <p:extLst>
      <p:ext uri="{BB962C8B-B14F-4D97-AF65-F5344CB8AC3E}">
        <p14:creationId xmlns:p14="http://schemas.microsoft.com/office/powerpoint/2010/main" val="17579214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2026-10-28T20:55:14.7370000Z</dcterms:created>
  <dcterms:modified xsi:type="dcterms:W3CDTF">2026-10-28T20:55:14.7370000Z</dcterms:modified>
</coreProperties>
</file>