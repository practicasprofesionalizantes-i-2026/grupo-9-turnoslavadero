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dcd6fdaddc48c4" /><Relationship Type="http://schemas.openxmlformats.org/officeDocument/2006/relationships/extended-properties" Target="/docProps/app.xml" Id="R9ad67ae1d8e74209" /><Relationship Type="http://schemas.openxmlformats.org/officeDocument/2006/relationships/officeDocument" Target="/ppt/presentation.xml" Id="R7f4392e97c0547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61a96477f3402a"/>
  </p:sldMasterIdLst>
  <p:notesMasterIdLst>
    <p:notesMasterId xmlns:r="http://schemas.openxmlformats.org/officeDocument/2006/relationships" r:id="R4b2067f0fa77421e"/>
  </p:notesMasterIdLst>
  <p:sldIdLst>
    <p:sldId xmlns:r="http://schemas.openxmlformats.org/officeDocument/2006/relationships" id="256" r:id="R11810af3c9bb4b39"/>
    <p:sldId xmlns:r="http://schemas.openxmlformats.org/officeDocument/2006/relationships" id="257" r:id="R69ef675a25494a95"/>
    <p:sldId xmlns:r="http://schemas.openxmlformats.org/officeDocument/2006/relationships" id="258" r:id="R217524976482488c"/>
    <p:sldId xmlns:r="http://schemas.openxmlformats.org/officeDocument/2006/relationships" id="259" r:id="Ra6680a78f7384a46"/>
    <p:sldId xmlns:r="http://schemas.openxmlformats.org/officeDocument/2006/relationships" id="260" r:id="R41950f779c48416d"/>
    <p:sldId xmlns:r="http://schemas.openxmlformats.org/officeDocument/2006/relationships" id="261" r:id="Rb7bd63e8fe23470f"/>
    <p:sldId xmlns:r="http://schemas.openxmlformats.org/officeDocument/2006/relationships" id="262" r:id="R08925b3e1d2a4076"/>
    <p:sldId xmlns:r="http://schemas.openxmlformats.org/officeDocument/2006/relationships" id="263" r:id="R6440229f1a954835"/>
    <p:sldId xmlns:r="http://schemas.openxmlformats.org/officeDocument/2006/relationships" id="264" r:id="R0c1cbee90acb45d0"/>
    <p:sldId xmlns:r="http://schemas.openxmlformats.org/officeDocument/2006/relationships" id="265" r:id="Ref3ac02e2626408b"/>
    <p:sldId xmlns:r="http://schemas.openxmlformats.org/officeDocument/2006/relationships" id="266" r:id="Ra79e74ec10864d3f"/>
    <p:sldId xmlns:r="http://schemas.openxmlformats.org/officeDocument/2006/relationships" id="267" r:id="Redc2ec8c8b3e417e"/>
    <p:sldId xmlns:r="http://schemas.openxmlformats.org/officeDocument/2006/relationships" id="268" r:id="Rf0313a3cddbb46df"/>
    <p:sldId xmlns:r="http://schemas.openxmlformats.org/officeDocument/2006/relationships" id="269" r:id="R94e7fdff3c94498c"/>
    <p:sldId xmlns:r="http://schemas.openxmlformats.org/officeDocument/2006/relationships" id="270" r:id="R2909b80aa9c8418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b57bc5e7b44019" /><Relationship Type="http://schemas.openxmlformats.org/officeDocument/2006/relationships/slideMaster" Target="/ppt/slideMasters/slideMaster1.xml" Id="R9e61a96477f3402a" /><Relationship Type="http://schemas.openxmlformats.org/officeDocument/2006/relationships/notesMaster" Target="/ppt/notesMasters/notesMaster1.xml" Id="R4b2067f0fa77421e" /><Relationship Type="http://schemas.openxmlformats.org/officeDocument/2006/relationships/presProps" Target="/ppt/presProps.xml" Id="Rf0e2253da5a741e6" /><Relationship Type="http://schemas.openxmlformats.org/officeDocument/2006/relationships/tableStyles" Target="/ppt/tableStyles.xml" Id="R2fee74cf0ee346e7" /><Relationship Type="http://schemas.openxmlformats.org/officeDocument/2006/relationships/slide" Target="/ppt/slides/slide1.xml" Id="R11810af3c9bb4b39" /><Relationship Type="http://schemas.openxmlformats.org/officeDocument/2006/relationships/slide" Target="/ppt/slides/slide2.xml" Id="R69ef675a25494a95" /><Relationship Type="http://schemas.openxmlformats.org/officeDocument/2006/relationships/slide" Target="/ppt/slides/slide3.xml" Id="R217524976482488c" /><Relationship Type="http://schemas.openxmlformats.org/officeDocument/2006/relationships/slide" Target="/ppt/slides/slide4.xml" Id="Ra6680a78f7384a46" /><Relationship Type="http://schemas.openxmlformats.org/officeDocument/2006/relationships/slide" Target="/ppt/slides/slide5.xml" Id="R41950f779c48416d" /><Relationship Type="http://schemas.openxmlformats.org/officeDocument/2006/relationships/slide" Target="/ppt/slides/slide6.xml" Id="Rb7bd63e8fe23470f" /><Relationship Type="http://schemas.openxmlformats.org/officeDocument/2006/relationships/slide" Target="/ppt/slides/slide7.xml" Id="R08925b3e1d2a4076" /><Relationship Type="http://schemas.openxmlformats.org/officeDocument/2006/relationships/slide" Target="/ppt/slides/slide8.xml" Id="R6440229f1a954835" /><Relationship Type="http://schemas.openxmlformats.org/officeDocument/2006/relationships/slide" Target="/ppt/slides/slide9.xml" Id="R0c1cbee90acb45d0" /><Relationship Type="http://schemas.openxmlformats.org/officeDocument/2006/relationships/slide" Target="/ppt/slides/slide10.xml" Id="Ref3ac02e2626408b" /><Relationship Type="http://schemas.openxmlformats.org/officeDocument/2006/relationships/slide" Target="/ppt/slides/slide11.xml" Id="Ra79e74ec10864d3f" /><Relationship Type="http://schemas.openxmlformats.org/officeDocument/2006/relationships/slide" Target="/ppt/slides/slide12.xml" Id="Redc2ec8c8b3e417e" /><Relationship Type="http://schemas.openxmlformats.org/officeDocument/2006/relationships/slide" Target="/ppt/slides/slide13.xml" Id="Rf0313a3cddbb46df" /><Relationship Type="http://schemas.openxmlformats.org/officeDocument/2006/relationships/slide" Target="/ppt/slides/slide14.xml" Id="R94e7fdff3c94498c" /><Relationship Type="http://schemas.openxmlformats.org/officeDocument/2006/relationships/slide" Target="/ppt/slides/slide15.xml" Id="R2909b80aa9c841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5808a6d90f48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5b3e17df504e79" /><Relationship Type="http://schemas.openxmlformats.org/officeDocument/2006/relationships/notesMaster" Target="/ppt/notesMasters/notesMaster1.xml" Id="R32d05e031f8941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157d72e37046c3" /><Relationship Type="http://schemas.openxmlformats.org/officeDocument/2006/relationships/notesMaster" Target="/ppt/notesMasters/notesMaster1.xml" Id="R77bb90296c364d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7ec983ae8d495e" /><Relationship Type="http://schemas.openxmlformats.org/officeDocument/2006/relationships/notesMaster" Target="/ppt/notesMasters/notesMaster1.xml" Id="R8520a2fc3b0c4c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b03cf6f2c941a2" /><Relationship Type="http://schemas.openxmlformats.org/officeDocument/2006/relationships/notesMaster" Target="/ppt/notesMasters/notesMaster1.xml" Id="Rdd8fb0f95be04a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c3aac617154033" /><Relationship Type="http://schemas.openxmlformats.org/officeDocument/2006/relationships/notesMaster" Target="/ppt/notesMasters/notesMaster1.xml" Id="R5eb62a37f3f648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abff23b3be49f3" /><Relationship Type="http://schemas.openxmlformats.org/officeDocument/2006/relationships/notesMaster" Target="/ppt/notesMasters/notesMaster1.xml" Id="Ra39e0d903d914aa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18d962d5ea4894" /><Relationship Type="http://schemas.openxmlformats.org/officeDocument/2006/relationships/notesMaster" Target="/ppt/notesMasters/notesMaster1.xml" Id="R7dcccf9c006941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30106a1a75749db" /><Relationship Type="http://schemas.openxmlformats.org/officeDocument/2006/relationships/notesMaster" Target="/ppt/notesMasters/notesMaster1.xml" Id="Rc601dd464a8f46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9059406ddcf4031" /><Relationship Type="http://schemas.openxmlformats.org/officeDocument/2006/relationships/notesMaster" Target="/ppt/notesMasters/notesMaster1.xml" Id="Raf3769b86b3c47c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5ecf1af97cb4c06" /><Relationship Type="http://schemas.openxmlformats.org/officeDocument/2006/relationships/notesMaster" Target="/ppt/notesMasters/notesMaster1.xml" Id="Raee2e2acab4c415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d7e2168acc4aca" /><Relationship Type="http://schemas.openxmlformats.org/officeDocument/2006/relationships/notesMaster" Target="/ppt/notesMasters/notesMaster1.xml" Id="R148136bc8762426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5c41ef6fc884626" /><Relationship Type="http://schemas.openxmlformats.org/officeDocument/2006/relationships/notesMaster" Target="/ppt/notesMasters/notesMaster1.xml" Id="Rc8d4513b48004c6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75ff69491474ca8" /><Relationship Type="http://schemas.openxmlformats.org/officeDocument/2006/relationships/notesMaster" Target="/ppt/notesMasters/notesMaster1.xml" Id="Re2ac4b0079234c9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5f788275d4c4597" /><Relationship Type="http://schemas.openxmlformats.org/officeDocument/2006/relationships/notesMaster" Target="/ppt/notesMasters/notesMaster1.xml" Id="R7ea08d43d7b344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209d9bbec794a18" /><Relationship Type="http://schemas.openxmlformats.org/officeDocument/2006/relationships/notesMaster" Target="/ppt/notesMasters/notesMaster1.xml" Id="R79ed5740ae1544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Presentarnos y explicar el objetivo: organizar las reservas del lavadero y dar autonomía al cliente para gestionar sus turnos. Anunciar que mostraremos documentación y cinco operaciones reales de la API. Evitar describir una interfaz web como terminada.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Tomás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Describir la necesidad que resuelve el proyecto sin inventar entrevistas o métricas. La agenda centraliza la disponibilidad y los cambios. Explicar que el alcance corresponde a reservas, no a cobro de ventas ni administración de vehículos.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https://github.com/PracticasProfesionalizantes-I-2026/Grupo-9-TurnosLavadero/blob/demo-completamente-csharp/Documentos/Entregas%20TP/Alcance%20del%20Sistema.md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Recorrer la tabla y conectar cada permiso con un rol. El identificador del cliente se obtiene del JWT. Si el cuerpo indica otra persona, el sistema rechaza el intento. Mostrar IActorContext y ResolveClienteId si preguntan cómo se evita confiar en el 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https://github.com/PracticasProfesionalizantes-I-2026/Grupo-9-TurnosLavadero/blob/demo-completamente-csharp/Documentos/Entregas%20TP/Alcance%20del%20Sistema.md</a:t>
            </a:r>
          </a:p>
          <a:p xmlns:a="http://schemas.openxmlformats.org/drawingml/2006/main">
            <a:r>
              <a:t>https://github.com/PracticasProfesionalizantes-I-2026/Grupo-9-TurnosLavadero/blob/demo-completamente-csharp/BusinessLogic/Services/TurnoService.cs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Tomás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Explicar por qué Cliente, Servicio y Turno son las entidades principales. Diferenciar Usuario de Cliente y explicar el registro de recordatorios. La cancelación conserva el turno y cambia su estado. Las relaciones restringen el borrado de datos con dependencias.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https://github.com/PracticasProfesionalizantes-I-2026/Grupo-9-TurnosLavadero/blob/demo-completamente-csharp/DataAccess/Context/LavaderoDbContext.cs</a:t>
            </a:r>
          </a:p>
          <a:p xmlns:a="http://schemas.openxmlformats.org/drawingml/2006/main">
            <a:r>
              <a:t>https://github.com/PracticasProfesionalizantes-I-2026/Grupo-9-TurnosLavadero/blob/demo-completamente-csharp/PLAN-ARQUITECTURA.md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1 minuto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Estos son los cinco requisitos elegidos para la exposición. No confundir requerimiento con endpoint: el requisito explica la necesidad, el caso de uso describe el flujo y la API lo implementa. Abrir REQUISITOS.md y seguir una fila hasta su prueba.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https://github.com/PracticasProfesionalizantes-I-2026/Grupo-9-TurnosLavadero/blob/demo-completamente-csharp/Documentos/Entregas%20TP/TRAZABILIDAD.md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Tomás · 1 minuto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Mostrar una evidencia por atributo. Evitar prometer rendimiento o disponibilidad sin mediciones. La unicidad opera sobre instantes exactos y el modelo no calcula duración del lavado. Las pruebas y los límites están explícitos en REQUISITOS.md.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https://github.com/PracticasProfesionalizantes-I-2026/Grupo-9-TurnosLavadero/blob/demo-completamente-csharp/API/Security/PasswordService.cs</a:t>
            </a:r>
          </a:p>
          <a:p xmlns:a="http://schemas.openxmlformats.org/drawingml/2006/main">
            <a:r>
              <a:t>https://github.com/PracticasProfesionalizantes-I-2026/Grupo-9-TurnosLavadero/blob/demo-completamente-csharp/DataAccess/Context/LavaderoDbContext.cs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30 segundos / Tomás ·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Juan: abrir TurnosController.Create y explicar el 201 y la traducción de excepciones. Tomás: seguir CreateAsync del service hasta el repository. Mostrar que el controller no usa el contexto directamente y que los DTOs evitan exponer entidades.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https://github.com/PracticasProfesionalizantes-I-2026/Grupo-9-TurnosLavadero/blob/demo-completamente-csharp/API/Controllers/TurnosController.cs</a:t>
            </a:r>
          </a:p>
          <a:p xmlns:a="http://schemas.openxmlformats.org/drawingml/2006/main">
            <a:r>
              <a:t>https://github.com/PracticasProfesionalizantes-I-2026/Grupo-9-TurnosLavadero/blob/demo-completamente-csharp/BusinessLogic/Services/TurnoService.cs</a:t>
            </a:r>
          </a:p>
          <a:p xmlns:a="http://schemas.openxmlformats.org/drawingml/2006/main">
            <a:r>
              <a:t>https://github.com/PracticasProfesionalizantes-I-2026/Grupo-9-TurnosLavadero/blob/demo-completamente-csharp/DataAccess/Repositories/TurnoRepository.cs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Tomás · 2 minutos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Ejecutar primero el login administrador y la creación del servicio de la carpeta 00 Demo como preparación. Después ejecutar Registrar cliente CU07. Explicar el JSON, el token y el clienteId de la respuesta. Abrir el caso de uso y RegisterClienteAsync. Repetir el correo produce 409. La contraseña nunca se guarda en texto plano.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https://github.com/PracticasProfesionalizantes-I-2026/Grupo-9-TurnosLavadero/blob/demo-completamente-csharp/BusinessLogic/Services/AuthService.cs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Tomás · 1 minuto / Juan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Tomás: ejecutar Reservar turno CU01 y mostrar el 201. Juan: abrir CreateAsync y ejecutar Rechazar horario ocupado. Explicar RN-01 y el índice único que protege cuando dos peticiones llegan juntas. La colisión del índice también se convierte en 409.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https://github.com/PracticasProfesionalizantes-I-2026/Grupo-9-TurnosLavadero/blob/demo-completamente-csharp/BusinessLogic/Services/TurnoService.cs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2 minutos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Ejecutar Modificar turno CU04. Mostrar fecha anterior y nueva. Abrir EnsureCanOperate, EnsureModifiable y ExistsActiveAtAsync con exclusión del propio ID. Explicar qué sucede con un turno ajeno, vencido, cancelado o un horario ocupado. El script de demo automática demuestra un intento ajeno con 403.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https://github.com/PracticasProfesionalizantes-I-2026/Grupo-9-TurnosLavadero/blob/demo-completamente-csharp/BusinessLogic/Services/TurnoService.cs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Tomás · 2 minutos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Ejecutar Cancelar turno CU05 y Comprobar horario liberado. Explicar por qué 204 no lleva JSON. Mostrar que CancelAsync cambia el estado en vez de borrar físicamente. La demo automática consulta mis-turnos y verifica que el turno cancelado permanezca en el historial.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https://github.com/PracticasProfesionalizantes-I-2026/Grupo-9-TurnosLavadero/blob/demo-completamente-csharp/BusinessLogic/Services/TurnoService.cs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2 minutos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Volver a la respuesta Crear servicio CU06 y mostrar el alta realizada con el token administrador. Abrir ServicioService. Explicar validaciones y el rechazo de eliminación si tiene turnos. Mostrar las pruebas Servicios_UpdateDeleteAndProtectRelatedService. No borrar el servicio usado en la demo, porque conserva el turno cancelado.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https://github.com/PracticasProfesionalizantes-I-2026/Grupo-9-TurnosLavadero/blob/demo-completamente-csharp/BusinessLogic/Services/ServicioService.cs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1 minuto / Tomás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Juan: explicar worker y procesador, y por qué la configuración base desactiva el worker hasta disponer de SMTP. Tomás: abrir el correo del reporte HTML y las dos respuestas de procesar recordatorios. La segunda no reenvía. La captura prueba el transporte local. No afirmar entrega a una casilla externa. Un proveedor real requiere credenciales y permisos.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https://github.com/PracticasProfesionalizantes-I-2026/Grupo-9-TurnosLavadero/blob/demo-completamente-csharp/BusinessLogic/Services/RecordatorioProcessor.cs</a:t>
            </a:r>
          </a:p>
          <a:p xmlns:a="http://schemas.openxmlformats.org/drawingml/2006/main">
            <a:r>
              <a:t>https://github.com/PracticasProfesionalizantes-I-2026/Grupo-9-TurnosLavadero/blob/demo-completamente-csharp/API/Notifications/RecordatorioWorker.cs</a:t>
            </a:r>
          </a:p>
          <a:p xmlns:a="http://schemas.openxmlformats.org/drawingml/2006/main">
            <a:r>
              <a:t>https://github.com/PracticasProfesionalizantes-I-2026/Grupo-9-TurnosLavadero/blob/demo-completamente-csharp/tools/DemoRunner/Program.cs</a:t>
            </a:r>
          </a:p>
          <a:p xmlns:a="http://schemas.openxmlformats.org/drawingml/2006/main">
            <a:r>
              <a:t>https://github.com/PracticasProfesionalizantes-I-2026/Grupo-9-TurnosLavadero/blob/demo-completamente-csharp/Documentos/RECORDATORIOS.md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1 minuto / Tomás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Juan: mostrar dotnet build y dotnet test o el resultado de GitHub Actions, indicando si alguna comprobación sigue pendiente. Tomás: abrir demo.html generado por tools/DemoRunner/Program.cs. Mostrar códigos y el correo capturado. La colección Bruno sirve para la demostración en vivo, la suite automática para reproducir los escenarios. No inventar una cantidad de pruebas aprobadas.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https://github.com/PracticasProfesionalizantes-I-2026/Grupo-9-TurnosLavadero/blob/demo-completamente-csharp/Tests/IntegrationTests/AgendaAndConcurrencyTests.cs</a:t>
            </a:r>
          </a:p>
          <a:p xmlns:a="http://schemas.openxmlformats.org/drawingml/2006/main">
            <a:r>
              <a:t>https://github.com/PracticasProfesionalizantes-I-2026/Grupo-9-TurnosLavadero/blob/demo-completamente-csharp/Documentos/Entregas%20TP/TRAZABILIDAD.md</a:t>
            </a:r>
          </a:p>
          <a:p xmlns:a="http://schemas.openxmlformats.org/drawingml/2006/main">
            <a:r>
              <a:t>https://github.com/PracticasProfesionalizantes-I-2026/Grupo-9-TurnosLavadero/blob/demo-completamente-csharp/.github/workflows/verificar.yml</a:t>
            </a:r>
          </a:p>
          <a:p xmlns:a="http://schemas.openxmlformats.org/drawingml/2006/main">
            <a:r>
              <a:t>https://github.com/PracticasProfesionalizantes-I-2026/Grupo-9-TurnosLavadero/blob/demo-completamente-csharp/tools/DemoRunner/Program.cs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1 minuto / Tomás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Juan: cerrar retomando el problema de organización del lavadero y las cinco funciones demostradas. Tomás: aclarar alcance actual y abrir preguntas. La revisión humana histórica no puede fabricarse. No hace falta prometer que el proyecto está listo para producción. Reservar cinco minutos fuera de los 24 para consultas.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https://github.com/PracticasProfesionalizantes-I-2026/Grupo-9-TurnosLavadero/blob/demo-completamente-csharp/Documentos/Entregas%20TP/Alcance%20del%20Sistema.md</a:t>
            </a:r>
          </a:p>
          <a:p xmlns:a="http://schemas.openxmlformats.org/drawingml/2006/main">
            <a:r>
              <a:t>https://github.com/PracticasProfesionalizantes-I-2026/Grupo-9-TurnosLavadero/blob/demo-completamente-csharp/Documentos/Presentacion/REVISION-Y-ENTREGA.md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3a9a38dbfc4ee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3fda95159243d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a0b6f88ac648f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e4578facba440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1f5e77f92a43c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aa2d57a5f74e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1D371CF-0176-42EE-89D9-BBDB1F1203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835E424-FB9F-4DA6-98B6-C19AF89721D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3471D96-C737-4C4B-AA4F-F1EA9FD1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FA18F2B-4062-4365-95BA-2BFFF3FEDE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0742A6F-1C9E-40CB-9C2B-69DA08A814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7705FB0-0CC8-413A-A88F-EE9AAC34C8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32CEB03-005C-4761-910E-4FB468117D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816E65D-985B-411D-A291-05133454E89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C32F698-0687-4114-BF88-B05DEA0780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DB3C44C-457B-41AA-8814-DCEEB600AF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126ee64a044fa2" /><Relationship Type="http://schemas.openxmlformats.org/officeDocument/2006/relationships/slideLayout" Target="/ppt/slideLayouts/slideLayout1.xml" Id="R86ee67611ed54112" /><Relationship Type="http://schemas.openxmlformats.org/officeDocument/2006/relationships/slideLayout" Target="/ppt/slideLayouts/slideLayout2.xml" Id="R18042d705ec74d60" /><Relationship Type="http://schemas.openxmlformats.org/officeDocument/2006/relationships/slideLayout" Target="/ppt/slideLayouts/slideLayout3.xml" Id="R74464f9c32724802" /><Relationship Type="http://schemas.openxmlformats.org/officeDocument/2006/relationships/slideLayout" Target="/ppt/slideLayouts/slideLayout4.xml" Id="Ra23d875ce6774dd2" /><Relationship Type="http://schemas.openxmlformats.org/officeDocument/2006/relationships/slideLayout" Target="/ppt/slideLayouts/slideLayout5.xml" Id="R399d30e2b5354a76" /><Relationship Type="http://schemas.openxmlformats.org/officeDocument/2006/relationships/slideLayout" Target="/ppt/slideLayouts/slideLayout6.xml" Id="Rcd9df8a6f85f44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ee67611ed54112"/>
    <p:sldLayoutId xmlns:r="http://schemas.openxmlformats.org/officeDocument/2006/relationships" id="2147483650" r:id="R18042d705ec74d60"/>
    <p:sldLayoutId xmlns:r="http://schemas.openxmlformats.org/officeDocument/2006/relationships" id="2147483651" r:id="R74464f9c32724802"/>
    <p:sldLayoutId xmlns:r="http://schemas.openxmlformats.org/officeDocument/2006/relationships" id="2147483652" r:id="Ra23d875ce6774dd2"/>
    <p:sldLayoutId xmlns:r="http://schemas.openxmlformats.org/officeDocument/2006/relationships" id="2147483653" r:id="R399d30e2b5354a76"/>
    <p:sldLayoutId xmlns:r="http://schemas.openxmlformats.org/officeDocument/2006/relationships" id="2147483654" r:id="Rcd9df8a6f85f44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ae6575405c41fc" /><Relationship Type="http://schemas.openxmlformats.org/officeDocument/2006/relationships/notesSlide" Target="/ppt/notesSlides/notesSlide1.xml" Id="R116bc0acb60248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881c9d47e84f23" /><Relationship Type="http://schemas.openxmlformats.org/officeDocument/2006/relationships/notesSlide" Target="/ppt/notesSlides/notesSlide2.xml" Id="Re3f388eaf9a14a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5ca604f2c54d86" /><Relationship Type="http://schemas.openxmlformats.org/officeDocument/2006/relationships/notesSlide" Target="/ppt/notesSlides/notesSlide3.xml" Id="Re666ac534b7c45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3b5fd2a5d44b77" /><Relationship Type="http://schemas.openxmlformats.org/officeDocument/2006/relationships/notesSlide" Target="/ppt/notesSlides/notesSlide4.xml" Id="R6cf0b8acf42f41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b0bc8cf6774bba" /><Relationship Type="http://schemas.openxmlformats.org/officeDocument/2006/relationships/notesSlide" Target="/ppt/notesSlides/notesSlide5.xml" Id="Rdfc1ea046a324a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370af18dc148c9" /><Relationship Type="http://schemas.openxmlformats.org/officeDocument/2006/relationships/notesSlide" Target="/ppt/notesSlides/notesSlide6.xml" Id="R68b89224f6ef46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b442f31e6041b8" /><Relationship Type="http://schemas.openxmlformats.org/officeDocument/2006/relationships/notesSlide" Target="/ppt/notesSlides/notesSlide7.xml" Id="R93bc057d5d214f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1c6d85005e4529" /><Relationship Type="http://schemas.openxmlformats.org/officeDocument/2006/relationships/notesSlide" Target="/ppt/notesSlides/notesSlide8.xml" Id="R57e84e7f5ed244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921c9ba4bf4517" /><Relationship Type="http://schemas.openxmlformats.org/officeDocument/2006/relationships/notesSlide" Target="/ppt/notesSlides/notesSlide9.xml" Id="R57a99ce061ba45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7a3b51df2c4e08" /><Relationship Type="http://schemas.openxmlformats.org/officeDocument/2006/relationships/notesSlide" Target="/ppt/notesSlides/notesSlide10.xml" Id="Ra27d9e034c6d4b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7b770764014bdb" /><Relationship Type="http://schemas.openxmlformats.org/officeDocument/2006/relationships/notesSlide" Target="/ppt/notesSlides/notesSlide11.xml" Id="Ra0365cf0601c425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a4c2a68b3746fe" /><Relationship Type="http://schemas.openxmlformats.org/officeDocument/2006/relationships/notesSlide" Target="/ppt/notesSlides/notesSlide12.xml" Id="R62a3e725de68443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c010790cba458d" /><Relationship Type="http://schemas.openxmlformats.org/officeDocument/2006/relationships/notesSlide" Target="/ppt/notesSlides/notesSlide13.xml" Id="R78d3db7ea2a24cc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874a0c71004aef" /><Relationship Type="http://schemas.openxmlformats.org/officeDocument/2006/relationships/notesSlide" Target="/ppt/notesSlides/notesSlide14.xml" Id="R76e89f59ffbc4c4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336f86400b481c" /><Relationship Type="http://schemas.openxmlformats.org/officeDocument/2006/relationships/notesSlide" Target="/ppt/notesSlides/notesSlide15.xml" Id="Rb620263d8f6741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2B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16031-7F00-4B1C-BFE0-EFB194C6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71525"/>
            <a:ext cx="95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ACEB91-2474-4D14-97DC-F0E36BFD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477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9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49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9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Sistema de turnos</a:t>
            </a:r>
          </a:p>
          <a:p xmlns:a="http://schemas.openxmlformats.org/drawingml/2006/main">
            <a:pPr>
              <a:defRPr sz="49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9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para lavadero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05A8C1-6F3C-415D-AAF5-EFA2C20D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Juan Jesús Baigorria</a:t>
            </a:r>
          </a:p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Tomás Martín Ponce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EC8A2-A5F8-41E5-9B6A-D31C5A78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A8CCC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8CCC9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A8CCC9"/>
                </a:solidFill>
                <a:latin typeface="DejaVu Sans"/>
                <a:ea typeface="DejaVu Sans"/>
                <a:cs typeface="DejaVu Sans"/>
              </a:rPr>
              <a:t>Grupo 9 · ICES Superior · 2026</a:t>
            </a:r>
          </a:p>
        </p:txBody>
      </p:sp>
    </p:spTree>
    <p:extLst>
      <p:ext uri="{BB962C8B-B14F-4D97-AF65-F5344CB8AC3E}">
        <p14:creationId xmlns:p14="http://schemas.microsoft.com/office/powerpoint/2010/main" val="13997731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A758D4-8A39-4172-A444-98FC1B2A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2A37B7-DFBE-48EC-823B-D5C20038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El problema del lavadero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E132DE-BDE4-46DF-A2D5-B5113BB0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C0A1B-4982-4CAA-8589-61B4F5F4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6434F-A1A1-4AF6-912F-B8F212D1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46D98B-9388-45AA-A3CC-A609E7F4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Una agenda compartida necesita</a:t>
            </a:r>
          </a:p>
          <a:p xmlns:a="http://schemas.openxmlformats.org/drawingml/2006/main">
            <a:pPr>
              <a:defRPr sz="3000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reglas claras de reserva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F680B5-4FC5-4C34-A94F-03AAE056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62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Disponibilidad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155E1-D92A-454C-8B04-DD991944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62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cliente consulta un horario antes de reservar.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9285CB-1EED-4D69-AA19-41877F62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39029A-B07C-45C7-9FDF-CBA387BC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Cambios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B70F97-3FF0-4EDA-B5DB-B6D2B29B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714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titular modifica o cancela su propio turno.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94551B-C055-42BE-9349-702066E8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D8D5DC-72BD-4F1E-9FC9-F7648B33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Organización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E55627-F99B-4F08-98BD-EC79C33A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67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personal consulta la agenda del día argentino.</a:t>
            </a:r>
          </a:p>
        </p:txBody>
      </p:sp>
    </p:spTree>
    <p:extLst>
      <p:ext uri="{BB962C8B-B14F-4D97-AF65-F5344CB8AC3E}">
        <p14:creationId xmlns:p14="http://schemas.microsoft.com/office/powerpoint/2010/main" val="14796487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4E54F-2928-4B11-BAA5-D87BFC57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94E4E7-A4DF-434D-84CB-B68E6934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Actores y permisos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FDCBF2-2673-4820-A5D7-89D87DC8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16C247-AF83-4827-901F-7B0F2475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AA1D1F-813C-4DEE-ADF8-247F89A2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5F50C-29B5-4827-921D-CE84E398200C}"/>
              </a:ext>
            </a:extLst>
          </p:cNvPr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10972800" cy="3695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4619625"/>
                <a:gridCol w="4162425"/>
              </a:tblGrid>
              <a:tr h="923925"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Actor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Responsabilidad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Límite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</a:tr>
              <a:tr h="923925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Cliente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Reserva y gestiona sus turnos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Accede a sus propios datos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923925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Empleado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Gestiona clientes y agenda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No administra servicios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23925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Administrador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Gestiona agenda y servicios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Procesa recordatorios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21335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143DE-53E9-48CA-9924-7C890F85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7F3431-7CAB-48BD-9DD2-528495B9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Datos y relaciones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B016EA-F793-40B2-8405-E6413205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FD4696-2450-4F66-8FC5-BC176CC0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E8AD95-0D27-460B-A3EC-7CB4068F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A6499D-082C-440F-B9A6-558FDCA0B0A8}"/>
              </a:ext>
            </a:extLst>
          </p:cNvPr>
          <p:cNvGraphicFramePr/>
          <p:nvPr/>
        </p:nvGraphicFramePr>
        <p:xfrm>
          <a:off xmlns:a="http://schemas.openxmlformats.org/drawingml/2006/main" x="609600" y="16002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4619625"/>
                <a:gridCol w="4162425"/>
              </a:tblGrid>
              <a:tr h="819150"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Entidad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Datos principales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Relación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</a:tr>
              <a:tr h="81915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Cliente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Nombre, contacto, preferencias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 cliente tiene varios turnos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81915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Servicio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Nombre, importe, activo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 servicio aparece en varios turnos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Turno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Fecha, estado, cliente, servicio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Cada turno corresponde a un cliente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81915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Usuario / Recordatorio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Cuenta de acceso / registro del aviso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Apoyan autenticación y notificaciones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97436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97E0A2-1EC7-45C1-8962-BFBF5E20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914E2-AA32-4D6A-A5C5-39B3A24E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Cinco requerimientos funcionales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1E6073-F4C4-4F4A-8AFF-3227259D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F930FB-1DB9-4997-A5F9-587278F06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1EFC50-D5D6-48C6-9558-B1E41365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3AECF0-6FBF-4D4A-8029-4EFF41E4BEC5}"/>
              </a:ext>
            </a:extLst>
          </p:cNvPr>
          <p:cNvGraphicFramePr/>
          <p:nvPr/>
        </p:nvGraphicFramePr>
        <p:xfrm>
          <a:off xmlns:a="http://schemas.openxmlformats.org/drawingml/2006/main" x="609600" y="1581150"/>
          <a:ext xmlns:a="http://schemas.openxmlformats.org/drawingml/2006/main" cx="10972800" cy="4171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5619750"/>
                <a:gridCol w="3829050"/>
              </a:tblGrid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Función implementada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Caso de uso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RF-01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Registrar cliente y cuenta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CU-07 Registrar Cliente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RF-02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Reservar un horario disponible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CU-01 Solicitar Turno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RF-03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Modificar un turno propio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CU-04 Modificar Turno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RF-04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Cancelar y liberar el horario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CU-05 Cancelar Turno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RF-05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Administrar servicios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CU-06 Gestionar Servicios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3014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E1E6F-0E8C-4460-BC49-CB8EA993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02442-55B5-4B72-9BDA-B8A1B218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Cinco requisitos no funcionales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B1891D-790E-4B8E-9429-58777A21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083105-B482-4F7B-B28F-C2CEEFFD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21AE84-546D-4407-8C26-9D7F31CC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B3BF33-1982-4981-9500-6B52A38554C8}"/>
              </a:ext>
            </a:extLst>
          </p:cNvPr>
          <p:cNvGraphicFramePr/>
          <p:nvPr/>
        </p:nvGraphicFramePr>
        <p:xfrm>
          <a:off xmlns:a="http://schemas.openxmlformats.org/drawingml/2006/main" x="609600" y="1581150"/>
          <a:ext xmlns:a="http://schemas.openxmlformats.org/drawingml/2006/main" cx="10972800" cy="4171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3619500"/>
                <a:gridCol w="5829300"/>
              </a:tblGrid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Atributo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Evidencia concreta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RNF-01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Seguridad de acceso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JWT y contraseñas con hash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RNF-02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Confidencialidad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Permisos por rol y titularidad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RNF-03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Integridad y concurrencia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Índice único y conflicto HTTP 409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RNF-04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Mantenibilidad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Capas, interfaces y pruebas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RNF-05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Interoperabilidad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JSON, OpenAPI y fechas con zona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0723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FF8244-A7F7-4B25-BEDC-C89E3590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87FD4F-152D-4205-BC60-739A265DC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Recorrido de una petición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3C1211-A496-4D19-B0A5-98007B0A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176E9B-A979-445A-AEC3-3EE28D63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CA3D93-E0D1-47D4-AE3D-7817C6EA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00B10-DF60-4EAA-8E7C-364E967B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19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Controller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414FEF-386F-40CB-BA57-D1FC72BF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19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Recibe JSON y devuelve el código HTTP.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183744-E1E2-4888-9002-9C7E3F1B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6E3890-3A7C-47E6-AD83-5EF2512B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Service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7CB437-944E-4777-959F-3D7AE4A8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Aplica permisos y reglas de negocio.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8AD40A-A281-41BF-A9BC-4B0A11C1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9402D3-20FD-4281-A81B-288F8B3E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Repository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CCA50-3673-451B-B0E8-E2CC15BA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24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Consulta o guarda mediante EF Core.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C07CCB-098D-4E45-9313-C47A5A0C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14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1DC9C1-683D-46BE-A4EB-F2CF24C8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DbContext / SQLite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C984D2-8D32-42E7-B838-7C583AC9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76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Conserva datos, relaciones e índices.</a:t>
            </a:r>
          </a:p>
        </p:txBody>
      </p:sp>
    </p:spTree>
    <p:extLst>
      <p:ext uri="{BB962C8B-B14F-4D97-AF65-F5344CB8AC3E}">
        <p14:creationId xmlns:p14="http://schemas.microsoft.com/office/powerpoint/2010/main" val="21320802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938645-6F94-4DE7-AAC1-A3DC06B4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B36A39-8EB9-492E-9034-D2E28BF7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Registro de un cliente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A75532-EE70-494B-A5E3-71453FAD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617D71-287D-462E-8865-2E971173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3BDCE-D46F-424B-A848-AFD9DFF9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7403C6-26AA-4F5A-BE98-FEFAB5EA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RF-01 / CU-07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35F104-3C11-481A-ACA7-AEC7BF46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cliente crea su cuenta</a:t>
            </a:r>
          </a:p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y obtiene un token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042847-91CA-443C-AC3F-E29F7D1A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43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Correo único y contraseña de al menos 8 caracteres. El registro asigna el rol Cliente.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EBC2A2-10C9-43CB-99B3-70CA439A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14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201 Created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7CD19E-BF38-42F8-9B53-D1B22B08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76400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POST /api/auth/registro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728542-403F-47F7-A3AB-F0B68704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270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B73EF9-70E2-4FC2-A2B4-D939717C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57500"/>
            <a:ext cx="5048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{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"nombre": "Cliente",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"apellido": "Demo",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"email": "demo@example.test",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"password": "&lt;clave de 8 o más&gt;"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F0A0C9-25BF-4B17-AC2C-B1A0C9AF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3149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BusinessLogic/Services/AuthService.cs</a:t>
            </a:r>
          </a:p>
        </p:txBody>
      </p:sp>
    </p:spTree>
    <p:extLst>
      <p:ext uri="{BB962C8B-B14F-4D97-AF65-F5344CB8AC3E}">
        <p14:creationId xmlns:p14="http://schemas.microsoft.com/office/powerpoint/2010/main" val="8490130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8EC442-531C-4415-A788-B81C858D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D87696-B645-4B92-81B3-5BC5E924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Reserva de un turno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5F7443-051A-4CA0-9DFC-D23C87BC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B92AAB-2DEB-4D99-A59B-8FDEDDCF9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50F5F3-6C3D-49D2-8A8A-9F1537C2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2CE600-221B-40A1-8DC8-03B34751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RF-02 / CU-01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61DFD1-DE30-4B12-BCD0-25041687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cliente elige servicio</a:t>
            </a:r>
          </a:p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y fecha disponible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C5A94D-424D-4058-AD3F-580BBF88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43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El sistema toma el cliente del token y vuelve a comprobar disponibilidad antes de guardar.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C852C-06FC-48F3-8FAD-98D3A53C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14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201 Created / 409 Conflict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00D77D-09F1-4874-BFA0-A66AFDDF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76400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POST /api/turnos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F46AD2-336B-4E0E-A8DB-743E9B9E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270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3DA715-F231-47FF-8537-9469F4B8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57500"/>
            <a:ext cx="5048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{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"servicioId": "&lt;id del servicio&gt;",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"fechaHora": "&lt;ISO-8601 futuro&gt;"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Estado inicial: Confirmado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2CD45F-913C-44FC-BC2E-37AE2E5B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3149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BusinessLogic/Services/TurnoService.cs</a:t>
            </a:r>
          </a:p>
        </p:txBody>
      </p:sp>
    </p:spTree>
    <p:extLst>
      <p:ext uri="{BB962C8B-B14F-4D97-AF65-F5344CB8AC3E}">
        <p14:creationId xmlns:p14="http://schemas.microsoft.com/office/powerpoint/2010/main" val="17932649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B680F4-7F6E-4FB8-A80D-A95CBD13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D1B123-12E3-4E6C-8025-9A0DBB6B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Modificación de un turno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325FA2-2944-4024-B164-365EA197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2AF6F-2C69-49BB-9C48-635BE278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11E45E-EC81-4D41-BF93-F22D08B7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91CD45-900B-4997-8EE2-E18311F3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RF-03 / CU-04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4E66A-FC91-460F-8032-52BFC900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titular reprograma</a:t>
            </a:r>
          </a:p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un turno confirmado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71D24F-1C30-42CF-94AD-3B08B3D3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43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Solo un turno futuro y activo puede cambiar. La nueva fecha también debe estar libre.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747678-78AD-4AEC-AA55-1D57D383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14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200 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6CD1A6-275A-478B-9EBE-C8D6AB11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76400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PUT /api/turnos/{id}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EAF0F0-70B9-4991-8CF2-4EF17CB7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270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5134CA-AF08-4143-A628-FE2EE228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57500"/>
            <a:ext cx="5048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{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"servicioId": "&lt;id del servicio&gt;",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"fechaHora": "&lt;nuevo instante&gt;"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Mismo ID, nueva fecha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76B0BA-412C-4FF8-95BA-C6DFC1EE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3149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BusinessLogic/Services/TurnoService.cs</a:t>
            </a:r>
          </a:p>
        </p:txBody>
      </p:sp>
    </p:spTree>
    <p:extLst>
      <p:ext uri="{BB962C8B-B14F-4D97-AF65-F5344CB8AC3E}">
        <p14:creationId xmlns:p14="http://schemas.microsoft.com/office/powerpoint/2010/main" val="6392104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EE0F1A-31F3-44EB-8F49-B6318C18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B6A95A-EC7D-4A6A-800F-340B0977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Cancelación e historial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5A8E78-2EB2-4B4B-8CB7-734EC9323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3F74BE-747D-40EA-A0A6-5DEB1B0A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705954-7DB9-428D-B465-B1DEB0FE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EEA19F-221A-427A-AD0C-18B8C2C6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RF-04 / CU-05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CE6D7A-E087-42D8-B2C7-94272E4D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titular cancela</a:t>
            </a:r>
          </a:p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y libera el horario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8A1B3-069D-46C3-9CAF-5E508A05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43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El sistema conserva el registro cancelado. La siguiente consulta muestra el horario disponible.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843BE4-79A2-44EA-AFEF-04257440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14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204 No Content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02D800-6E75-49B6-955A-EB50AE0A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76400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DELETE /api/turnos/{id}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162F5F-E1EF-4855-8CEE-FBEE0A63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270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9E820-127E-4EF4-A661-5DCC726F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57500"/>
            <a:ext cx="5048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Sin cuerpo de petición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Estado: Cancelado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GET /api/turnos/disponibilidad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{ "disponible": true 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ED5363-B819-4020-A00E-CE4ACEF2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3149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BusinessLogic/Services/TurnoService.cs</a:t>
            </a:r>
          </a:p>
        </p:txBody>
      </p:sp>
    </p:spTree>
    <p:extLst>
      <p:ext uri="{BB962C8B-B14F-4D97-AF65-F5344CB8AC3E}">
        <p14:creationId xmlns:p14="http://schemas.microsoft.com/office/powerpoint/2010/main" val="19239455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6C5E06-F99D-4AD1-ABA1-D69F03A8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860F3F-3784-4D64-B90E-F2425EF2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Gestión del catálogo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CC876-0B95-4E80-ABD1-C1D0F3EF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53041C-F3EB-425A-B7B3-32E80256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2612E8-8487-497D-A816-75E6BA4B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BDA9C1-58BA-4364-BC29-67AA5946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RF-05 / CU-06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7D08D4-0D65-4157-B562-96E020CD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administrador mantiene</a:t>
            </a:r>
          </a:p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los servicios e importes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3CB7C0-E6E6-4D28-8527-08194DDD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43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Nombre único, importe positivo y protección de servicios relacionados con turnos.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00A1A7-A215-42F4-8C73-C3056587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14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201 / 200 / 204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7F8D92-FE24-4421-A55E-83DEBF33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76400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POST /api/servicios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C28458-9A4C-42CA-893C-EA91C09E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270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E21496-6B29-4E4C-9A2E-AF94C924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57500"/>
            <a:ext cx="5048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{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"nombre": "Lavado demo",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"importe": 12000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PUT y DELETE /api/servicios/{id}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A42FF8-C29F-4884-A6C3-11598999E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3149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BusinessLogic/Services/ServicioService.cs</a:t>
            </a:r>
          </a:p>
        </p:txBody>
      </p:sp>
    </p:spTree>
    <p:extLst>
      <p:ext uri="{BB962C8B-B14F-4D97-AF65-F5344CB8AC3E}">
        <p14:creationId xmlns:p14="http://schemas.microsoft.com/office/powerpoint/2010/main" val="135274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CCCC1C-980C-4608-9001-909D55D9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D0345E-754F-4104-8142-AAFA4D4C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Recordatorios por correo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B7713E-B0B7-454B-93B0-FB1966AF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B769B-F229-4CC6-84A2-3C1FA562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40A9B2-D829-4D3B-9094-27EBB9F5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6D58F9-387C-40CA-9DC8-AB448EF1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19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Selección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E19F59-676E-4AE5-B33B-A6575C99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19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procesador consulta turnos próximos.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4D8E57-DA7A-45DC-BB91-57B56A1B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3A3C8-CAA0-4A7B-B057-BCFCE7D9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Preferencias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406436-87AB-4FA4-B2A8-C9322256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Respeta notificaciones y estado del turno.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94BE80-0376-4690-A574-D52231C6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48C1FF-9BBA-4A0C-BD37-CDFE7181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Registro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14951C-8F11-4B9C-BD03-834B1FEA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24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Guarda enviado, omitido o fallido sin repetir.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766056-DDC9-45CC-AD5F-D1F88E0B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14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2D14D6-E3F3-4330-8F3C-84AF3BCBC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Demostración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E8BD3B-0C8D-4E7D-A3A3-8EC28734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76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SMTP local captura un correo verificable.</a:t>
            </a:r>
          </a:p>
        </p:txBody>
      </p:sp>
    </p:spTree>
    <p:extLst>
      <p:ext uri="{BB962C8B-B14F-4D97-AF65-F5344CB8AC3E}">
        <p14:creationId xmlns:p14="http://schemas.microsoft.com/office/powerpoint/2010/main" val="123172261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6E191D-73BD-4FB4-91B8-3B95DD36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23F232-DC13-4C49-91CF-4BEFD7EE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Verificación del sistema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4035E-9575-4A9C-82F4-38BD9062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7C775-C76F-42D1-922A-B630FFBC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099971-2282-417A-A4DC-783681BC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EF2C46-9952-4EFE-9020-61DA92EA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19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Unitarias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F7BF78-AFB7-4094-B3EB-DD3D5EA5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19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Reglas de negocio con repositorios simulados.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0A91A3-70E9-4AA4-9564-945BC97D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0054A-3CAF-482E-9312-7A72CEE4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Integración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0164D2-BEAB-491D-87A7-42B2D25B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HTTP, SQLite aislada, worker y migraciones.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E9F5B9-5849-47CC-AC72-6186E968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07F0C6-D104-4AFF-9FA2-048ADC35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Regresiones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33B322-A0A0-418E-9700-FEBE8878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24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Agenda argentina y reservas simultáneas.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A428D0-E5EC-4E5A-9713-89AF2C4C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14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FC9CE1-3260-4BCF-9F0F-857F5C80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Demo completa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7C84E9-A95C-4FDA-AB24-EF2BD79A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76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JWT real, respuestas HTTP y SMTP local.</a:t>
            </a:r>
          </a:p>
        </p:txBody>
      </p:sp>
    </p:spTree>
    <p:extLst>
      <p:ext uri="{BB962C8B-B14F-4D97-AF65-F5344CB8AC3E}">
        <p14:creationId xmlns:p14="http://schemas.microsoft.com/office/powerpoint/2010/main" val="170618709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9E171C-5430-4B52-A6E8-65116D7D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3E03F7-5ABF-4B62-8B50-8904BD07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Alcance y próximos pasos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FF9C88-065A-4C08-9F8C-C9AC29B2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EAE61-3144-4C61-9F8E-E3AC7907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81ED91-839C-4EF3-862D-D3715F44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956673-7AA6-438D-A3E8-5C16BF3A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09061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85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La API cubre la gestión de turnos</a:t>
            </a:r>
          </a:p>
          <a:p xmlns:a="http://schemas.openxmlformats.org/drawingml/2006/main">
            <a:pPr>
              <a:defRPr sz="285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con permisos y reglas verificables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339416-4044-477B-9B0C-0B8E0B58D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Implementado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307F82-D358-4555-816E-33ACEB6A7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57550"/>
            <a:ext cx="7477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Clientes, servicios, agenda, reservas, cambios,</a:t>
            </a:r>
          </a:p>
          <a:p xmlns:a="http://schemas.openxmlformats.org/drawingml/2006/main">
            <a:pPr>
              <a:def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cancelaciones y recordatorios por correo.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C1F405-F5E6-4466-8C56-8A845B46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Pendiente de operación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A2D027-28CF-42B5-8125-55E72286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29150"/>
            <a:ext cx="7477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Interfaz web final, proveedor SMTP real</a:t>
            </a:r>
          </a:p>
          <a:p xmlns:a="http://schemas.openxmlformats.org/drawingml/2006/main">
            <a:pPr>
              <a:def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y revisión cruzada humana del equipo.</a:t>
            </a:r>
          </a:p>
        </p:txBody>
      </p:sp>
    </p:spTree>
    <p:extLst>
      <p:ext uri="{BB962C8B-B14F-4D97-AF65-F5344CB8AC3E}">
        <p14:creationId xmlns:p14="http://schemas.microsoft.com/office/powerpoint/2010/main" val="4260071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2026-10-16T21:35:55.6490000Z</dcterms:created>
  <dcterms:modified xsi:type="dcterms:W3CDTF">2026-10-16T21:35:55.6490000Z</dcterms:modified>
</coreProperties>
</file>