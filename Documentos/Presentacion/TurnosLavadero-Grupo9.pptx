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3ebb0896474028" /><Relationship Type="http://schemas.openxmlformats.org/officeDocument/2006/relationships/extended-properties" Target="/docProps/app.xml" Id="Ra30965145a474265" /><Relationship Type="http://schemas.openxmlformats.org/officeDocument/2006/relationships/officeDocument" Target="/ppt/presentation.xml" Id="R851356419eb641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65d37cdf1c43fd"/>
  </p:sldMasterIdLst>
  <p:notesMasterIdLst>
    <p:notesMasterId xmlns:r="http://schemas.openxmlformats.org/officeDocument/2006/relationships" r:id="R0870c67ea1a94814"/>
  </p:notesMasterIdLst>
  <p:sldIdLst>
    <p:sldId xmlns:r="http://schemas.openxmlformats.org/officeDocument/2006/relationships" id="256" r:id="Rfe68a9f68f9844d8"/>
    <p:sldId xmlns:r="http://schemas.openxmlformats.org/officeDocument/2006/relationships" id="257" r:id="R0f63d54e188248e9"/>
    <p:sldId xmlns:r="http://schemas.openxmlformats.org/officeDocument/2006/relationships" id="258" r:id="R442f9b14e6b84706"/>
    <p:sldId xmlns:r="http://schemas.openxmlformats.org/officeDocument/2006/relationships" id="259" r:id="R516073cb06234ae8"/>
    <p:sldId xmlns:r="http://schemas.openxmlformats.org/officeDocument/2006/relationships" id="260" r:id="R805d1fd9934344da"/>
    <p:sldId xmlns:r="http://schemas.openxmlformats.org/officeDocument/2006/relationships" id="261" r:id="R8e4767cdfb92455b"/>
    <p:sldId xmlns:r="http://schemas.openxmlformats.org/officeDocument/2006/relationships" id="262" r:id="R34ad550042514f7f"/>
    <p:sldId xmlns:r="http://schemas.openxmlformats.org/officeDocument/2006/relationships" id="263" r:id="Re10785ca0ca44611"/>
    <p:sldId xmlns:r="http://schemas.openxmlformats.org/officeDocument/2006/relationships" id="264" r:id="R1e15bf24e927460a"/>
    <p:sldId xmlns:r="http://schemas.openxmlformats.org/officeDocument/2006/relationships" id="265" r:id="R2662023c7a4f48e4"/>
    <p:sldId xmlns:r="http://schemas.openxmlformats.org/officeDocument/2006/relationships" id="266" r:id="Rd92fe394fb094d72"/>
    <p:sldId xmlns:r="http://schemas.openxmlformats.org/officeDocument/2006/relationships" id="267" r:id="Rddd09db3b599484b"/>
    <p:sldId xmlns:r="http://schemas.openxmlformats.org/officeDocument/2006/relationships" id="268" r:id="R463964b2a31f41a4"/>
    <p:sldId xmlns:r="http://schemas.openxmlformats.org/officeDocument/2006/relationships" id="269" r:id="Reca11802c3f74514"/>
    <p:sldId xmlns:r="http://schemas.openxmlformats.org/officeDocument/2006/relationships" id="270" r:id="Red53f2b9dc7f41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5c7302a0a04fd9" /><Relationship Type="http://schemas.openxmlformats.org/officeDocument/2006/relationships/slideMaster" Target="/ppt/slideMasters/slideMaster1.xml" Id="R9a65d37cdf1c43fd" /><Relationship Type="http://schemas.openxmlformats.org/officeDocument/2006/relationships/notesMaster" Target="/ppt/notesMasters/notesMaster1.xml" Id="R0870c67ea1a94814" /><Relationship Type="http://schemas.openxmlformats.org/officeDocument/2006/relationships/presProps" Target="/ppt/presProps.xml" Id="R319c274f7feb4f0c" /><Relationship Type="http://schemas.openxmlformats.org/officeDocument/2006/relationships/tableStyles" Target="/ppt/tableStyles.xml" Id="R8a3122cc309d4a95" /><Relationship Type="http://schemas.openxmlformats.org/officeDocument/2006/relationships/slide" Target="/ppt/slides/slide1.xml" Id="Rfe68a9f68f9844d8" /><Relationship Type="http://schemas.openxmlformats.org/officeDocument/2006/relationships/slide" Target="/ppt/slides/slide2.xml" Id="R0f63d54e188248e9" /><Relationship Type="http://schemas.openxmlformats.org/officeDocument/2006/relationships/slide" Target="/ppt/slides/slide3.xml" Id="R442f9b14e6b84706" /><Relationship Type="http://schemas.openxmlformats.org/officeDocument/2006/relationships/slide" Target="/ppt/slides/slide4.xml" Id="R516073cb06234ae8" /><Relationship Type="http://schemas.openxmlformats.org/officeDocument/2006/relationships/slide" Target="/ppt/slides/slide5.xml" Id="R805d1fd9934344da" /><Relationship Type="http://schemas.openxmlformats.org/officeDocument/2006/relationships/slide" Target="/ppt/slides/slide6.xml" Id="R8e4767cdfb92455b" /><Relationship Type="http://schemas.openxmlformats.org/officeDocument/2006/relationships/slide" Target="/ppt/slides/slide7.xml" Id="R34ad550042514f7f" /><Relationship Type="http://schemas.openxmlformats.org/officeDocument/2006/relationships/slide" Target="/ppt/slides/slide8.xml" Id="Re10785ca0ca44611" /><Relationship Type="http://schemas.openxmlformats.org/officeDocument/2006/relationships/slide" Target="/ppt/slides/slide9.xml" Id="R1e15bf24e927460a" /><Relationship Type="http://schemas.openxmlformats.org/officeDocument/2006/relationships/slide" Target="/ppt/slides/slide10.xml" Id="R2662023c7a4f48e4" /><Relationship Type="http://schemas.openxmlformats.org/officeDocument/2006/relationships/slide" Target="/ppt/slides/slide11.xml" Id="Rd92fe394fb094d72" /><Relationship Type="http://schemas.openxmlformats.org/officeDocument/2006/relationships/slide" Target="/ppt/slides/slide12.xml" Id="Rddd09db3b599484b" /><Relationship Type="http://schemas.openxmlformats.org/officeDocument/2006/relationships/slide" Target="/ppt/slides/slide13.xml" Id="R463964b2a31f41a4" /><Relationship Type="http://schemas.openxmlformats.org/officeDocument/2006/relationships/slide" Target="/ppt/slides/slide14.xml" Id="Reca11802c3f74514" /><Relationship Type="http://schemas.openxmlformats.org/officeDocument/2006/relationships/slide" Target="/ppt/slides/slide15.xml" Id="Red53f2b9dc7f41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8114d6c0cc40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b71e7dabc54b2b" /><Relationship Type="http://schemas.openxmlformats.org/officeDocument/2006/relationships/notesMaster" Target="/ppt/notesMasters/notesMaster1.xml" Id="R6fa193e9ac304d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76776ae1b74440" /><Relationship Type="http://schemas.openxmlformats.org/officeDocument/2006/relationships/notesMaster" Target="/ppt/notesMasters/notesMaster1.xml" Id="Rb63981b219c548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91896bc08c4683" /><Relationship Type="http://schemas.openxmlformats.org/officeDocument/2006/relationships/notesMaster" Target="/ppt/notesMasters/notesMaster1.xml" Id="R03feef5bfb6f4b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687e677f044835" /><Relationship Type="http://schemas.openxmlformats.org/officeDocument/2006/relationships/notesMaster" Target="/ppt/notesMasters/notesMaster1.xml" Id="R04fb6612a8bb4f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1b8bc119874e86" /><Relationship Type="http://schemas.openxmlformats.org/officeDocument/2006/relationships/notesMaster" Target="/ppt/notesMasters/notesMaster1.xml" Id="R4388f544a02f46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7b2acd72114df7" /><Relationship Type="http://schemas.openxmlformats.org/officeDocument/2006/relationships/notesMaster" Target="/ppt/notesMasters/notesMaster1.xml" Id="R40495df2ffbe40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b81fefd0954a99" /><Relationship Type="http://schemas.openxmlformats.org/officeDocument/2006/relationships/notesMaster" Target="/ppt/notesMasters/notesMaster1.xml" Id="R41482077b6e24a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616d2f8a6d40d0" /><Relationship Type="http://schemas.openxmlformats.org/officeDocument/2006/relationships/notesMaster" Target="/ppt/notesMasters/notesMaster1.xml" Id="Rd332453964184f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6570f111c314510" /><Relationship Type="http://schemas.openxmlformats.org/officeDocument/2006/relationships/notesMaster" Target="/ppt/notesMasters/notesMaster1.xml" Id="R21a4222acaff4e6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562d2104e3344bf" /><Relationship Type="http://schemas.openxmlformats.org/officeDocument/2006/relationships/notesMaster" Target="/ppt/notesMasters/notesMaster1.xml" Id="R024de0983a18462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46f6b6a6cc749ab" /><Relationship Type="http://schemas.openxmlformats.org/officeDocument/2006/relationships/notesMaster" Target="/ppt/notesMasters/notesMaster1.xml" Id="R2349447c04674dc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e9d130bf42423b" /><Relationship Type="http://schemas.openxmlformats.org/officeDocument/2006/relationships/notesMaster" Target="/ppt/notesMasters/notesMaster1.xml" Id="Rd1c42cce329a4a2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c104fa684684e8f" /><Relationship Type="http://schemas.openxmlformats.org/officeDocument/2006/relationships/notesMaster" Target="/ppt/notesMasters/notesMaster1.xml" Id="Rc46d0640a112437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c051263fee1415d" /><Relationship Type="http://schemas.openxmlformats.org/officeDocument/2006/relationships/notesMaster" Target="/ppt/notesMasters/notesMaster1.xml" Id="R7cfc601976c145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8d647c76bcf4d9c" /><Relationship Type="http://schemas.openxmlformats.org/officeDocument/2006/relationships/notesMaster" Target="/ppt/notesMasters/notesMaster1.xml" Id="Ra2b52608ed6e4b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Presentarnos y explicar el objetivo: organizar las reservas del lavadero y dar autonomía al cliente para gestionar sus turnos. Anunciar que mostraremos documentación y cinco operaciones reales de la API. Evitar describir una interfaz web como terminada.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Tomás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Describir la necesidad que resuelve el proyecto sin inventar entrevistas o métricas. La agenda centraliza la disponibilidad y los cambios. Explicar que el alcance corresponde a reservas, no a cobro de ventas ni administración de vehículos.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https://github.com/PracticasProfesionalizantes-I-2026/Grupo-9-TurnosLavadero/blob/cierre-entrega-y-demo/Documentos/Entregas%20TP/Alcance%20del%20Sistema.md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Recorrer la tabla y conectar cada permiso con un rol. El identificador del cliente se obtiene del JWT. Si el cuerpo indica otra persona, el sistema rechaza el intento. Mostrar IActorContext y ResolveClienteId si preguntan cómo se evita confiar en el 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https://github.com/PracticasProfesionalizantes-I-2026/Grupo-9-TurnosLavadero/blob/cierre-entrega-y-demo/Documentos/Entregas%20TP/Alcance%20del%20Sistema.md</a:t>
            </a:r>
          </a:p>
          <a:p xmlns:a="http://schemas.openxmlformats.org/drawingml/2006/main">
            <a:r>
              <a:t>https://github.com/PracticasProfesionalizantes-I-2026/Grupo-9-TurnosLavadero/blob/cierre-entrega-y-demo/BusinessLogic/Services/TurnoService.cs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Tomás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Explicar por qué Cliente, Servicio y Turno son las entidades principales. Diferenciar Usuario de Cliente y explicar el registro de recordatorios. La cancelación conserva el turno y cambia su estado. Las relaciones restringen el borrado de datos con dependencias.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https://github.com/PracticasProfesionalizantes-I-2026/Grupo-9-TurnosLavadero/blob/cierre-entrega-y-demo/DataAccess/Context/LavaderoDbContext.cs</a:t>
            </a:r>
          </a:p>
          <a:p xmlns:a="http://schemas.openxmlformats.org/drawingml/2006/main">
            <a:r>
              <a:t>https://github.com/PracticasProfesionalizantes-I-2026/Grupo-9-TurnosLavadero/blob/cierre-entrega-y-demo/PLAN-ARQUITECTURA.md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1 minuto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Estos son los cinco requisitos elegidos para la exposición. No confundir requerimiento con endpoint: el requisito explica la necesidad, el caso de uso describe el flujo y la API lo implementa. Abrir REQUISITOS.md y seguir una fila hasta su prueba.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https://github.com/PracticasProfesionalizantes-I-2026/Grupo-9-TurnosLavadero/blob/cierre-entrega-y-demo/Documentos/Entregas%20TP/TRAZABILIDAD.md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Tomás · 1 minuto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Mostrar una evidencia por atributo. Evitar prometer rendimiento o disponibilidad sin mediciones. La unicidad opera sobre instantes exactos y el modelo no calcula duración del lavado. Las pruebas y los límites están explícitos en REQUISITOS.md.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https://github.com/PracticasProfesionalizantes-I-2026/Grupo-9-TurnosLavadero/blob/cierre-entrega-y-demo/API/Security/PasswordService.cs</a:t>
            </a:r>
          </a:p>
          <a:p xmlns:a="http://schemas.openxmlformats.org/drawingml/2006/main">
            <a:r>
              <a:t>https://github.com/PracticasProfesionalizantes-I-2026/Grupo-9-TurnosLavadero/blob/cierre-entrega-y-demo/DataAccess/Context/LavaderoDbContext.cs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30 segundos / Tomás ·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Juan: abrir TurnosController.Create y explicar el 201 y la traducción de excepciones. Tomás: seguir CreateAsync del service hasta el repository. Mostrar que el controller no usa el contexto directamente y que los DTOs evitan exponer entidades.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https://github.com/PracticasProfesionalizantes-I-2026/Grupo-9-TurnosLavadero/blob/cierre-entrega-y-demo/API/Controllers/TurnosController.cs</a:t>
            </a:r>
          </a:p>
          <a:p xmlns:a="http://schemas.openxmlformats.org/drawingml/2006/main">
            <a:r>
              <a:t>https://github.com/PracticasProfesionalizantes-I-2026/Grupo-9-TurnosLavadero/blob/cierre-entrega-y-demo/BusinessLogic/Services/TurnoService.cs</a:t>
            </a:r>
          </a:p>
          <a:p xmlns:a="http://schemas.openxmlformats.org/drawingml/2006/main">
            <a:r>
              <a:t>https://github.com/PracticasProfesionalizantes-I-2026/Grupo-9-TurnosLavadero/blob/cierre-entrega-y-demo/DataAccess/Repositories/TurnoRepository.cs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Tomás · 2 minutos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Ejecutar primero el login administrador y la creación del servicio de la carpeta 00 Demo como preparación. Después ejecutar Registrar cliente CU07. Explicar el JSON, el token y el clienteId de la respuesta. Abrir el caso de uso y RegisterClienteAsync. Repetir el correo produce 409. La contraseña nunca se guarda en texto plano.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https://github.com/PracticasProfesionalizantes-I-2026/Grupo-9-TurnosLavadero/blob/cierre-entrega-y-demo/BusinessLogic/Services/AuthService.cs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Tomás · 1 minuto / Juan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Tomás: ejecutar Reservar turno CU01 y mostrar el 201. Juan: abrir CreateAsync y ejecutar Rechazar horario ocupado. Explicar RN-01 y el índice único que protege cuando dos peticiones llegan juntas. La colisión del índice también se convierte en 409.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https://github.com/PracticasProfesionalizantes-I-2026/Grupo-9-TurnosLavadero/blob/cierre-entrega-y-demo/BusinessLogic/Services/TurnoService.cs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2 minutos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Ejecutar Modificar turno CU04. Mostrar fecha anterior y nueva. Abrir EnsureCanOperate, EnsureModifiable y ExistsActiveAtAsync con exclusión del propio ID. Explicar qué sucede con un turno ajeno, vencido, cancelado o un horario ocupado. El script de demo automática demuestra un intento ajeno con 403.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https://github.com/PracticasProfesionalizantes-I-2026/Grupo-9-TurnosLavadero/blob/cierre-entrega-y-demo/BusinessLogic/Services/TurnoService.cs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Tomás · 2 minutos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Ejecutar Cancelar turno CU05 y Comprobar horario liberado. Explicar por qué 204 no lleva JSON. Mostrar que CancelAsync cambia el estado en vez de borrar físicamente. La demo automática consulta mis-turnos y verifica que el turno cancelado permanezca en el historial.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https://github.com/PracticasProfesionalizantes-I-2026/Grupo-9-TurnosLavadero/blob/cierre-entrega-y-demo/BusinessLogic/Services/TurnoService.cs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2 minutos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Volver a la respuesta Crear servicio CU06 y mostrar el alta realizada con el token administrador. Abrir ServicioService. Explicar validaciones y el rechazo de eliminación si tiene turnos. Mostrar las pruebas Servicios_UpdateDeleteAndProtectRelatedService. No borrar el servicio usado en la demo, porque conserva el turno cancelado.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https://github.com/PracticasProfesionalizantes-I-2026/Grupo-9-TurnosLavadero/blob/cierre-entrega-y-demo/Documentos/Entregas%20TP/REQUISITOS.md</a:t>
            </a:r>
          </a:p>
          <a:p xmlns:a="http://schemas.openxmlformats.org/drawingml/2006/main">
            <a:r>
              <a:t>https://github.com/PracticasProfesionalizantes-I-2026/Grupo-9-TurnosLavadero/blob/cierre-entrega-y-demo/BusinessLogic/Services/ServicioService.cs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1 minuto / Tomás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Juan: explicar worker y procesador, y por qué la configuración base desactiva el worker hasta disponer de SMTP. Tomás: abrir el correo del reporte HTML y las dos respuestas de procesar recordatorios. La segunda no reenvía. La captura prueba el transporte local. No afirmar entrega a una casilla externa. Un proveedor real requiere credenciales y permisos.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https://github.com/PracticasProfesionalizantes-I-2026/Grupo-9-TurnosLavadero/blob/cierre-entrega-y-demo/BusinessLogic/Services/RecordatorioProcessor.cs</a:t>
            </a:r>
          </a:p>
          <a:p xmlns:a="http://schemas.openxmlformats.org/drawingml/2006/main">
            <a:r>
              <a:t>https://github.com/PracticasProfesionalizantes-I-2026/Grupo-9-TurnosLavadero/blob/cierre-entrega-y-demo/API/Notifications/RecordatorioWorker.cs</a:t>
            </a:r>
          </a:p>
          <a:p xmlns:a="http://schemas.openxmlformats.org/drawingml/2006/main">
            <a:r>
              <a:t>https://github.com/PracticasProfesionalizantes-I-2026/Grupo-9-TurnosLavadero/blob/cierre-entrega-y-demo/scripts/demo.py</a:t>
            </a:r>
          </a:p>
          <a:p xmlns:a="http://schemas.openxmlformats.org/drawingml/2006/main">
            <a:r>
              <a:t>https://github.com/PracticasProfesionalizantes-I-2026/Grupo-9-TurnosLavadero/blob/cierre-entrega-y-demo/Documentos/RECORDATORIOS.md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1 minuto / Tomás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Juan: mostrar dotnet build y dotnet test o el resultado de GitHub Actions, indicando si alguna comprobación sigue pendiente. Tomás: abrir demo.html generado por scripts/demo.py. Mostrar códigos y el correo capturado. La colección Bruno sirve para la demostración en vivo, la suite automática para reproducir los escenarios. No inventar una cantidad de pruebas aprobadas.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https://github.com/PracticasProfesionalizantes-I-2026/Grupo-9-TurnosLavadero/blob/cierre-entrega-y-demo/Tests/IntegrationTests/AgendaAndConcurrencyTests.cs</a:t>
            </a:r>
          </a:p>
          <a:p xmlns:a="http://schemas.openxmlformats.org/drawingml/2006/main">
            <a:r>
              <a:t>https://github.com/PracticasProfesionalizantes-I-2026/Grupo-9-TurnosLavadero/blob/cierre-entrega-y-demo/Documentos/Entregas%20TP/TRAZABILIDAD.md</a:t>
            </a:r>
          </a:p>
          <a:p xmlns:a="http://schemas.openxmlformats.org/drawingml/2006/main">
            <a:r>
              <a:t>https://github.com/PracticasProfesionalizantes-I-2026/Grupo-9-TurnosLavadero/blob/cierre-entrega-y-demo/.github/workflows/verificar.yml</a:t>
            </a:r>
          </a:p>
          <a:p xmlns:a="http://schemas.openxmlformats.org/drawingml/2006/main">
            <a:r>
              <a:t>https://github.com/PracticasProfesionalizantes-I-2026/Grupo-9-TurnosLavadero/blob/cierre-entrega-y-demo/scripts/demo.py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Juan · 1 minuto / Tomás ·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Juan: cerrar retomando el problema de organización del lavadero y las cinco funciones demostradas. Tomás: aclarar alcance actual y abrir preguntas. La revisión humana histórica no puede fabricarse. No hace falta prometer que el proyecto está listo para producción. Reservar cinco minutos fuera de los 24 para consultas.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Fuentes del repositorio:</a:t>
            </a:r>
          </a:p>
          <a:p xmlns:a="http://schemas.openxmlformats.org/drawingml/2006/main">
            <a:r>
              <a:t>https://github.com/PracticasProfesionalizantes-I-2026/Grupo-9-TurnosLavadero/blob/cierre-entrega-y-demo/Documentos/Entregas%20TP/Alcance%20del%20Sistema.md</a:t>
            </a:r>
          </a:p>
          <a:p xmlns:a="http://schemas.openxmlformats.org/drawingml/2006/main">
            <a:r>
              <a:t>https://github.com/PracticasProfesionalizantes-I-2026/Grupo-9-TurnosLavadero/blob/cierre-entrega-y-demo/Documentos/Presentacion/REVISION-Y-ENTREGA.md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f7c236dfe9458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e1a8291efb42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c6d9419a20429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067165cd794a0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778a21a87c4f1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209dc167b64e3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79E33E-3FDA-4260-B581-B8B8FD95C0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C7009BE-C536-4BDA-86D4-AB8E9D625E7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A8AB527-A084-47FD-B886-A560C8F1B2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547C6E-7A44-49BB-B200-03296B8816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22E5F7B-EF80-4291-ADAB-F18527B00E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F087754-596F-4389-B6EF-8107D0835C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F1C6A4D-1495-45C6-9291-5623C64C41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A301A58-A1F3-4B30-894B-F3399C11F66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84CE48-9468-4199-833D-392AF1F33D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869CFDC-CF9E-4CAB-94B1-D9BDE878B5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167f0c52c148e0" /><Relationship Type="http://schemas.openxmlformats.org/officeDocument/2006/relationships/slideLayout" Target="/ppt/slideLayouts/slideLayout1.xml" Id="R4954c33f55c84e07" /><Relationship Type="http://schemas.openxmlformats.org/officeDocument/2006/relationships/slideLayout" Target="/ppt/slideLayouts/slideLayout2.xml" Id="Rffcf34c7486a4fd1" /><Relationship Type="http://schemas.openxmlformats.org/officeDocument/2006/relationships/slideLayout" Target="/ppt/slideLayouts/slideLayout3.xml" Id="R7ff76b10ce6247e8" /><Relationship Type="http://schemas.openxmlformats.org/officeDocument/2006/relationships/slideLayout" Target="/ppt/slideLayouts/slideLayout4.xml" Id="R588360c55fd143f9" /><Relationship Type="http://schemas.openxmlformats.org/officeDocument/2006/relationships/slideLayout" Target="/ppt/slideLayouts/slideLayout5.xml" Id="R2da4fbdc89df4cd1" /><Relationship Type="http://schemas.openxmlformats.org/officeDocument/2006/relationships/slideLayout" Target="/ppt/slideLayouts/slideLayout6.xml" Id="Re51ac3db9e244b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54c33f55c84e07"/>
    <p:sldLayoutId xmlns:r="http://schemas.openxmlformats.org/officeDocument/2006/relationships" id="2147483650" r:id="Rffcf34c7486a4fd1"/>
    <p:sldLayoutId xmlns:r="http://schemas.openxmlformats.org/officeDocument/2006/relationships" id="2147483651" r:id="R7ff76b10ce6247e8"/>
    <p:sldLayoutId xmlns:r="http://schemas.openxmlformats.org/officeDocument/2006/relationships" id="2147483652" r:id="R588360c55fd143f9"/>
    <p:sldLayoutId xmlns:r="http://schemas.openxmlformats.org/officeDocument/2006/relationships" id="2147483653" r:id="R2da4fbdc89df4cd1"/>
    <p:sldLayoutId xmlns:r="http://schemas.openxmlformats.org/officeDocument/2006/relationships" id="2147483654" r:id="Re51ac3db9e244b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240291dddd4a85" /><Relationship Type="http://schemas.openxmlformats.org/officeDocument/2006/relationships/notesSlide" Target="/ppt/notesSlides/notesSlide1.xml" Id="Ra862c53b76844d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a804fb37724017" /><Relationship Type="http://schemas.openxmlformats.org/officeDocument/2006/relationships/notesSlide" Target="/ppt/notesSlides/notesSlide2.xml" Id="Rf2bb90acd8bc46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0c229950e64456" /><Relationship Type="http://schemas.openxmlformats.org/officeDocument/2006/relationships/notesSlide" Target="/ppt/notesSlides/notesSlide3.xml" Id="R6471b1a3d18842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d07e681ac34507" /><Relationship Type="http://schemas.openxmlformats.org/officeDocument/2006/relationships/notesSlide" Target="/ppt/notesSlides/notesSlide4.xml" Id="R231d5401bee449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4398f92c314a5f" /><Relationship Type="http://schemas.openxmlformats.org/officeDocument/2006/relationships/notesSlide" Target="/ppt/notesSlides/notesSlide5.xml" Id="R747ce0ea871147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ddbb0ac3c8484b" /><Relationship Type="http://schemas.openxmlformats.org/officeDocument/2006/relationships/notesSlide" Target="/ppt/notesSlides/notesSlide6.xml" Id="Rf5d35e5f1f9b456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935ee22ba24eb9" /><Relationship Type="http://schemas.openxmlformats.org/officeDocument/2006/relationships/notesSlide" Target="/ppt/notesSlides/notesSlide7.xml" Id="R29be58f8f8bb454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f9bf85de9c4f0d" /><Relationship Type="http://schemas.openxmlformats.org/officeDocument/2006/relationships/notesSlide" Target="/ppt/notesSlides/notesSlide8.xml" Id="Rc54646491560402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278087c19d4278" /><Relationship Type="http://schemas.openxmlformats.org/officeDocument/2006/relationships/notesSlide" Target="/ppt/notesSlides/notesSlide9.xml" Id="Rbeedaab9420f47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af8adbd60f4066" /><Relationship Type="http://schemas.openxmlformats.org/officeDocument/2006/relationships/notesSlide" Target="/ppt/notesSlides/notesSlide10.xml" Id="R16e230407e60463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bbcb26046b4676" /><Relationship Type="http://schemas.openxmlformats.org/officeDocument/2006/relationships/notesSlide" Target="/ppt/notesSlides/notesSlide11.xml" Id="R07b439d00cae4aa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1936898e754955" /><Relationship Type="http://schemas.openxmlformats.org/officeDocument/2006/relationships/notesSlide" Target="/ppt/notesSlides/notesSlide12.xml" Id="Rd23276b15d964ec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1ed892958946e2" /><Relationship Type="http://schemas.openxmlformats.org/officeDocument/2006/relationships/notesSlide" Target="/ppt/notesSlides/notesSlide13.xml" Id="R92967b05cbd746d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f193fda175455a" /><Relationship Type="http://schemas.openxmlformats.org/officeDocument/2006/relationships/notesSlide" Target="/ppt/notesSlides/notesSlide14.xml" Id="R707c99f935c2481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00733af0114b6c" /><Relationship Type="http://schemas.openxmlformats.org/officeDocument/2006/relationships/notesSlide" Target="/ppt/notesSlides/notesSlide15.xml" Id="R2c8ba9be21964b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2B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E55EF6-FDD3-472B-92C0-2E3BEDCC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71525"/>
            <a:ext cx="95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807163-9409-4F54-8828-26276DAE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477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9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9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Sistema de turnos</a:t>
            </a:r>
          </a:p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9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para lavadero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B8B835-268E-4F0E-9CE3-985FB912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Juan Jesús Baigorria</a:t>
            </a:r>
          </a:p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Tomás Martín Ponce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E0889-8C26-4EC4-BD97-A4102EC3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5312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A8CCC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8CCC9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A8CCC9"/>
                </a:solidFill>
                <a:latin typeface="DejaVu Sans"/>
                <a:ea typeface="DejaVu Sans"/>
                <a:cs typeface="DejaVu Sans"/>
              </a:rPr>
              <a:t>Grupo 9 · ICES Superior · 2026</a:t>
            </a:r>
          </a:p>
        </p:txBody>
      </p:sp>
    </p:spTree>
    <p:extLst>
      <p:ext uri="{BB962C8B-B14F-4D97-AF65-F5344CB8AC3E}">
        <p14:creationId xmlns:p14="http://schemas.microsoft.com/office/powerpoint/2010/main" val="18883711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05180E-ADD4-4E57-B713-B2CE6D9BE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ECF7E5-CB21-4839-85E1-562119AD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El problema del lavadero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6F46A9-2754-416D-A2C5-F0AFCC440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EA8933-1AD1-48AE-A59A-B0895631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C94517-65B5-45A1-9201-7B3A69EF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76869-64D5-43C8-A527-61E41707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Una agenda compartida necesita</a:t>
            </a:r>
          </a:p>
          <a:p xmlns:a="http://schemas.openxmlformats.org/drawingml/2006/main">
            <a:pPr>
              <a:defRPr sz="3000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reglas claras de reserva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9537DC-2EB9-4332-953E-B04BD479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62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Disponibilidad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12CD93-7F7B-4A5B-8030-76E1FEC2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62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cliente consulta un horario antes de reservar.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650E27-9D8B-4BE7-B306-A76C9F11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2BEC7-BA64-41E9-8CF1-AD5BB5CB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Cambios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FFF2AD-C1FC-48E2-9C99-6BA8D28F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714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titular modifica o cancela su propio turno.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D62C49-2098-46E2-AA45-AB192C4B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0B1709-E779-44A1-8440-350A57C1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Organización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CE70E3-488F-4539-90DC-537A7D0D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67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personal consulta la agenda del día argentino.</a:t>
            </a:r>
          </a:p>
        </p:txBody>
      </p:sp>
    </p:spTree>
    <p:extLst>
      <p:ext uri="{BB962C8B-B14F-4D97-AF65-F5344CB8AC3E}">
        <p14:creationId xmlns:p14="http://schemas.microsoft.com/office/powerpoint/2010/main" val="750982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13123A-8B03-4477-A4F7-51ED0665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279AB3-7542-4034-9C2F-938A5763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Actores y permisos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67B55-03FE-46B6-90F2-32A42A9B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B93D22-CE3B-456F-A6B8-B129E78B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90290-7AF3-481B-ACAE-2410B2D5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AB6C15-2D28-4560-AF22-51B3DE20938D}"/>
              </a:ext>
            </a:extLst>
          </p:cNvPr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10972800" cy="3695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4619625"/>
                <a:gridCol w="4162425"/>
              </a:tblGrid>
              <a:tr h="923925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Actor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Responsabilidad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Límite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</a:tr>
              <a:tr h="923925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Cliente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Reserva y gestiona sus turnos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Accede a sus propios datos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923925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Empleado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Gestiona clientes y agenda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No administra servicios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23925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Administrador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Gestiona agenda y servicios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Procesa recordatorios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41911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AFAB6-6B1D-4761-8E01-A4C2A30C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89E2E9-CFA2-4227-99B9-2D9C5EEA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Datos y relaciones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132A69-6CA9-4D32-A406-6F2C7217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D18E2-1F7F-4C47-BA0C-118169D2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78E606-A142-41D5-BA41-5E3FE1B2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F22FF6-C05C-47ED-9F55-F3BFCFB62BEB}"/>
              </a:ext>
            </a:extLst>
          </p:cNvPr>
          <p:cNvGraphicFramePr/>
          <p:nvPr/>
        </p:nvGraphicFramePr>
        <p:xfrm>
          <a:off xmlns:a="http://schemas.openxmlformats.org/drawingml/2006/main" x="609600" y="16002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4619625"/>
                <a:gridCol w="4162425"/>
              </a:tblGrid>
              <a:tr h="819150"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Entidad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Datos principales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Relación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</a:tr>
              <a:tr h="81915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Cliente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Nombre, contacto, preferencias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 cliente tiene varios turnos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81915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Servicio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Nombre, importe, activo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 servicio aparece en varios turnos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Turno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Fecha, estado, cliente, servicio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Cada turno corresponde a un cliente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81915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Usuario / Recordatorio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Cuenta de acceso / registro del aviso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Apoyan autenticación y notificaciones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91928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3386E-F78F-4A81-BE20-0E5794AD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1C8C4B-87DA-4D7D-914D-EF2F53A8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Cinco requerimientos funcionales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A7808-0CB3-4558-9DBB-F876B680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911EA9-D2BE-4101-88A2-E27593B8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543372-F8F7-46E6-8F97-2B1AAEC4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FC642-7ABF-4331-BC9A-91CB9802F273}"/>
              </a:ext>
            </a:extLst>
          </p:cNvPr>
          <p:cNvGraphicFramePr/>
          <p:nvPr/>
        </p:nvGraphicFramePr>
        <p:xfrm>
          <a:off xmlns:a="http://schemas.openxmlformats.org/drawingml/2006/main" x="609600" y="1581150"/>
          <a:ext xmlns:a="http://schemas.openxmlformats.org/drawingml/2006/main" cx="10972800" cy="4171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5619750"/>
                <a:gridCol w="3829050"/>
              </a:tblGrid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Función implementada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Caso de uso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RF-01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Registrar cliente y cuenta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CU-07 Registrar Cliente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RF-02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Reservar un horario disponible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CU-01 Solicitar Turno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RF-03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Modificar un turno propio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CU-04 Modificar Turno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RF-04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Cancelar y liberar el horario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CU-05 Cancelar Turno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RF-05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Administrar servicios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CU-06 Gestionar Servicios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59224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3B754E-0A12-4D5C-BF58-FC1CFC5E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9E13E2-681E-49FE-A15D-8CC24BE7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Cinco requisitos no funcionales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46963-2904-4F0E-8B22-11A788C5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FCFD78-FE16-4FCC-A649-126DD8AD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FA7C26-622E-45E1-88EC-AA54CF3B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5553C-9823-48FC-A883-9B815E9B8E26}"/>
              </a:ext>
            </a:extLst>
          </p:cNvPr>
          <p:cNvGraphicFramePr/>
          <p:nvPr/>
        </p:nvGraphicFramePr>
        <p:xfrm>
          <a:off xmlns:a="http://schemas.openxmlformats.org/drawingml/2006/main" x="609600" y="1581150"/>
          <a:ext xmlns:a="http://schemas.openxmlformats.org/drawingml/2006/main" cx="10972800" cy="4171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3619500"/>
                <a:gridCol w="5829300"/>
              </a:tblGrid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Atributo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Evidencia concreta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T w="9525">
                      <a:solidFill>
                        <a:srgbClr val="CADADB"/>
                      </a:solidFill>
                      <a:prstDash val="solid"/>
                    </a:lnT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112B3C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RNF-01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Seguridad de acceso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JWT y contraseñas con hash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RNF-02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Confidencialidad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Permisos por rol y titularidad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RNF-03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Integridad y concurrencia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Índice único y conflicto HTTP 409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RNF-04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Mantenibilidad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Capas, interfaces y pruebas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RNF-05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ADADB"/>
                      </a:solidFill>
                      <a:prstDash val="solid"/>
                    </a:lnL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Interoperabilidad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1738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JSON, OpenAPI y fechas con zona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ADADB"/>
                      </a:solidFill>
                      <a:prstDash val="solid"/>
                    </a:lnR>
                    <a:lnB w="9525">
                      <a:solidFill>
                        <a:srgbClr val="CADADB"/>
                      </a:solidFill>
                      <a:prstDash val="solid"/>
                    </a:lnB>
                    <a:solidFill>
                      <a:srgbClr val="EFF5F5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16480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5958B3-1AEB-4D4F-9EAA-8017645D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A7B128-F91E-4FD6-82B6-BBA6C4FB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Recorrido de una petición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B3C9E-CCDC-493D-8690-520E17C1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44B0F-E3EA-4B38-9840-3CCD02BA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626E8-8F51-4A68-A48D-D4DA910F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ED16B2-8D82-4C2D-B30C-4EB430A9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19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Controller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630CB7-B200-4661-BF3D-FFA4E13D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19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Recibe JSON y devuelve el código HTTP.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13F998-CCA2-4624-B8A2-599C5ECB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9A14B-502E-4A09-AFAE-DEF31040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Service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F32ACF-AE82-45C3-BBE8-7C24AD5C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Aplica permisos y reglas de negocio.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2E5318-8DAC-4DB0-9236-4E5CF623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741F44-9123-4592-84D5-A456A0E6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Repository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D54E2B-DDA3-4FB5-8CCC-DF8F7E35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24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Consulta o guarda mediante EF Core.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34E192-DDC5-4E87-9E99-9F25C5C7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4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97C208-C541-4EE5-933E-E7A3F07A7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DbContext / SQLite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2E1597-5F23-4AE6-BDF5-3DD553F5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76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Conserva datos, relaciones e índices.</a:t>
            </a:r>
          </a:p>
        </p:txBody>
      </p:sp>
    </p:spTree>
    <p:extLst>
      <p:ext uri="{BB962C8B-B14F-4D97-AF65-F5344CB8AC3E}">
        <p14:creationId xmlns:p14="http://schemas.microsoft.com/office/powerpoint/2010/main" val="12639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B02D01-160B-4F98-B2D5-E2FB22DB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21F06D-AFA1-4631-A6B6-9F36AC15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Registro de un cliente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4D4DAD-4010-4817-98C6-1EB5B82C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A4400-07C4-4BF4-9943-1CD2E080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E71329-CFAC-44B1-878D-1DEABFE1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0B70E2-AE13-451F-879B-1E2F6D4E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RF-01 / CU-07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D2103B-9888-4545-BF1A-9DB5BA8BF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cliente crea su cuenta</a:t>
            </a:r>
          </a:p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y obtiene un token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33D5A3-EE23-4396-94B1-8ED3475C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Correo único y contraseña de al menos 8 caracteres. El registro asigna el rol Cliente.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269C0D-294A-4276-8F0F-9750714C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14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201 Created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1F0DC-EBD8-4335-ADD5-BE0EF210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76400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POST /api/auth/registro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7353D8-9583-4D1E-B1D7-58A9E336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270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E5283A-C83E-48F2-A866-0757405B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{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"nombre": "Cliente",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"apellido": "Demo",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"email": "demo@example.test",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"password": "&lt;clave de 8 o más&gt;"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9B5D94-303A-4A9B-9299-BDC409AD0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149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BusinessLogic/Services/AuthService.cs</a:t>
            </a:r>
          </a:p>
        </p:txBody>
      </p:sp>
    </p:spTree>
    <p:extLst>
      <p:ext uri="{BB962C8B-B14F-4D97-AF65-F5344CB8AC3E}">
        <p14:creationId xmlns:p14="http://schemas.microsoft.com/office/powerpoint/2010/main" val="2040409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9099D9-24E7-470B-927A-EADF2450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EDB6E7-3006-491B-91DE-4911C64F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Reserva de un turno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776C8A-76EC-44EB-B75F-B6746E41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8278B2-214D-4861-8C90-9EAFA2CA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2CC05-1DAA-48D2-A704-055A2A3F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04BE0A-8698-4A8C-B3B2-33D719B7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RF-02 / CU-01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7B91FA-3519-499E-B36E-A400A56E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cliente elige servicio</a:t>
            </a:r>
          </a:p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y fecha disponible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89FF6E-3EFC-4C04-9A1B-6B5AAB06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El sistema toma el cliente del token y vuelve a comprobar disponibilidad antes de guardar.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11B817-EE51-4947-8A90-02C6EF94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14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201 Created / 409 Conflict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6C8E8A-B019-4555-BD04-70B70E2C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76400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POST /api/turnos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7B43A6-DE83-440B-ADF5-26D62980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270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1F4C20-F779-4097-8E96-80DD24F2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{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"servicioId": "&lt;id del servicio&gt;",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"fechaHora": "&lt;ISO-8601 futuro&gt;"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Estado inicial: Confirmado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6F385B-0E98-4F1B-94AC-EC756433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149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BusinessLogic/Services/TurnoService.cs</a:t>
            </a:r>
          </a:p>
        </p:txBody>
      </p:sp>
    </p:spTree>
    <p:extLst>
      <p:ext uri="{BB962C8B-B14F-4D97-AF65-F5344CB8AC3E}">
        <p14:creationId xmlns:p14="http://schemas.microsoft.com/office/powerpoint/2010/main" val="14480959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545861-6FCF-4E0C-91F2-2EB71FE2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6F7927-A495-4AE5-82FD-A9C07C9C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Modificación de un turno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83BB1B-66D2-4698-86B3-A1B7DA7A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86B2C0-CB78-41B1-BC6C-D512FDCB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B4D700-118B-41A6-876C-2C44D0E1E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158AE6-0BFC-4A94-980A-5C08C848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RF-03 / CU-04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994E33-DE60-414E-8F0E-4603A480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titular reprograma</a:t>
            </a:r>
          </a:p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un turno confirmado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26D9FE-6F06-4995-968B-14498EDE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Solo un turno futuro y activo puede cambiar. La nueva fecha también debe estar libre.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BCE5F3-B26E-449D-92CC-2A4BD9F1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14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200 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288B57-86C8-43D1-9436-E98EFE5B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76400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PUT /api/turnos/{id}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D52920-F077-4A2D-B757-31B7B0851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270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FBEC5-F4C9-431E-AA7B-026422E0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{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"servicioId": "&lt;id del servicio&gt;",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"fechaHora": "&lt;nuevo instante&gt;"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Mismo ID, nueva fecha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A7BBBB-A553-4DBC-BB9E-4E215E26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149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BusinessLogic/Services/TurnoService.cs</a:t>
            </a:r>
          </a:p>
        </p:txBody>
      </p:sp>
    </p:spTree>
    <p:extLst>
      <p:ext uri="{BB962C8B-B14F-4D97-AF65-F5344CB8AC3E}">
        <p14:creationId xmlns:p14="http://schemas.microsoft.com/office/powerpoint/2010/main" val="18855550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C1577D-E9C4-443E-BEE4-7D43D074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8BB61-932C-4648-946D-7E9AFCBB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Cancelación e historial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A5F80-E8DC-4154-89E3-75052AA5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D277CA-1F16-46D7-B872-EC9D793B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A729B0-1AB7-4E81-8277-E3A3C01D0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0F62E7-F5E0-4CD9-B217-6812AF47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RF-04 / CU-05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24E7AF-26C2-4126-986B-DD673461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titular cancela</a:t>
            </a:r>
          </a:p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y libera el horario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EA964C-B36B-4C05-9C0E-B4EFC64F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El sistema conserva el registro cancelado. La siguiente consulta muestra el horario disponible.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11FB2-6C81-494B-B4CB-C1EBD9E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14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204 No Content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391E0E-4260-4F0E-B73F-D442EC26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76400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DELETE /api/turnos/{id}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36FCC8-A778-472C-90E1-7B341AB0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270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9B7BF-C58E-40A6-90B7-F580DBCB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Sin cuerpo de petición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Estado: Cancelado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GET /api/turnos/disponibilidad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{ "disponible": true 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5FECA-2C46-4F67-8DBF-DA1ECBFD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149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BusinessLogic/Services/TurnoService.cs</a:t>
            </a:r>
          </a:p>
        </p:txBody>
      </p:sp>
    </p:spTree>
    <p:extLst>
      <p:ext uri="{BB962C8B-B14F-4D97-AF65-F5344CB8AC3E}">
        <p14:creationId xmlns:p14="http://schemas.microsoft.com/office/powerpoint/2010/main" val="16421428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F3228B-3FE8-4A9A-BA97-FC4224E3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BD4B6D-752A-4D03-92E8-A5F2E19F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Gestión del catálogo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215B3-5EFA-4A5B-B0E1-BFE0415A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CCFD98-42B0-416E-9854-5DA12831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08894F-CEC5-4A08-8149-96F0F619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2FB58F-3901-4015-931B-7BA51766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RF-05 / CU-06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054127-6B1D-4F91-ADC8-03195ECD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administrador mantiene</a:t>
            </a:r>
          </a:p>
          <a:p xmlns:a="http://schemas.openxmlformats.org/drawingml/2006/main">
            <a:pPr>
              <a:def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los servicios e importes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09F7D-A621-4552-A0EF-ABA988CC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Nombre único, importe positivo y protección de servicios relacionados con turnos.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6DC984-AD7B-4F7B-BEE8-6671BFE1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514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201 / 200 / 204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FA0474-9FA0-4C78-B0F4-C25B8252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76400"/>
            <a:ext cx="5105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POST /api/servicios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54017-D5F2-4882-BD0E-9DBE5238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270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AA452E-1CC5-4904-A334-CCD67544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{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"nombre": "Lavado demo",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  "importe": 12000</a:t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 b="0">
                <a:solidFill>
                  <a:srgbClr val="17384A"/>
                </a:solidFill>
                <a:latin typeface="DejaVu Sans Mono"/>
                <a:ea typeface="DejaVu Sans Mono"/>
                <a:cs typeface="DejaVu Sans Mono"/>
              </a:rPr>
              <a:t>PUT y DELETE /api/servicios/{id}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AF52E6-3B4A-40FB-985B-CBD2603C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149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BusinessLogic/Services/ServicioService.cs</a:t>
            </a:r>
          </a:p>
        </p:txBody>
      </p:sp>
    </p:spTree>
    <p:extLst>
      <p:ext uri="{BB962C8B-B14F-4D97-AF65-F5344CB8AC3E}">
        <p14:creationId xmlns:p14="http://schemas.microsoft.com/office/powerpoint/2010/main" val="9937198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83666E-B44C-497F-BD78-183A1DEF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CAA69-CAD3-4308-963E-9AC8D0D2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Recordatorios por correo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CEED1C-05CF-4139-9EE1-54B2A37A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A0BAF-8634-4835-ADED-F9C97314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652657-51F2-4909-8192-B34F6F60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CBD1C4-8DDA-4755-AAD9-8156E14A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19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Selección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DB0708-1581-4E6A-9508-CB4A40EC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19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El procesador consulta turnos próximos.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0972A8-EEE7-4440-AEA8-E0634739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2517EB-475A-4418-ACF2-F754F915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Preferencias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113A1-33E0-4FE2-A744-5D978E4E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Respeta notificaciones y estado del turno.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DE293E-B288-4CD8-B501-33AFBBD4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BFC646-3433-44FE-83FC-3CBF9455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Registro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3D8DD6-E011-4618-8B87-1E6B6F11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24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Guarda enviado, omitido o fallido sin repetir.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23C351-08BD-4D3A-8520-473060E8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4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4540EB-27DF-4D45-974B-2E1BD842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Demostración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F768D0-CFBF-4CAE-ACB5-596AD915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76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SMTP local captura un correo verificable.</a:t>
            </a:r>
          </a:p>
        </p:txBody>
      </p:sp>
    </p:spTree>
    <p:extLst>
      <p:ext uri="{BB962C8B-B14F-4D97-AF65-F5344CB8AC3E}">
        <p14:creationId xmlns:p14="http://schemas.microsoft.com/office/powerpoint/2010/main" val="11638646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D87406-DD20-4929-936B-AB4879D0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63650F-9199-46A5-999B-FD3BC833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Verificación del sistema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97C720-13D5-403A-980A-E4A7F830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53BE92-51D7-44A7-87C2-AAD8B1EC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424B8-B867-4A12-9EAB-053AB6234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1C3F8D-144A-4217-BFD1-480B548F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19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Unitarias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D003A6-CD67-445E-8508-B8A167FC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19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Reglas de negocio con repositorios simulados.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449AA-C9AE-46BF-B81F-807525F7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1B73A5-CECA-46ED-9EF2-06EFE28A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Integración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A9ED4A-CC17-4C3B-9AD2-CD078139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HTTP, SQLite aislada, worker y migraciones.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776103-BCBD-42B5-BC0D-C7ABB180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257150-FBCA-4496-8395-B1F2679E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Regresiones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FA053C-AA53-4684-ACF0-C22F4CFB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242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Agenda argentina y reservas simultáneas.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38F985-CA8A-4ECC-ABF9-D1637059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4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4BE578-4052-46FB-8AFD-2037CC39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Demo completa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873CEA-36C5-4996-8E8A-FCC54F79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76750"/>
            <a:ext cx="795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JWT real, respuestas HTTP y SMTP local.</a:t>
            </a:r>
          </a:p>
        </p:txBody>
      </p:sp>
    </p:spTree>
    <p:extLst>
      <p:ext uri="{BB962C8B-B14F-4D97-AF65-F5344CB8AC3E}">
        <p14:creationId xmlns:p14="http://schemas.microsoft.com/office/powerpoint/2010/main" val="7050001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5BA65-BB71-4B24-BE0A-14231538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93481-258C-4780-80C8-90AFF9589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Alcance y próximos pasos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3E191D-97FA-4B10-A38A-B1DD3484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A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1BA87E-4182-4CCD-902F-AB2EB95D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Grupo 9 · Prácticas Profesionalizantes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CB44E-D75F-4FBB-9D70-33FF08AC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15075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D8748C-8A9E-405B-9ECB-BA5288E4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9061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85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La API cubre la gestión de turnos</a:t>
            </a:r>
          </a:p>
          <a:p xmlns:a="http://schemas.openxmlformats.org/drawingml/2006/main">
            <a:pPr>
              <a:defRPr sz="2850" b="1">
                <a:solidFill>
                  <a:srgbClr val="112B3C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112B3C"/>
                </a:solidFill>
                <a:latin typeface="DejaVu Sans"/>
                <a:ea typeface="DejaVu Sans"/>
                <a:cs typeface="DejaVu Sans"/>
              </a:rPr>
              <a:t>con permisos y reglas verificables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A2256A-2E7E-4418-BDA5-69CA855E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00A58E"/>
                </a:solidFill>
                <a:latin typeface="DejaVu Sans"/>
                <a:ea typeface="DejaVu Sans"/>
                <a:cs typeface="DejaVu Sans"/>
              </a:rPr>
              <a:t>Implementado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851830-C3B7-4434-9ACE-2E82E1A3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57550"/>
            <a:ext cx="7477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Clientes, servicios, agenda, reservas, cambios,</a:t>
            </a:r>
          </a:p>
          <a:p xmlns:a="http://schemas.openxmlformats.org/drawingml/2006/main">
            <a:pPr>
              <a:def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cancelaciones y recordatorios por correo.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ED7D1D-6C33-4529-941F-53DC8209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536675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536675"/>
                </a:solidFill>
                <a:latin typeface="DejaVu Sans"/>
                <a:ea typeface="DejaVu Sans"/>
                <a:cs typeface="DejaVu Sans"/>
              </a:rPr>
              <a:t>Pendiente de operación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88DCD-B2D4-4674-A5A8-C92618E3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29150"/>
            <a:ext cx="7477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Interfaz web final, proveedor SMTP real</a:t>
            </a:r>
          </a:p>
          <a:p xmlns:a="http://schemas.openxmlformats.org/drawingml/2006/main">
            <a:pPr>
              <a:def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384A"/>
                </a:solidFill>
                <a:latin typeface="DejaVu Sans"/>
                <a:ea typeface="DejaVu Sans"/>
                <a:cs typeface="DejaVu Sans"/>
              </a:rPr>
              <a:t>y revisión cruzada humana del equipo.</a:t>
            </a:r>
          </a:p>
        </p:txBody>
      </p:sp>
    </p:spTree>
    <p:extLst>
      <p:ext uri="{BB962C8B-B14F-4D97-AF65-F5344CB8AC3E}">
        <p14:creationId xmlns:p14="http://schemas.microsoft.com/office/powerpoint/2010/main" val="16416484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2026-10-16T21:07:07.9270000Z</dcterms:created>
  <dcterms:modified xsi:type="dcterms:W3CDTF">2026-10-16T21:07:07.9270000Z</dcterms:modified>
</coreProperties>
</file>